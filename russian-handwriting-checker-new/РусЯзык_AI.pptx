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1" r:id="rId17"/>
    <p:sldId id="268" r:id="rId18"/>
    <p:sldId id="269" r:id="rId19"/>
    <p:sldId id="270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2" d="100"/>
          <a:sy n="52" d="100"/>
        </p:scale>
        <p:origin x="1612" y="9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558A0-55C4-49DB-A044-A4C4D91FA613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25C08-9730-4FFB-8A79-AB5DC8B0461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2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E25C08-9730-4FFB-8A79-AB5DC8B0461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19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 dirty="0">
                <a:solidFill>
                  <a:srgbClr val="1E1B4B"/>
                </a:solidFill>
                <a:latin typeface="Calibri"/>
              </a:rPr>
              <a:t>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029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РусЯзык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3258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C7D2FE"/>
                </a:solidFill>
                <a:latin typeface="Calibri"/>
              </a:rPr>
              <a:t>Веб-приложение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для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проверки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рукописных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работ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учеников</a:t>
            </a:r>
            <a:endParaRPr sz="2000" b="0" dirty="0">
              <a:solidFill>
                <a:srgbClr val="C7D2FE"/>
              </a:solidFill>
              <a:latin typeface="Calibri"/>
            </a:endParaRPr>
          </a:p>
          <a:p>
            <a:pPr algn="l"/>
            <a:r>
              <a:rPr sz="2000" b="0" dirty="0">
                <a:solidFill>
                  <a:srgbClr val="C7D2FE"/>
                </a:solidFill>
                <a:latin typeface="Calibri"/>
              </a:rPr>
              <a:t>с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использованием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OCR и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искусственного</a:t>
            </a:r>
            <a:r>
              <a:rPr sz="20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C7D2FE"/>
                </a:solidFill>
                <a:latin typeface="Calibri"/>
              </a:rPr>
              <a:t>интеллекта</a:t>
            </a:r>
            <a:endParaRPr sz="2000" b="0" dirty="0">
              <a:solidFill>
                <a:srgbClr val="C7D2FE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37360" y="2468880"/>
            <a:ext cx="8686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7315200" cy="1483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dirty="0" err="1">
                <a:solidFill>
                  <a:srgbClr val="C7D2FE"/>
                </a:solidFill>
                <a:latin typeface="Calibri"/>
              </a:rPr>
              <a:t>Дипломный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проект</a:t>
            </a:r>
            <a:endParaRPr sz="1500" b="0" dirty="0">
              <a:solidFill>
                <a:srgbClr val="C7D2F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sz="1500" b="0" dirty="0" err="1">
                <a:solidFill>
                  <a:srgbClr val="C7D2FE"/>
                </a:solidFill>
                <a:latin typeface="Calibri"/>
              </a:rPr>
              <a:t>Специальность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Разработка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программного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обеспечения</a:t>
            </a:r>
            <a:endParaRPr sz="1500" b="0" dirty="0">
              <a:solidFill>
                <a:srgbClr val="C7D2F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lang="ru-RU" sz="1500" b="0" dirty="0">
                <a:solidFill>
                  <a:srgbClr val="C7D2FE"/>
                </a:solidFill>
                <a:latin typeface="Calibri"/>
              </a:rPr>
              <a:t>Студент</a:t>
            </a:r>
            <a:r>
              <a:rPr lang="en-US" sz="1500" b="0" dirty="0">
                <a:solidFill>
                  <a:srgbClr val="C7D2FE"/>
                </a:solidFill>
                <a:latin typeface="Calibri"/>
              </a:rPr>
              <a:t>: </a:t>
            </a:r>
            <a:r>
              <a:rPr lang="ru-RU" sz="1500" b="0" dirty="0">
                <a:solidFill>
                  <a:srgbClr val="C7D2FE"/>
                </a:solidFill>
                <a:latin typeface="Calibri"/>
              </a:rPr>
              <a:t>Долгова Екатерина </a:t>
            </a:r>
          </a:p>
          <a:p>
            <a:pPr algn="l">
              <a:lnSpc>
                <a:spcPts val="2200"/>
              </a:lnSpc>
            </a:pPr>
            <a:r>
              <a:rPr lang="ru-RU" sz="1500" dirty="0">
                <a:solidFill>
                  <a:srgbClr val="C7D2FE"/>
                </a:solidFill>
                <a:latin typeface="Calibri"/>
              </a:rPr>
              <a:t>Группа</a:t>
            </a:r>
            <a:r>
              <a:rPr lang="en-US" sz="1500" dirty="0">
                <a:solidFill>
                  <a:srgbClr val="C7D2FE"/>
                </a:solidFill>
                <a:latin typeface="Calibri"/>
              </a:rPr>
              <a:t>:</a:t>
            </a:r>
            <a:r>
              <a:rPr lang="ru-RU" sz="1500" dirty="0">
                <a:solidFill>
                  <a:srgbClr val="C7D2FE"/>
                </a:solidFill>
                <a:latin typeface="Calibri"/>
              </a:rPr>
              <a:t> П211</a:t>
            </a:r>
            <a:endParaRPr lang="ru-RU" sz="1500" b="0" dirty="0">
              <a:solidFill>
                <a:srgbClr val="C7D2F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sz="1500" b="0" dirty="0">
                <a:solidFill>
                  <a:srgbClr val="C7D2FE"/>
                </a:solidFill>
                <a:latin typeface="Calibri"/>
              </a:rPr>
              <a:t>2026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год</a:t>
            </a:r>
            <a:endParaRPr sz="1500" b="0" dirty="0">
              <a:solidFill>
                <a:srgbClr val="C7D2F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Постановка проблемы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96012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100" b="1" i="0" dirty="0">
                <a:solidFill>
                  <a:srgbClr val="4F46E5"/>
                </a:solidFill>
                <a:latin typeface="Calibri"/>
              </a:rPr>
              <a:t>Преподаватель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русского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языка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тратит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5–10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минут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на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проверку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одной</a:t>
            </a:r>
            <a:r>
              <a:rPr sz="21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2100" b="1" i="0" dirty="0" err="1">
                <a:solidFill>
                  <a:srgbClr val="4F46E5"/>
                </a:solidFill>
                <a:latin typeface="Calibri"/>
              </a:rPr>
              <a:t>работы</a:t>
            </a:r>
            <a:endParaRPr sz="2100" b="1" i="0" dirty="0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514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25603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1B4B"/>
                </a:solidFill>
                <a:latin typeface="Calibri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64748B"/>
                </a:solidFill>
                <a:latin typeface="Calibri"/>
              </a:rPr>
              <a:t>Рукописный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Calibri"/>
              </a:rPr>
              <a:t>текст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400" b="0" i="0" dirty="0" err="1">
                <a:solidFill>
                  <a:srgbClr val="64748B"/>
                </a:solidFill>
                <a:latin typeface="Calibri"/>
              </a:rPr>
              <a:t>нужно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Calibri"/>
              </a:rPr>
              <a:t>читать</a:t>
            </a:r>
            <a:r>
              <a:rPr sz="14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64748B"/>
                </a:solidFill>
                <a:latin typeface="Calibri"/>
              </a:rPr>
              <a:t>вручную</a:t>
            </a:r>
            <a:endParaRPr sz="14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37560" y="2514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2514600"/>
            <a:ext cx="25603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 dirty="0">
                <a:solidFill>
                  <a:srgbClr val="1E1B4B"/>
                </a:solidFill>
                <a:latin typeface="Calibri"/>
              </a:rPr>
              <a:t>✏️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108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Каждую ошибку найти
и объяснить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514600"/>
            <a:ext cx="25603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1B4B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Выставить оценку
по критериям ОГЭ/ЕГЭ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514600"/>
            <a:ext cx="25603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2514600"/>
            <a:ext cx="25603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20" y="262432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E1B4B"/>
                </a:solidFill>
                <a:latin typeface="Calibri"/>
              </a:rPr>
              <a:t>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108960"/>
            <a:ext cx="23774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0" i="0" dirty="0">
                <a:solidFill>
                  <a:srgbClr val="64748B"/>
                </a:solidFill>
                <a:latin typeface="Calibri"/>
              </a:rPr>
              <a:t>Внешние и человеческие факторы могут увеличивать время проверки</a:t>
            </a:r>
            <a:endParaRPr sz="14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6235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При 30 учениках — от 3 до 5 часов рутинной работы ежедневно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Цель и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1247120" cy="8686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4F46E5"/>
                </a:solidFill>
                <a:latin typeface="Calibri"/>
              </a:rPr>
              <a:t>ЦЕЛЬ: автоматизировать рутинную часть проверки письменных работ учеников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Реализовать распознавание рукописного текста с фотографий (OCR)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35808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054096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Обеспечить обработку документов: PDF, DOCX, PPTX, TXT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94176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712464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9417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Проверять тексты с помощью ИИ по критериям ОГЭ, ЕГЭ, ФИПИ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52544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370832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52544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Хранить историю проверок с поиском и фильтрацией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10912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1091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1B4B"/>
                </a:solidFill>
                <a:latin typeface="Calibri"/>
              </a:rPr>
              <a:t>Реализовать управление учениками, группами и папками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9280"/>
            <a:ext cx="384048" cy="38404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687568"/>
            <a:ext cx="384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6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56692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1E1B4B"/>
                </a:solidFill>
                <a:latin typeface="Calibri"/>
              </a:rPr>
              <a:t>Дать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возможность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создавать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свои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функции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проверки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и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делиться</a:t>
            </a:r>
            <a:r>
              <a:rPr sz="16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E1B4B"/>
                </a:solidFill>
                <a:latin typeface="Calibri"/>
              </a:rPr>
              <a:t>ими</a:t>
            </a:r>
            <a:endParaRPr sz="16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Анализ конкурентов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51460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271016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Решение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1234440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36392" y="1271016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Распознавание
рукописей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234440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02352" y="1271016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Критерии
ОГЭ/ЕГЭ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234440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8312" y="1271016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История
и ученики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1234440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34272" y="1271016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Свои
функции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20240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057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1B4B"/>
                </a:solidFill>
                <a:latin typeface="Calibri"/>
              </a:rPr>
              <a:t>Яндекс.Спеллер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192024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54680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92024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0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192024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86600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92024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2057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97480"/>
            <a:ext cx="251460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283464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1B4B"/>
                </a:solidFill>
                <a:latin typeface="Calibri"/>
              </a:rPr>
              <a:t>Грамота.ру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69748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54680" y="2834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69748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0" y="2834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269748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86600" y="2834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269748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52560" y="28346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474720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611880"/>
            <a:ext cx="2423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rgbClr val="1E1B4B"/>
                </a:solidFill>
                <a:latin typeface="Calibri"/>
              </a:rPr>
              <a:t>Repet.ai</a:t>
            </a:r>
            <a:endParaRPr sz="15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063240" y="347472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29200" y="347472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95160" y="347472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86600" y="3611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3474720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052560" y="3611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251960"/>
            <a:ext cx="251460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43891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1B4B"/>
                </a:solidFill>
                <a:latin typeface="Calibri"/>
              </a:rPr>
              <a:t>ChatGPT (ручной)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63240" y="425196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29200" y="425196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120640" y="43891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D97706"/>
                </a:solidFill>
                <a:latin typeface="Calibri"/>
              </a:rPr>
              <a:t>частично</a:t>
            </a:r>
            <a:endParaRPr sz="1800" b="0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995160" y="425196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61120" y="4251960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52560" y="43891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029200"/>
            <a:ext cx="251460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51663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F46E5"/>
                </a:solidFill>
                <a:latin typeface="Calibri"/>
              </a:rPr>
              <a:t>РусЯзык AI 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63240" y="5029200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154680" y="5166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5029200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120640" y="5166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95160" y="5029200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86600" y="5166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61120" y="5029200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052560" y="51663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 / 15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58E1A8-CCE8-69BC-6F3E-D87DFE3636CC}"/>
              </a:ext>
            </a:extLst>
          </p:cNvPr>
          <p:cNvSpPr txBox="1"/>
          <p:nvPr/>
        </p:nvSpPr>
        <p:spPr>
          <a:xfrm>
            <a:off x="3108960" y="44119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D97706"/>
                </a:solidFill>
                <a:latin typeface="Calibri"/>
              </a:rPr>
              <a:t>частично</a:t>
            </a:r>
            <a:endParaRPr sz="1800" b="0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A2A226-A9D0-821F-F78C-F0E9803C1D0C}"/>
              </a:ext>
            </a:extLst>
          </p:cNvPr>
          <p:cNvSpPr txBox="1"/>
          <p:nvPr/>
        </p:nvSpPr>
        <p:spPr>
          <a:xfrm>
            <a:off x="3154680" y="3602736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A45702B-12B9-378B-B4F7-4A4DA3659CBF}"/>
              </a:ext>
            </a:extLst>
          </p:cNvPr>
          <p:cNvSpPr txBox="1"/>
          <p:nvPr/>
        </p:nvSpPr>
        <p:spPr>
          <a:xfrm>
            <a:off x="5074920" y="36118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478609-822F-6208-713B-488AE7ED39EA}"/>
              </a:ext>
            </a:extLst>
          </p:cNvPr>
          <p:cNvSpPr txBox="1"/>
          <p:nvPr/>
        </p:nvSpPr>
        <p:spPr>
          <a:xfrm>
            <a:off x="7068312" y="4379976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D97706"/>
                </a:solidFill>
                <a:latin typeface="Calibri"/>
              </a:rPr>
              <a:t>частично</a:t>
            </a:r>
            <a:endParaRPr sz="1800" b="0" i="0" dirty="0">
              <a:solidFill>
                <a:srgbClr val="D9770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Функциональность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71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Загрузка файлов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Фото рукописи, PDF, DOCX, PPTX, TXT — любой формат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280160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15968" y="1280160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✍️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1371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Редактор текста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828800"/>
            <a:ext cx="3429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64748B"/>
                </a:solidFill>
                <a:latin typeface="Calibri"/>
              </a:rPr>
              <a:t>Исправить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распознанный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текст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перед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отправкой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на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проверку</a:t>
            </a:r>
            <a:r>
              <a:rPr lang="ru-RU" sz="1300" b="0" i="0" dirty="0">
                <a:solidFill>
                  <a:srgbClr val="64748B"/>
                </a:solidFill>
                <a:latin typeface="Calibri"/>
              </a:rPr>
              <a:t> и после</a:t>
            </a:r>
            <a:endParaRPr sz="13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74736" y="1280160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280160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1896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137160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ИИ-проверка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28800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Ответ появляется на экране в реальном времени (стриминг)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62072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862072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2953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9535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Сохранение результатов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107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Привязка к ученику, группе, папке и дате работы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2862072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15968" y="2862072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53128" y="2953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👨‍🎓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29535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База учеников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4107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64748B"/>
                </a:solidFill>
                <a:latin typeface="Calibri"/>
              </a:rPr>
              <a:t>Список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учеников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группы-классы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статистика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по</a:t>
            </a:r>
            <a:r>
              <a:rPr sz="13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64748B"/>
                </a:solidFill>
                <a:latin typeface="Calibri"/>
              </a:rPr>
              <a:t>каждому</a:t>
            </a:r>
            <a:endParaRPr sz="13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174736" y="2862072"/>
            <a:ext cx="36576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74736" y="2862072"/>
            <a:ext cx="3657600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11896" y="29535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1B4B"/>
                </a:solidFill>
                <a:latin typeface="Calibri"/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9096" y="2953512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1B4B"/>
                </a:solidFill>
                <a:latin typeface="Calibri"/>
              </a:rPr>
              <a:t>Функции проверки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3410712"/>
            <a:ext cx="3429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Создать свою функцию, опубликовать в галерею, скопировать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Встроенные типы проверки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103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103120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Орфография и пунктуация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Находит ошибки, подсчитывает количество,
выставляет оценку от 0 до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325880"/>
            <a:ext cx="2103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88920" y="1325880"/>
            <a:ext cx="210312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15087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Сочинение ОГЭ 9.3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8 критериев: СК1–СК4 (содержание)
и ГК1–ГК4 (грамотность)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325880"/>
            <a:ext cx="2103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0" y="1325880"/>
            <a:ext cx="2103120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15087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Сочинение ЕГЭ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12 критериев К1–К12 по официальным
стандартам ФИПИ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1325880"/>
            <a:ext cx="2103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2360" y="1325880"/>
            <a:ext cx="210312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15087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Итоговое сочинение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5 критериев: зачёт/незачёт
по правилам допуска к ЕГЭ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325880"/>
            <a:ext cx="2103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784080" y="1325880"/>
            <a:ext cx="2103120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21240" y="15087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11D48"/>
                </a:solidFill>
                <a:latin typeface="Calibri"/>
              </a:rPr>
              <a:t>Свободная проверка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Учитель сам пишет задание,
ИИ его выполняет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4F46E5"/>
                </a:solidFill>
                <a:latin typeface="Calibri"/>
              </a:rPr>
              <a:t>✚ 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Пользователь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может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создать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собственную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функцию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и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опубликовать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её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в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галерею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для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4F46E5"/>
                </a:solidFill>
                <a:latin typeface="Calibri"/>
              </a:rPr>
              <a:t>других</a:t>
            </a:r>
            <a:r>
              <a:rPr sz="14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lang="ru-RU" sz="1400" b="1" dirty="0">
                <a:solidFill>
                  <a:srgbClr val="4F46E5"/>
                </a:solidFill>
                <a:latin typeface="Calibri"/>
              </a:rPr>
              <a:t>преподавателей</a:t>
            </a:r>
            <a:endParaRPr sz="1400" b="1" i="0" dirty="0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34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4825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Архитектура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20436"/>
            <a:ext cx="3323352" cy="37574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920436"/>
            <a:ext cx="3323352" cy="430541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11877"/>
            <a:ext cx="306098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ФРОНТЕНД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6236"/>
            <a:ext cx="29735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React 19 +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36588"/>
            <a:ext cx="29735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Vite (сборщик)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66940"/>
            <a:ext cx="29735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Tailwind CSS (стили)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97292"/>
            <a:ext cx="29735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Tiptap (редактор текста)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27644"/>
            <a:ext cx="29735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Axios (HTTP-клиент)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57996"/>
            <a:ext cx="29735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React Router DOM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920436"/>
            <a:ext cx="3416968" cy="37574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920436"/>
            <a:ext cx="3416968" cy="430541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19" y="1011877"/>
            <a:ext cx="314720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БЭКЕНД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1606236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Python 3.12 +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136588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SQLAlchemy (ORM async)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2666940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Pydantic (валидация)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3197292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MarkItDown (документы)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3727644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PaddleOCR + Tesseract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4257996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OpenAI-совместимый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920436"/>
            <a:ext cx="3416968" cy="37574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920436"/>
            <a:ext cx="3416968" cy="43054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79" y="1011877"/>
            <a:ext cx="314720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ИНФРАСТРУКТУРА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1606236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PostgreSQL (Supabase)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9" y="2136588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Supabase Auth (JWT)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2666940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Docker + docker-compose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197292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Alembic (миграции БД)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27644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asyncpg (драйвер БД)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257996"/>
            <a:ext cx="305728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▸  aiosqlite (для разработки)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63340" y="2995684"/>
            <a:ext cx="3276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4F46E5"/>
                </a:solidFill>
                <a:latin typeface="Calibri"/>
              </a:rPr>
              <a:t>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4416" y="2937933"/>
            <a:ext cx="3147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4F46E5"/>
                </a:solidFill>
                <a:latin typeface="Calibri"/>
              </a:rPr>
              <a:t>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 / 15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237980C5-9B4B-7BE8-965D-DE63A28CACC4}"/>
              </a:ext>
            </a:extLst>
          </p:cNvPr>
          <p:cNvSpPr/>
          <p:nvPr/>
        </p:nvSpPr>
        <p:spPr>
          <a:xfrm>
            <a:off x="188336" y="4915842"/>
            <a:ext cx="11275352" cy="162211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accent1"/>
                </a:solidFill>
              </a:rPr>
              <a:t>Приложение построено по клиент-серверной архитектуре. Клиентская часть реализована как </a:t>
            </a:r>
            <a:r>
              <a:rPr lang="en-US" dirty="0">
                <a:solidFill>
                  <a:schemeClr val="accent1"/>
                </a:solidFill>
              </a:rPr>
              <a:t>Single Page Application</a:t>
            </a:r>
            <a:r>
              <a:rPr lang="ru-RU" dirty="0">
                <a:solidFill>
                  <a:schemeClr val="accent1"/>
                </a:solidFill>
              </a:rPr>
              <a:t> (</a:t>
            </a:r>
            <a:r>
              <a:rPr lang="en-US" dirty="0">
                <a:solidFill>
                  <a:schemeClr val="accent1"/>
                </a:solidFill>
              </a:rPr>
              <a:t>SPA</a:t>
            </a:r>
            <a:r>
              <a:rPr lang="ru-RU" dirty="0">
                <a:solidFill>
                  <a:schemeClr val="accent1"/>
                </a:solidFill>
              </a:rPr>
              <a:t>) на </a:t>
            </a:r>
            <a:r>
              <a:rPr lang="en-US" dirty="0">
                <a:solidFill>
                  <a:schemeClr val="accent1"/>
                </a:solidFill>
              </a:rPr>
              <a:t>React</a:t>
            </a:r>
            <a:r>
              <a:rPr lang="ru-RU" dirty="0">
                <a:solidFill>
                  <a:schemeClr val="accent1"/>
                </a:solidFill>
              </a:rPr>
              <a:t>, серверная - как </a:t>
            </a:r>
            <a:r>
              <a:rPr lang="en-US" dirty="0">
                <a:solidFill>
                  <a:schemeClr val="accent1"/>
                </a:solidFill>
              </a:rPr>
              <a:t>RESTful API</a:t>
            </a:r>
            <a:r>
              <a:rPr lang="ru-RU" dirty="0">
                <a:solidFill>
                  <a:schemeClr val="accent1"/>
                </a:solidFill>
              </a:rPr>
              <a:t> на </a:t>
            </a:r>
            <a:r>
              <a:rPr lang="en-US" dirty="0" err="1">
                <a:solidFill>
                  <a:schemeClr val="accent1"/>
                </a:solidFill>
              </a:rPr>
              <a:t>FastAPI</a:t>
            </a:r>
            <a:r>
              <a:rPr lang="ru-RU" dirty="0">
                <a:solidFill>
                  <a:schemeClr val="accent1"/>
                </a:solidFill>
              </a:rPr>
              <a:t>. Взаимодействие между клиентом и сервером осуществляется по протоколу </a:t>
            </a:r>
            <a:r>
              <a:rPr lang="en-US" dirty="0">
                <a:solidFill>
                  <a:schemeClr val="accent1"/>
                </a:solidFill>
              </a:rPr>
              <a:t>HTTP</a:t>
            </a:r>
            <a:r>
              <a:rPr lang="ru-RU" dirty="0">
                <a:solidFill>
                  <a:schemeClr val="accent1"/>
                </a:solidFill>
              </a:rPr>
              <a:t>; для передачи результатов языковой модели в реальном времени используется технология </a:t>
            </a:r>
            <a:r>
              <a:rPr lang="en-US" dirty="0">
                <a:solidFill>
                  <a:schemeClr val="accent1"/>
                </a:solidFill>
              </a:rPr>
              <a:t>Server</a:t>
            </a:r>
            <a:r>
              <a:rPr lang="ru-RU" dirty="0">
                <a:solidFill>
                  <a:schemeClr val="accent1"/>
                </a:solidFill>
              </a:rPr>
              <a:t>-</a:t>
            </a:r>
            <a:r>
              <a:rPr lang="en-US" dirty="0">
                <a:solidFill>
                  <a:schemeClr val="accent1"/>
                </a:solidFill>
              </a:rPr>
              <a:t>Sent Events</a:t>
            </a:r>
            <a:r>
              <a:rPr lang="ru-RU" dirty="0">
                <a:solidFill>
                  <a:schemeClr val="accent1"/>
                </a:solidFill>
              </a:rPr>
              <a:t> (</a:t>
            </a:r>
            <a:r>
              <a:rPr lang="en-US" dirty="0">
                <a:solidFill>
                  <a:schemeClr val="accent1"/>
                </a:solidFill>
              </a:rPr>
              <a:t>SSE</a:t>
            </a:r>
            <a:r>
              <a:rPr lang="ru-RU" dirty="0">
                <a:solidFill>
                  <a:schemeClr val="accent1"/>
                </a:solidFill>
              </a:rPr>
              <a:t>). Хранение данных обеспечивается </a:t>
            </a:r>
            <a:r>
              <a:rPr lang="en-US" dirty="0">
                <a:solidFill>
                  <a:schemeClr val="accent1"/>
                </a:solidFill>
              </a:rPr>
              <a:t>PostgreSQL</a:t>
            </a:r>
            <a:r>
              <a:rPr lang="ru-RU" dirty="0">
                <a:solidFill>
                  <a:schemeClr val="accent1"/>
                </a:solidFill>
              </a:rPr>
              <a:t> через платформу </a:t>
            </a:r>
            <a:r>
              <a:rPr lang="en-US" dirty="0" err="1">
                <a:solidFill>
                  <a:schemeClr val="accent1"/>
                </a:solidFill>
              </a:rPr>
              <a:t>Supabase</a:t>
            </a:r>
            <a:r>
              <a:rPr lang="ru-RU" dirty="0">
                <a:solidFill>
                  <a:schemeClr val="accent1"/>
                </a:solidFill>
              </a:rPr>
              <a:t>. Языковая модель запускается локально посредством </a:t>
            </a:r>
            <a:r>
              <a:rPr lang="en-US" dirty="0" err="1">
                <a:solidFill>
                  <a:schemeClr val="accent1"/>
                </a:solidFill>
              </a:rPr>
              <a:t>Ollama</a:t>
            </a:r>
            <a:r>
              <a:rPr lang="ru-RU" dirty="0">
                <a:solidFill>
                  <a:schemeClr val="accent1"/>
                </a:solidFill>
              </a:rPr>
              <a:t>.</a:t>
            </a:r>
          </a:p>
          <a:p>
            <a:pPr algn="ctr"/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-22861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Обработка файлов и распознавание текста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874695" y="1394459"/>
            <a:ext cx="210312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0415" y="1467611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📂 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Загруженный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файл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 rot="16200000">
            <a:off x="3217845" y="15316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4F46E5"/>
                </a:solidFill>
                <a:latin typeface="Calibri"/>
              </a:rPr>
              <a:t>↓</a:t>
            </a:r>
          </a:p>
        </p:txBody>
      </p:sp>
      <p:sp>
        <p:nvSpPr>
          <p:cNvPr id="7" name="Rectangle 6"/>
          <p:cNvSpPr/>
          <p:nvPr/>
        </p:nvSpPr>
        <p:spPr>
          <a:xfrm>
            <a:off x="5875020" y="1371478"/>
            <a:ext cx="2103120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75020" y="1570107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Calibri"/>
              </a:rPr>
              <a:t>DocumentConverter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89406" y="2299716"/>
            <a:ext cx="2377440" cy="6400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35126" y="23728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🖼  Изображение
.jpg .png .bmp .tiff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9406" y="3214116"/>
            <a:ext cx="2377440" cy="64008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35126" y="32872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75285"/>
                </a:solidFill>
                <a:latin typeface="Calibri"/>
              </a:rPr>
              <a:t>HybridOCR
(PaddleOCR + Tesseract)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9406" y="4128516"/>
            <a:ext cx="1097280" cy="54864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35126" y="42016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B4B"/>
                </a:solidFill>
                <a:latin typeface="Calibri"/>
              </a:rPr>
              <a:t>PaddleOCR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3846" y="4128516"/>
            <a:ext cx="1097280" cy="54864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9566" y="42016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1B4B"/>
                </a:solidFill>
                <a:latin typeface="Calibri"/>
              </a:rPr>
              <a:t>Tesseract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4946" y="47320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64748B"/>
                </a:solidFill>
                <a:latin typeface="Calibri"/>
              </a:rPr>
              <a:t>→ </a:t>
            </a:r>
            <a:r>
              <a:rPr sz="1100" b="0" i="1" dirty="0" err="1">
                <a:solidFill>
                  <a:srgbClr val="64748B"/>
                </a:solidFill>
                <a:latin typeface="Calibri"/>
              </a:rPr>
              <a:t>Выбирается</a:t>
            </a:r>
            <a:r>
              <a:rPr sz="11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4748B"/>
                </a:solidFill>
                <a:latin typeface="Calibri"/>
              </a:rPr>
              <a:t>лучший</a:t>
            </a:r>
            <a:r>
              <a:rPr sz="11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64748B"/>
                </a:solidFill>
                <a:latin typeface="Calibri"/>
              </a:rPr>
              <a:t>результат</a:t>
            </a:r>
            <a:endParaRPr sz="1100" b="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318946" y="2278907"/>
            <a:ext cx="2560320" cy="6400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4666" y="2352059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📄  Документ
.pdf .docx .pptx .txt .md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8946" y="3098639"/>
            <a:ext cx="2560320" cy="6400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4666" y="3171791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59669"/>
                </a:solidFill>
                <a:latin typeface="Calibri"/>
              </a:rPr>
              <a:t>MarkItDown (Microsoft)
Конвертирует в текст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18946" y="4107707"/>
            <a:ext cx="2560320" cy="5486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4666" y="418085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✓ Текст извлечён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8946" y="4839227"/>
            <a:ext cx="2560320" cy="54864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4666" y="4912379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✗ Ошибка → HybridOCR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829300"/>
            <a:ext cx="11247120" cy="6858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5829300"/>
            <a:ext cx="112471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172" y="60121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✓  Извлечённый текст → передаётся в языковую модель для проверки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5127" y="380291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9086" y="37387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 / 15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536EAB-C170-9B73-6475-E062B19AB2E9}"/>
              </a:ext>
            </a:extLst>
          </p:cNvPr>
          <p:cNvSpPr txBox="1"/>
          <p:nvPr/>
        </p:nvSpPr>
        <p:spPr>
          <a:xfrm>
            <a:off x="4812466" y="3799393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cxnSp>
        <p:nvCxnSpPr>
          <p:cNvPr id="39" name="Соединитель: уступ 38">
            <a:extLst>
              <a:ext uri="{FF2B5EF4-FFF2-40B4-BE49-F238E27FC236}">
                <a16:creationId xmlns:a16="http://schemas.microsoft.com/office/drawing/2014/main" id="{2DC9290A-06CB-1238-D525-782380486DD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978140" y="1714378"/>
            <a:ext cx="1278590" cy="335929"/>
          </a:xfrm>
          <a:prstGeom prst="bentConnector3">
            <a:avLst>
              <a:gd name="adj1" fmla="val 1007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: уступ 44">
            <a:extLst>
              <a:ext uri="{FF2B5EF4-FFF2-40B4-BE49-F238E27FC236}">
                <a16:creationId xmlns:a16="http://schemas.microsoft.com/office/drawing/2014/main" id="{7C4976A7-FF87-D0B5-0AA3-4099D915DD5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86686" y="1712222"/>
            <a:ext cx="1588334" cy="235449"/>
          </a:xfrm>
          <a:prstGeom prst="bentConnector3">
            <a:avLst>
              <a:gd name="adj1" fmla="val 1000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Технологический стек: обоснование выбора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78308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Технология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325880"/>
            <a:ext cx="132588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68880" y="139903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Назначение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325880"/>
            <a:ext cx="763524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1399032"/>
            <a:ext cx="7543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Причина выбора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783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FastAPI 0.115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828800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80" y="190195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Бэкенд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828800"/>
            <a:ext cx="7635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1901952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Нативный async, автодокументация, высокая производительность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40864"/>
            <a:ext cx="17830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414016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React 19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340864"/>
            <a:ext cx="13258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0" y="241401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Фронтенд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340864"/>
            <a:ext cx="763524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0" y="2414016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Крупнейшее сообщество, хуки, компонентный подход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52928"/>
            <a:ext cx="1783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TypeScript 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52928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0" y="2926080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Типизация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852928"/>
            <a:ext cx="7635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31920" y="2926080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Обнаруживает ошибки на этапе сборки, улучшает поддержку 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64992"/>
            <a:ext cx="17830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3438144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SQLAlchemy 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364992"/>
            <a:ext cx="13258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68880" y="3438144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0" y="3364992"/>
            <a:ext cx="763524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31920" y="3438144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Async-поддержка, изоляция SQL, переносимость между БД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877056"/>
            <a:ext cx="1783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3950208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Supabase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3877056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68880" y="3950208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БД + Auth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3877056"/>
            <a:ext cx="7635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31920" y="3950208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Управляемый PostgreSQL + готовая JWT-авторизация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389120"/>
            <a:ext cx="17830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4462272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PaddleOCR 2.8.1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4389120"/>
            <a:ext cx="13258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4462272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OCR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0" y="4389120"/>
            <a:ext cx="763524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31920" y="4462272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Высокая точность на рукописном тексте, нейросетевой движок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01184"/>
            <a:ext cx="1783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4974336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Tesseract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4901184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468880" y="4974336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OCR (резерв)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4901184"/>
            <a:ext cx="7635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931920" y="4974336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Надёжный fallback, хорошо работает с печатным текстом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413248"/>
            <a:ext cx="17830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5486400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MarkItDown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5413248"/>
            <a:ext cx="132588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468880" y="5486400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Документы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0" y="5413248"/>
            <a:ext cx="7635240" cy="47548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31920" y="5486400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Единый API для PDF/DOCX/PPTX/TXT от Microsoft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925312"/>
            <a:ext cx="17830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48640" y="5998464"/>
            <a:ext cx="1691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Docker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77440" y="5925312"/>
            <a:ext cx="13258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68880" y="5998464"/>
            <a:ext cx="1234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Деплой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0" y="5925312"/>
            <a:ext cx="7635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931920" y="5998464"/>
            <a:ext cx="7543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Изолированная среда, одинаковое поведение везде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Паттерны проектирования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5661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35661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9047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Стратегия (Strategy)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75688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OCRStrategy — абстрактный класс.
PaddleStrategy и TesseractStrategy — конкретные реализации.
HybridOCR агрегирует обе стратегии и выбирает лучшую.
Новый движок OCR добавляется без изменения существующего кода.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35661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325880"/>
            <a:ext cx="35661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49047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Репозиторий (Repository)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75688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CheckRepository, GroupRepository, FunctionRepository и другие.
Изолируют SQL-запросы от бизнес-логики.
Сервисный слой работает с объектами Python, не зная про SQL.
Упрощает замену базы данных при необходимости.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35661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35661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90472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Внедрение зависимостей (DI)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75688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FastAPI Depends() автоматически создаёт сессию БД и
текущего пользователя для каждого HTTP-запроса.
Компоненты не создают свои зависимости напрямую.
Упрощает тестирование и переиспользование.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6576"/>
            <a:ext cx="12188952" cy="64920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745" y="-9442"/>
            <a:ext cx="892861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libri"/>
              </a:rPr>
              <a:t>Диаграмма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вариантов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использования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(Use Case)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8336" y="612629"/>
            <a:ext cx="8046720" cy="592533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15453" y="693866"/>
            <a:ext cx="3442009" cy="1107483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6894" y="873175"/>
            <a:ext cx="914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rgbClr val="4F46E5"/>
                </a:solidFill>
                <a:latin typeface="Calibri"/>
              </a:rPr>
              <a:t>29</a:t>
            </a:r>
          </a:p>
          <a:p>
            <a:pPr algn="ctr"/>
            <a:endParaRPr sz="3600" b="1" i="0" dirty="0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21294" y="91332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B4B"/>
                </a:solidFill>
                <a:latin typeface="Calibri"/>
              </a:rPr>
              <a:t>вариантов
использования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882587"/>
            <a:ext cx="3383280" cy="10424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0" y="1955738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F46E5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980658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1E1B4B"/>
                </a:solidFill>
                <a:latin typeface="Calibri"/>
              </a:rPr>
              <a:t>актор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
(</a:t>
            </a:r>
            <a:r>
              <a:rPr lang="ru-RU" sz="1400" b="0" i="0" dirty="0" err="1">
                <a:solidFill>
                  <a:srgbClr val="1E1B4B"/>
                </a:solidFill>
                <a:latin typeface="Calibri"/>
              </a:rPr>
              <a:t>преподователь</a:t>
            </a:r>
            <a:r>
              <a:rPr sz="1400" b="0" i="0" dirty="0">
                <a:solidFill>
                  <a:srgbClr val="1E1B4B"/>
                </a:solidFill>
                <a:latin typeface="Calibri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3046487"/>
            <a:ext cx="3383280" cy="104241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3119639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3211079"/>
            <a:ext cx="228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1B4B"/>
                </a:solidFill>
                <a:latin typeface="Calibri"/>
              </a:rPr>
              <a:t>разделов
системы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5453" y="422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E1B4B"/>
                </a:solidFill>
                <a:latin typeface="Calibri"/>
              </a:rPr>
              <a:t>Разделы</a:t>
            </a:r>
            <a:r>
              <a:rPr sz="1300" b="1" i="0" dirty="0">
                <a:solidFill>
                  <a:srgbClr val="1E1B4B"/>
                </a:solidFill>
                <a:latin typeface="Calibri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469823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▸ 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Авторизация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 и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профиль</a:t>
            </a:r>
            <a:endParaRPr sz="12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501735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▸ 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Проверка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текста</a:t>
            </a:r>
            <a:endParaRPr sz="12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5454" y="4750787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▸ 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Функции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проверки</a:t>
            </a:r>
            <a:endParaRPr sz="12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12480" y="52994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4748B"/>
                </a:solidFill>
                <a:latin typeface="Calibri"/>
              </a:rPr>
              <a:t>▸ 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Ученики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 и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группы</a:t>
            </a:r>
            <a:endParaRPr sz="12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23392" y="55814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▸  Папки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11 / 15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C3B6286-45B8-803D-0F91-AAB054E47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63" y="649056"/>
            <a:ext cx="6096972" cy="58748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"/>
            <a:ext cx="12188952" cy="76813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5951" y="11249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libri"/>
              </a:rPr>
              <a:t>Диаграмма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классов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745" y="822960"/>
            <a:ext cx="8975905" cy="5943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64748B"/>
                </a:solidFill>
                <a:latin typeface="Calibri"/>
              </a:rPr>
              <a:t>[</a:t>
            </a:r>
            <a:r>
              <a:rPr sz="1600" b="0" i="1" dirty="0" err="1">
                <a:solidFill>
                  <a:srgbClr val="64748B"/>
                </a:solidFill>
                <a:latin typeface="Calibri"/>
              </a:rPr>
              <a:t>Вставить</a:t>
            </a:r>
            <a:r>
              <a:rPr sz="16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64748B"/>
                </a:solidFill>
                <a:latin typeface="Calibri"/>
              </a:rPr>
              <a:t>изображение</a:t>
            </a:r>
            <a:r>
              <a:rPr sz="1600" b="0" i="1" dirty="0">
                <a:solidFill>
                  <a:srgbClr val="64748B"/>
                </a:solidFill>
                <a:latin typeface="Calibri"/>
              </a:rPr>
              <a:t> class_diagram.xml]</a:t>
            </a:r>
          </a:p>
        </p:txBody>
      </p:sp>
      <p:sp>
        <p:nvSpPr>
          <p:cNvPr id="6" name="Rectangle 5"/>
          <p:cNvSpPr/>
          <p:nvPr/>
        </p:nvSpPr>
        <p:spPr>
          <a:xfrm>
            <a:off x="9185190" y="855479"/>
            <a:ext cx="2901406" cy="8653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85191" y="853354"/>
            <a:ext cx="50978" cy="8684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68071" y="917362"/>
            <a:ext cx="22583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E1B4B"/>
                </a:solidFill>
                <a:latin typeface="Calibri"/>
              </a:rPr>
              <a:t>OCRStrategy</a:t>
            </a:r>
            <a:r>
              <a:rPr sz="1200" b="0" i="0" dirty="0">
                <a:solidFill>
                  <a:srgbClr val="1E1B4B"/>
                </a:solidFill>
                <a:latin typeface="Calibri"/>
              </a:rPr>
              <a:t> — </a:t>
            </a:r>
            <a:r>
              <a:rPr sz="1200" b="0" i="0" dirty="0" err="1">
                <a:solidFill>
                  <a:srgbClr val="1E1B4B"/>
                </a:solidFill>
                <a:latin typeface="Calibri"/>
              </a:rPr>
              <a:t>абстрактный</a:t>
            </a:r>
            <a:r>
              <a:rPr sz="1200" b="0" i="0" dirty="0">
                <a:solidFill>
                  <a:srgbClr val="1E1B4B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1E1B4B"/>
                </a:solidFill>
                <a:latin typeface="Calibri"/>
              </a:rPr>
              <a:t>класс</a:t>
            </a:r>
            <a:r>
              <a:rPr sz="1200" b="0" i="0" dirty="0">
                <a:solidFill>
                  <a:srgbClr val="1E1B4B"/>
                </a:solidFill>
                <a:latin typeface="Calibri"/>
              </a:rPr>
              <a:t> (</a:t>
            </a:r>
            <a:r>
              <a:rPr sz="1200" b="0" i="0" dirty="0" err="1">
                <a:solidFill>
                  <a:srgbClr val="1E1B4B"/>
                </a:solidFill>
                <a:latin typeface="Calibri"/>
              </a:rPr>
              <a:t>контракт</a:t>
            </a:r>
            <a:r>
              <a:rPr sz="1200" b="0" i="0" dirty="0">
                <a:solidFill>
                  <a:srgbClr val="1E1B4B"/>
                </a:solidFill>
                <a:latin typeface="Calibri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5190" y="1828566"/>
            <a:ext cx="2901406" cy="80918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85190" y="1828567"/>
            <a:ext cx="64008" cy="78649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3222" y="1897254"/>
            <a:ext cx="24890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E1B4B"/>
                </a:solidFill>
                <a:latin typeface="Calibri"/>
              </a:rPr>
              <a:t>PaddleStrategy</a:t>
            </a:r>
            <a:r>
              <a:rPr sz="1200" b="0" i="0" dirty="0">
                <a:solidFill>
                  <a:srgbClr val="1E1B4B"/>
                </a:solidFill>
                <a:latin typeface="Calibri"/>
              </a:rPr>
              <a:t> и
</a:t>
            </a:r>
            <a:r>
              <a:rPr sz="1200" b="0" i="0" dirty="0" err="1">
                <a:solidFill>
                  <a:srgbClr val="1E1B4B"/>
                </a:solidFill>
                <a:latin typeface="Calibri"/>
              </a:rPr>
              <a:t>TesseractStrategy</a:t>
            </a:r>
            <a:r>
              <a:rPr sz="12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E1B4B"/>
                </a:solidFill>
                <a:latin typeface="Calibri"/>
              </a:rPr>
              <a:t>реализуют</a:t>
            </a:r>
            <a:r>
              <a:rPr sz="1200" b="0" i="0" dirty="0">
                <a:solidFill>
                  <a:srgbClr val="1E1B4B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1E1B4B"/>
                </a:solidFill>
                <a:latin typeface="Calibri"/>
              </a:rPr>
              <a:t>OCRStrategy</a:t>
            </a:r>
            <a:endParaRPr sz="12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96686" y="2792214"/>
            <a:ext cx="2889909" cy="844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96687" y="2792214"/>
            <a:ext cx="53515" cy="84491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9566" y="2856223"/>
            <a:ext cx="26617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HybridOCR агрегирует
обе стратегии (◆)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01415" y="3701132"/>
            <a:ext cx="2868956" cy="9455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96687" y="3713512"/>
            <a:ext cx="55282" cy="94557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9566" y="3777520"/>
            <a:ext cx="2642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CheckService использует
LLMService и FunctionRepo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73071" y="5663179"/>
            <a:ext cx="2768254" cy="9397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73071" y="5663179"/>
            <a:ext cx="53341" cy="9397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55951" y="5727187"/>
            <a:ext cx="2549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B4B"/>
                </a:solidFill>
                <a:latin typeface="Calibri"/>
              </a:rPr>
              <a:t>Все репозитории изолируют
SQL от бизнес-логики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32039" y="5524025"/>
            <a:ext cx="5619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12 / 15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D2593D7-E297-E6BF-02AD-AEAB6408D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" y="986608"/>
            <a:ext cx="8850080" cy="56163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444D68-58D1-7B7D-EF65-9E256DF50E62}"/>
              </a:ext>
            </a:extLst>
          </p:cNvPr>
          <p:cNvSpPr/>
          <p:nvPr/>
        </p:nvSpPr>
        <p:spPr>
          <a:xfrm>
            <a:off x="0" y="0"/>
            <a:ext cx="12188952" cy="644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9AC37B-6BF0-8A68-1B1B-D44A1FCCB85A}"/>
              </a:ext>
            </a:extLst>
          </p:cNvPr>
          <p:cNvSpPr txBox="1"/>
          <p:nvPr/>
        </p:nvSpPr>
        <p:spPr>
          <a:xfrm>
            <a:off x="315951" y="11249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libri"/>
              </a:rPr>
              <a:t>Диаграмма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классов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E345BD-3FFC-D082-AF45-6612BA5B529A}"/>
              </a:ext>
            </a:extLst>
          </p:cNvPr>
          <p:cNvSpPr/>
          <p:nvPr/>
        </p:nvSpPr>
        <p:spPr>
          <a:xfrm>
            <a:off x="102229" y="680147"/>
            <a:ext cx="8992421" cy="6086413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72CF3-4030-3735-69AE-2CBA1247AE99}"/>
              </a:ext>
            </a:extLst>
          </p:cNvPr>
          <p:cNvSpPr txBox="1"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 dirty="0">
                <a:solidFill>
                  <a:srgbClr val="64748B"/>
                </a:solidFill>
                <a:latin typeface="Calibri"/>
              </a:rPr>
              <a:t>[</a:t>
            </a:r>
            <a:r>
              <a:rPr sz="1600" b="0" i="1" dirty="0" err="1">
                <a:solidFill>
                  <a:srgbClr val="64748B"/>
                </a:solidFill>
                <a:latin typeface="Calibri"/>
              </a:rPr>
              <a:t>Вставить</a:t>
            </a:r>
            <a:r>
              <a:rPr sz="1600" b="0" i="1" dirty="0">
                <a:solidFill>
                  <a:srgbClr val="64748B"/>
                </a:solidFill>
                <a:latin typeface="Calibri"/>
              </a:rPr>
              <a:t> </a:t>
            </a:r>
            <a:r>
              <a:rPr sz="1600" b="0" i="1" dirty="0" err="1">
                <a:solidFill>
                  <a:srgbClr val="64748B"/>
                </a:solidFill>
                <a:latin typeface="Calibri"/>
              </a:rPr>
              <a:t>изображение</a:t>
            </a:r>
            <a:r>
              <a:rPr sz="1600" b="0" i="1" dirty="0">
                <a:solidFill>
                  <a:srgbClr val="64748B"/>
                </a:solidFill>
                <a:latin typeface="Calibri"/>
              </a:rPr>
              <a:t> class_diagram.xml]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20F676B-B0C4-B774-4076-E05FB18BF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57" y="680147"/>
            <a:ext cx="5417905" cy="60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43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Схема базы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28600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Таблица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1325880"/>
            <a:ext cx="868680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1399032"/>
            <a:ext cx="8549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Описание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8686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20240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Supabase Auth — учётные записи учителей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04872"/>
            <a:ext cx="22860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34640" y="2404872"/>
            <a:ext cx="86868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49631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96312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Результаты проверок (текст, ошибки JSON, оценка)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80944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34640" y="2980944"/>
            <a:ext cx="8686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072384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pupils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072384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Ученики учителя (имя, уникальность по user_id)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57016"/>
            <a:ext cx="22860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34640" y="3557016"/>
            <a:ext cx="86868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648456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groups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648456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Группы / классы учителя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33088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34640" y="4133088"/>
            <a:ext cx="8686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22452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pupil_groups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224528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Связь многие-ко-многим: ученики ↔ группы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09160"/>
            <a:ext cx="22860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834640" y="4709160"/>
            <a:ext cx="86868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800600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folders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800600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Папки для организации работ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85232"/>
            <a:ext cx="22860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34640" y="5285232"/>
            <a:ext cx="8686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376672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functions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376672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Функции проверки (промпты, шаблоны)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61304"/>
            <a:ext cx="22860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34640" y="5861304"/>
            <a:ext cx="8686800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5952744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function_versions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952744"/>
            <a:ext cx="8549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История версий каждой функции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Стриминг ответа ИИ в реальном времени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1031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Учитель
нажимает кнопку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1460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POST /api/check/stream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55448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70048" y="1554480"/>
            <a:ext cx="21031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07208" y="173736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07208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7556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FastAPI запрашивает
LLM с stream=True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51460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OpenAI-совместимый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336" y="155448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74336" y="1554480"/>
            <a:ext cx="21031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11496" y="1737360"/>
            <a:ext cx="41148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11496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14416" y="17556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Сервер отправляет
Server-Sent 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251460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data: {"type":"chunk","text":"..."}
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78624" y="155448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78624" y="1554480"/>
            <a:ext cx="21031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15784" y="1737360"/>
            <a:ext cx="41148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15784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8704" y="17556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Браузер читает поток
через ReadableStream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784" y="251460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fetch() + response.body.getReader()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24688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82912" y="1554480"/>
            <a:ext cx="2103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82912" y="1554480"/>
            <a:ext cx="21031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20072" y="1737360"/>
            <a:ext cx="41148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20072" y="1737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2992" y="1755648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Текст появляется
на экране по мере генерации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2514600"/>
            <a:ext cx="1874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Без ожидания полного ответа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51960"/>
            <a:ext cx="11247120" cy="77724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251960"/>
            <a:ext cx="1124712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4370832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Пользователь видит ответ сразу — не нужно ждать 30–60 секунд на пустом экране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212080"/>
            <a:ext cx="11247120" cy="13716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321808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5B4FC"/>
                </a:solidFill>
                <a:latin typeface="Calibri"/>
              </a:rPr>
              <a:t>async def stream_check(text, function_id) -&gt; AsyncIterator[dict]:
    async for chunk in self.llm.stream(messages):   # получаем кусочки от LLM
        yield {'type': 'chunk', 'text': chunk}      # отправляем клиенту сразу
    yield {'type': 'done', 'result': result}        # финальный результат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937760"/>
            <a:ext cx="12188952" cy="192024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Результаты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E0E7FF"/>
                </a:solidFill>
                <a:latin typeface="Calibri"/>
              </a:rPr>
              <a:t>✓  </a:t>
            </a:r>
            <a:r>
              <a:rPr sz="1500" b="0" i="0" dirty="0" err="1">
                <a:solidFill>
                  <a:srgbClr val="E0E7FF"/>
                </a:solidFill>
                <a:latin typeface="Calibri"/>
              </a:rPr>
              <a:t>Реализован</a:t>
            </a:r>
            <a:r>
              <a:rPr sz="15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0E7FF"/>
                </a:solidFill>
                <a:latin typeface="Calibri"/>
              </a:rPr>
              <a:t>полный</a:t>
            </a:r>
            <a:r>
              <a:rPr sz="15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0E7FF"/>
                </a:solidFill>
                <a:latin typeface="Calibri"/>
              </a:rPr>
              <a:t>цикл</a:t>
            </a:r>
            <a:r>
              <a:rPr sz="15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0E7FF"/>
                </a:solidFill>
                <a:latin typeface="Calibri"/>
              </a:rPr>
              <a:t>проверки</a:t>
            </a:r>
            <a:r>
              <a:rPr sz="1500" b="0" i="0" dirty="0">
                <a:solidFill>
                  <a:srgbClr val="E0E7FF"/>
                </a:solidFill>
                <a:latin typeface="Calibri"/>
              </a:rPr>
              <a:t>: </a:t>
            </a:r>
            <a:r>
              <a:rPr sz="1500" b="0" i="0" dirty="0" err="1">
                <a:solidFill>
                  <a:srgbClr val="E0E7FF"/>
                </a:solidFill>
                <a:latin typeface="Calibri"/>
              </a:rPr>
              <a:t>от</a:t>
            </a:r>
            <a:r>
              <a:rPr sz="15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0E7FF"/>
                </a:solidFill>
                <a:latin typeface="Calibri"/>
              </a:rPr>
              <a:t>загрузки</a:t>
            </a:r>
            <a:r>
              <a:rPr sz="15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lang="ru-RU" sz="1500" dirty="0">
                <a:solidFill>
                  <a:srgbClr val="E0E7FF"/>
                </a:solidFill>
                <a:latin typeface="Calibri"/>
              </a:rPr>
              <a:t>работы</a:t>
            </a:r>
            <a:r>
              <a:rPr sz="15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0E7FF"/>
                </a:solidFill>
                <a:latin typeface="Calibri"/>
              </a:rPr>
              <a:t>до</a:t>
            </a:r>
            <a:r>
              <a:rPr sz="15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0E7FF"/>
                </a:solidFill>
                <a:latin typeface="Calibri"/>
              </a:rPr>
              <a:t>сохранения</a:t>
            </a:r>
            <a:r>
              <a:rPr sz="15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E0E7FF"/>
                </a:solidFill>
                <a:latin typeface="Calibri"/>
              </a:rPr>
              <a:t>статистики</a:t>
            </a:r>
            <a:endParaRPr sz="1500" b="0" i="0" dirty="0">
              <a:solidFill>
                <a:srgbClr val="E0E7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Гибридный OCR (PaddleOCR + Tesseract) + MarkItDown для документов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5 типов проверки по стандартам ОГЭ, ЕГЭ и ФИПИ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Стриминг ответа ИИ в реальном времени (Server-Sent Events)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Авторизация через Supabase JWT, изоляция данных по user_id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Управление учениками, группами, папками и историей проверок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Галерея функций проверки с публикацией и версионированием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0881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  <a:latin typeface="Calibri"/>
              </a:rPr>
              <a:t>✓  Docker-конфигурация для развёртывания на любом сервере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7492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 err="1">
                <a:solidFill>
                  <a:srgbClr val="FFFFFF"/>
                </a:solidFill>
                <a:latin typeface="Calibri"/>
              </a:rPr>
              <a:t>Спасибо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Calibri"/>
              </a:rPr>
              <a:t>за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Calibri"/>
              </a:rPr>
              <a:t>внимание</a:t>
            </a:r>
            <a:r>
              <a:rPr sz="2200" b="1" i="0" dirty="0">
                <a:solidFill>
                  <a:srgbClr val="FFFFFF"/>
                </a:solidFill>
                <a:latin typeface="Calibri"/>
              </a:rPr>
              <a:t>!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742437C4F0AD47B37552D10B97A50B" ma:contentTypeVersion="5" ma:contentTypeDescription="Create a new document." ma:contentTypeScope="" ma:versionID="48142e69d29419f113fc4a6768f712b3">
  <xsd:schema xmlns:xsd="http://www.w3.org/2001/XMLSchema" xmlns:xs="http://www.w3.org/2001/XMLSchema" xmlns:p="http://schemas.microsoft.com/office/2006/metadata/properties" xmlns:ns3="65f86a35-c5e7-4cfd-a308-5cbd7b62198c" targetNamespace="http://schemas.microsoft.com/office/2006/metadata/properties" ma:root="true" ma:fieldsID="7f4baaefbf12510799e9d4d3b4f511e9" ns3:_="">
    <xsd:import namespace="65f86a35-c5e7-4cfd-a308-5cbd7b62198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f86a35-c5e7-4cfd-a308-5cbd7b62198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132148-2AFA-4682-8E70-AF42B470DCF6}">
  <ds:schemaRefs>
    <ds:schemaRef ds:uri="65f86a35-c5e7-4cfd-a308-5cbd7b62198c"/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440DE51-007A-4280-9D9C-5E5922A944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95263C-FD91-4484-B545-37E0EC507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f86a35-c5e7-4cfd-a308-5cbd7b6219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1303</Words>
  <Application>Microsoft Office PowerPoint</Application>
  <PresentationFormat>Произвольный</PresentationFormat>
  <Paragraphs>265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катя долгова</dc:creator>
  <cp:keywords/>
  <dc:description>generated using python-pptx</dc:description>
  <cp:lastModifiedBy>Office</cp:lastModifiedBy>
  <cp:revision>7</cp:revision>
  <dcterms:created xsi:type="dcterms:W3CDTF">2013-01-27T09:14:16Z</dcterms:created>
  <dcterms:modified xsi:type="dcterms:W3CDTF">2026-05-13T18:37:08Z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0x01010080742437C4F0AD47B37552D10B97A50B</vt:lpwstr>
  </property>
</Properties>
</file>