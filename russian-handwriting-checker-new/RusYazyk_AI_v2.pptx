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7" r:id="rId17"/>
    <p:sldId id="271" r:id="rId18"/>
    <p:sldId id="272" r:id="rId19"/>
    <p:sldId id="273" r:id="rId20"/>
    <p:sldId id="276" r:id="rId21"/>
    <p:sldId id="274" r:id="rId22"/>
    <p:sldId id="275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88" d="100"/>
          <a:sy n="88" d="100"/>
        </p:scale>
        <p:origin x="22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13870C-EB3B-4BEF-A41D-BA5B6A204416}" type="datetimeFigureOut">
              <a:rPr lang="ru-RU" smtClean="0"/>
              <a:t>13.05.2026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205D05-FEBD-4ADB-A485-F121C0A06D5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712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205D05-FEBD-4ADB-A485-F121C0A06D52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819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205D05-FEBD-4ADB-A485-F121C0A06D52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9299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РусЯзык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0E7FF"/>
                </a:solidFill>
                <a:latin typeface="Calibri"/>
              </a:rPr>
              <a:t>Веб-приложение для автоматической проверки письменных работ учеников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214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0E7FF"/>
                </a:solidFill>
                <a:latin typeface="Calibri"/>
              </a:rPr>
              <a:t>с использованием OCR и искусственного интеллекта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9144000" cy="2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7315200" cy="1483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dirty="0" err="1">
                <a:solidFill>
                  <a:srgbClr val="C7D2FE"/>
                </a:solidFill>
                <a:latin typeface="Calibri"/>
              </a:rPr>
              <a:t>Дипломный</a:t>
            </a:r>
            <a:r>
              <a:rPr sz="1500" b="0" dirty="0">
                <a:solidFill>
                  <a:srgbClr val="C7D2FE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C7D2FE"/>
                </a:solidFill>
                <a:latin typeface="Calibri"/>
              </a:rPr>
              <a:t>проект</a:t>
            </a:r>
            <a:endParaRPr sz="1500" b="0" dirty="0">
              <a:solidFill>
                <a:srgbClr val="C7D2FE"/>
              </a:solidFill>
              <a:latin typeface="Calibri"/>
            </a:endParaRPr>
          </a:p>
          <a:p>
            <a:pPr algn="l">
              <a:lnSpc>
                <a:spcPts val="2200"/>
              </a:lnSpc>
            </a:pPr>
            <a:r>
              <a:rPr sz="1500" b="0" dirty="0" err="1">
                <a:solidFill>
                  <a:srgbClr val="C7D2FE"/>
                </a:solidFill>
                <a:latin typeface="Calibri"/>
              </a:rPr>
              <a:t>Специальность</a:t>
            </a:r>
            <a:r>
              <a:rPr sz="1500" b="0" dirty="0">
                <a:solidFill>
                  <a:srgbClr val="C7D2FE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C7D2FE"/>
                </a:solidFill>
                <a:latin typeface="Calibri"/>
              </a:rPr>
              <a:t>Разработка</a:t>
            </a:r>
            <a:r>
              <a:rPr sz="1500" b="0" dirty="0">
                <a:solidFill>
                  <a:srgbClr val="C7D2FE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C7D2FE"/>
                </a:solidFill>
                <a:latin typeface="Calibri"/>
              </a:rPr>
              <a:t>программного</a:t>
            </a:r>
            <a:r>
              <a:rPr sz="1500" b="0" dirty="0">
                <a:solidFill>
                  <a:srgbClr val="C7D2FE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C7D2FE"/>
                </a:solidFill>
                <a:latin typeface="Calibri"/>
              </a:rPr>
              <a:t>обеспечения</a:t>
            </a:r>
            <a:endParaRPr lang="ru-RU" sz="1500" b="0" dirty="0">
              <a:solidFill>
                <a:srgbClr val="C7D2FE"/>
              </a:solidFill>
              <a:latin typeface="Calibri"/>
            </a:endParaRPr>
          </a:p>
          <a:p>
            <a:pPr algn="l">
              <a:lnSpc>
                <a:spcPts val="2200"/>
              </a:lnSpc>
            </a:pPr>
            <a:r>
              <a:rPr lang="ru-RU" sz="1500" dirty="0">
                <a:solidFill>
                  <a:srgbClr val="C7D2FE"/>
                </a:solidFill>
                <a:latin typeface="Calibri"/>
              </a:rPr>
              <a:t>Группа П211</a:t>
            </a:r>
          </a:p>
          <a:p>
            <a:pPr algn="l">
              <a:lnSpc>
                <a:spcPts val="2200"/>
              </a:lnSpc>
            </a:pPr>
            <a:r>
              <a:rPr lang="ru-RU" sz="1500" b="0" dirty="0">
                <a:solidFill>
                  <a:srgbClr val="C7D2FE"/>
                </a:solidFill>
                <a:latin typeface="Calibri"/>
              </a:rPr>
              <a:t>Долгова Екатерина Александровна</a:t>
            </a:r>
            <a:endParaRPr sz="1500" b="0" dirty="0">
              <a:solidFill>
                <a:srgbClr val="C7D2FE"/>
              </a:solidFill>
              <a:latin typeface="Calibri"/>
            </a:endParaRPr>
          </a:p>
          <a:p>
            <a:pPr algn="l">
              <a:lnSpc>
                <a:spcPts val="2200"/>
              </a:lnSpc>
            </a:pPr>
            <a:r>
              <a:rPr sz="1500" b="0" dirty="0">
                <a:solidFill>
                  <a:srgbClr val="C7D2FE"/>
                </a:solidFill>
                <a:latin typeface="Calibri"/>
              </a:rPr>
              <a:t>2026 </a:t>
            </a:r>
            <a:r>
              <a:rPr sz="1500" b="0" dirty="0" err="1">
                <a:solidFill>
                  <a:srgbClr val="C7D2FE"/>
                </a:solidFill>
                <a:latin typeface="Calibri"/>
              </a:rPr>
              <a:t>год</a:t>
            </a:r>
            <a:endParaRPr sz="1500" b="0" dirty="0">
              <a:solidFill>
                <a:srgbClr val="C7D2FE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5029200"/>
            <a:ext cx="2560320" cy="146304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5148072"/>
            <a:ext cx="502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1E293B"/>
                </a:solidFill>
              </a:rPr>
              <a:t>✎</a:t>
            </a:r>
            <a:endParaRPr sz="28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43000" y="5148072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OCR
рукописей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5029200"/>
            <a:ext cx="2560320" cy="146304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5120640"/>
            <a:ext cx="5029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1E293B"/>
                </a:solidFill>
              </a:rPr>
              <a:t>👾</a:t>
            </a:r>
            <a:endParaRPr sz="28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977640" y="5148072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ИИ
проверка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5029200"/>
            <a:ext cx="2560320" cy="146304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51206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E293B"/>
                </a:solidFill>
                <a:latin typeface="Calibr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5148072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ОГЭ / ЕГЭ
критерии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5029200"/>
            <a:ext cx="2560320" cy="146304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98280" y="512064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E293B"/>
                </a:solidFill>
                <a:latin typeface="Calibri"/>
              </a:rPr>
              <a:t>👨‍🏫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5148072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Управление
учениками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Постановка проблемы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86868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98448"/>
            <a:ext cx="107899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 dirty="0" err="1">
                <a:solidFill>
                  <a:srgbClr val="4F46E5"/>
                </a:solidFill>
                <a:latin typeface="Calibri"/>
              </a:rPr>
              <a:t>Учитель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русского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языка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тратит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10–15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минут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на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проверку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одной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работы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.
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При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классе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из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30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учеников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lang="en-US" sz="1700" b="1" i="0" dirty="0">
                <a:solidFill>
                  <a:srgbClr val="4F46E5"/>
                </a:solidFill>
                <a:latin typeface="Calibri"/>
              </a:rPr>
              <a:t>-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это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5–7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часов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только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на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одну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волну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700" b="1" i="0" dirty="0" err="1">
                <a:solidFill>
                  <a:srgbClr val="4F46E5"/>
                </a:solidFill>
                <a:latin typeface="Calibri"/>
              </a:rPr>
              <a:t>работ</a:t>
            </a:r>
            <a:r>
              <a:rPr sz="1700" b="1" i="0" dirty="0">
                <a:solidFill>
                  <a:srgbClr val="4F46E5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8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2651760" cy="76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E293B"/>
                </a:solidFill>
                <a:latin typeface="Calibri"/>
              </a:rPr>
              <a:t>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46E5"/>
                </a:solidFill>
                <a:latin typeface="Calibri"/>
              </a:rPr>
              <a:t>Прочитать
рукописный
почерк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24028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2240280"/>
            <a:ext cx="2651760" cy="76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E293B"/>
                </a:solidFill>
                <a:latin typeface="Calibri"/>
              </a:rPr>
              <a:t>✏️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718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7C3AED"/>
                </a:solidFill>
                <a:latin typeface="Calibri"/>
              </a:rPr>
              <a:t>Найти каждую
ошибку и
объяснить её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24028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2240280"/>
            <a:ext cx="2651760" cy="76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E293B"/>
                </a:solidFill>
                <a:latin typeface="Calibri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71800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766E"/>
                </a:solidFill>
                <a:latin typeface="Calibri"/>
              </a:rPr>
              <a:t>Оценить по
критериям
ОГЭ / ЕГЭ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2240280"/>
            <a:ext cx="26517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235440" y="2240280"/>
            <a:ext cx="2651760" cy="76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26880" y="23774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E293B"/>
                </a:solidFill>
                <a:latin typeface="Calibri"/>
              </a:rPr>
              <a:t>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971800"/>
            <a:ext cx="246888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400" b="1" i="0" dirty="0">
                <a:solidFill>
                  <a:srgbClr val="D97706"/>
                </a:solidFill>
                <a:latin typeface="Calibri"/>
              </a:rPr>
              <a:t>Внешние и человеческие факторы могут замедлять работу</a:t>
            </a:r>
            <a:endParaRPr sz="1400" b="1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0" y="5394960"/>
            <a:ext cx="12188952" cy="146304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Цель проекта: автоматизировать рутинную часть проверки, чтобы учитель мог
сосредоточиться на живом взаимодействии с учеником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Цель и задачи проекта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69492"/>
            <a:ext cx="11247120" cy="74980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69492"/>
            <a:ext cx="76200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60932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46E5"/>
                </a:solidFill>
                <a:latin typeface="Calibri"/>
              </a:rPr>
              <a:t>ЦЕЛЬ: разработать веб-приложение для автоматической проверки рукописных и печатных работ учеников по русскому языку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" y="261518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93192" y="2615184"/>
            <a:ext cx="3566160" cy="76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93192" y="2615184"/>
            <a:ext cx="54864" cy="138988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270662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46E5"/>
                </a:solidFill>
                <a:latin typeface="Calibri"/>
              </a:rPr>
              <a:t>Распознавание текста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6382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Рукописные фото → HybridOCR
PDF/DOCX/PPTX → MarkItDown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261518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60520" y="2615184"/>
            <a:ext cx="3566160" cy="76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615184"/>
            <a:ext cx="54864" cy="138988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270662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C3AED"/>
                </a:solidFill>
                <a:latin typeface="Calibri"/>
              </a:rPr>
              <a:t>Проверка по критериям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16382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ОГЭ, ЕГЭ, итоговое сочинение,
орфография, свободная проверка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7848" y="261518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27848" y="2615184"/>
            <a:ext cx="3566160" cy="76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27848" y="2615184"/>
            <a:ext cx="54864" cy="138988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65008" y="270662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Стриминг в реальном времени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316382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Ответ ИИ появляется
по мере генерации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" y="416966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93192" y="4169664"/>
            <a:ext cx="3566160" cy="76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93192" y="4169664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2" y="426110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97706"/>
                </a:solidFill>
                <a:latin typeface="Calibri"/>
              </a:rPr>
              <a:t>История и статистика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471830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Хранение всех проверок,
поиск и фильтрация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416966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160520" y="4169664"/>
            <a:ext cx="3566160" cy="76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416966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426110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9669"/>
                </a:solidFill>
                <a:latin typeface="Calibri"/>
              </a:rPr>
              <a:t>Управление учениками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471830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База учеников, группы (классы),
привязка работ к ученику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7848" y="4169664"/>
            <a:ext cx="3566160" cy="1389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27848" y="4169664"/>
            <a:ext cx="3566160" cy="76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927848" y="4169664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65008" y="4261104"/>
            <a:ext cx="3364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C2626"/>
                </a:solidFill>
                <a:latin typeface="Calibri"/>
              </a:rPr>
              <a:t>Галерея функций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4718304"/>
            <a:ext cx="33649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Создать, опубликовать,
скопировать, версионировать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Анализ конкурентов</a:t>
            </a:r>
          </a:p>
        </p:txBody>
      </p:sp>
      <p:sp>
        <p:nvSpPr>
          <p:cNvPr id="75" name="Rectangle 3">
            <a:extLst>
              <a:ext uri="{FF2B5EF4-FFF2-40B4-BE49-F238E27FC236}">
                <a16:creationId xmlns:a16="http://schemas.microsoft.com/office/drawing/2014/main" id="{3F5F0857-2DBF-2E65-D40E-B7291D101ADC}"/>
              </a:ext>
            </a:extLst>
          </p:cNvPr>
          <p:cNvSpPr/>
          <p:nvPr/>
        </p:nvSpPr>
        <p:spPr>
          <a:xfrm>
            <a:off x="682172" y="1421999"/>
            <a:ext cx="251460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0850586-7BE3-2CF6-30A4-A9D170499A0D}"/>
              </a:ext>
            </a:extLst>
          </p:cNvPr>
          <p:cNvSpPr txBox="1"/>
          <p:nvPr/>
        </p:nvSpPr>
        <p:spPr>
          <a:xfrm>
            <a:off x="755324" y="1458575"/>
            <a:ext cx="24231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Решение</a:t>
            </a:r>
          </a:p>
        </p:txBody>
      </p:sp>
      <p:sp>
        <p:nvSpPr>
          <p:cNvPr id="77" name="Rectangle 5">
            <a:extLst>
              <a:ext uri="{FF2B5EF4-FFF2-40B4-BE49-F238E27FC236}">
                <a16:creationId xmlns:a16="http://schemas.microsoft.com/office/drawing/2014/main" id="{486999DB-C9EC-3DCE-1D1D-8BE7F681D5FE}"/>
              </a:ext>
            </a:extLst>
          </p:cNvPr>
          <p:cNvSpPr/>
          <p:nvPr/>
        </p:nvSpPr>
        <p:spPr>
          <a:xfrm>
            <a:off x="3288212" y="1421999"/>
            <a:ext cx="187452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D03C53-AAE6-17EE-831A-B0AA7A7788F6}"/>
              </a:ext>
            </a:extLst>
          </p:cNvPr>
          <p:cNvSpPr txBox="1"/>
          <p:nvPr/>
        </p:nvSpPr>
        <p:spPr>
          <a:xfrm>
            <a:off x="3361364" y="1458575"/>
            <a:ext cx="1783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Распознавание
рукописей</a:t>
            </a:r>
          </a:p>
        </p:txBody>
      </p:sp>
      <p:sp>
        <p:nvSpPr>
          <p:cNvPr id="79" name="Rectangle 7">
            <a:extLst>
              <a:ext uri="{FF2B5EF4-FFF2-40B4-BE49-F238E27FC236}">
                <a16:creationId xmlns:a16="http://schemas.microsoft.com/office/drawing/2014/main" id="{63DBAF3F-CB5A-58A7-0CEE-6C7C48B4DD9D}"/>
              </a:ext>
            </a:extLst>
          </p:cNvPr>
          <p:cNvSpPr/>
          <p:nvPr/>
        </p:nvSpPr>
        <p:spPr>
          <a:xfrm>
            <a:off x="5254172" y="1421999"/>
            <a:ext cx="187452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A311BA7-FC7E-93FE-1A72-A2016A574305}"/>
              </a:ext>
            </a:extLst>
          </p:cNvPr>
          <p:cNvSpPr txBox="1"/>
          <p:nvPr/>
        </p:nvSpPr>
        <p:spPr>
          <a:xfrm>
            <a:off x="5327324" y="1458575"/>
            <a:ext cx="1783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Критерии
ОГЭ/ЕГЭ</a:t>
            </a:r>
          </a:p>
        </p:txBody>
      </p:sp>
      <p:sp>
        <p:nvSpPr>
          <p:cNvPr id="81" name="Rectangle 9">
            <a:extLst>
              <a:ext uri="{FF2B5EF4-FFF2-40B4-BE49-F238E27FC236}">
                <a16:creationId xmlns:a16="http://schemas.microsoft.com/office/drawing/2014/main" id="{4AC7408F-AC6F-9EDF-BF3F-D566BA93A6F4}"/>
              </a:ext>
            </a:extLst>
          </p:cNvPr>
          <p:cNvSpPr/>
          <p:nvPr/>
        </p:nvSpPr>
        <p:spPr>
          <a:xfrm>
            <a:off x="7220132" y="1421999"/>
            <a:ext cx="187452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D3BC5CA-0E89-B5DF-7700-76588E1B559B}"/>
              </a:ext>
            </a:extLst>
          </p:cNvPr>
          <p:cNvSpPr txBox="1"/>
          <p:nvPr/>
        </p:nvSpPr>
        <p:spPr>
          <a:xfrm>
            <a:off x="7293284" y="1458575"/>
            <a:ext cx="1783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История
и ученики</a:t>
            </a:r>
          </a:p>
        </p:txBody>
      </p:sp>
      <p:sp>
        <p:nvSpPr>
          <p:cNvPr id="83" name="Rectangle 11">
            <a:extLst>
              <a:ext uri="{FF2B5EF4-FFF2-40B4-BE49-F238E27FC236}">
                <a16:creationId xmlns:a16="http://schemas.microsoft.com/office/drawing/2014/main" id="{51E041EF-C653-0DB0-4128-F019C819424C}"/>
              </a:ext>
            </a:extLst>
          </p:cNvPr>
          <p:cNvSpPr/>
          <p:nvPr/>
        </p:nvSpPr>
        <p:spPr>
          <a:xfrm>
            <a:off x="9186092" y="1421999"/>
            <a:ext cx="1874520" cy="640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85BB1EA-8503-EC67-EED4-E234B9478F8D}"/>
              </a:ext>
            </a:extLst>
          </p:cNvPr>
          <p:cNvSpPr txBox="1"/>
          <p:nvPr/>
        </p:nvSpPr>
        <p:spPr>
          <a:xfrm>
            <a:off x="9259244" y="1458575"/>
            <a:ext cx="1783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Свои
функции</a:t>
            </a:r>
          </a:p>
        </p:txBody>
      </p:sp>
      <p:sp>
        <p:nvSpPr>
          <p:cNvPr id="85" name="Rectangle 13">
            <a:extLst>
              <a:ext uri="{FF2B5EF4-FFF2-40B4-BE49-F238E27FC236}">
                <a16:creationId xmlns:a16="http://schemas.microsoft.com/office/drawing/2014/main" id="{ABC5D2D7-CB16-E215-023D-F887F9C418CF}"/>
              </a:ext>
            </a:extLst>
          </p:cNvPr>
          <p:cNvSpPr/>
          <p:nvPr/>
        </p:nvSpPr>
        <p:spPr>
          <a:xfrm>
            <a:off x="682172" y="2107799"/>
            <a:ext cx="2514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C6D7B9-573F-E055-E22B-32B85CC4B1AA}"/>
              </a:ext>
            </a:extLst>
          </p:cNvPr>
          <p:cNvSpPr txBox="1"/>
          <p:nvPr/>
        </p:nvSpPr>
        <p:spPr>
          <a:xfrm>
            <a:off x="773612" y="224495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E1B4B"/>
                </a:solidFill>
                <a:latin typeface="Calibri"/>
              </a:rPr>
              <a:t>Яндекс.Спеллер</a:t>
            </a:r>
          </a:p>
        </p:txBody>
      </p:sp>
      <p:sp>
        <p:nvSpPr>
          <p:cNvPr id="87" name="Rectangle 15">
            <a:extLst>
              <a:ext uri="{FF2B5EF4-FFF2-40B4-BE49-F238E27FC236}">
                <a16:creationId xmlns:a16="http://schemas.microsoft.com/office/drawing/2014/main" id="{E23C34D6-2464-7CDB-AAFE-BA566D1DC8F1}"/>
              </a:ext>
            </a:extLst>
          </p:cNvPr>
          <p:cNvSpPr/>
          <p:nvPr/>
        </p:nvSpPr>
        <p:spPr>
          <a:xfrm>
            <a:off x="3288212" y="210779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3973FBB8-C835-11D1-31D4-EE5DB269C11A}"/>
              </a:ext>
            </a:extLst>
          </p:cNvPr>
          <p:cNvSpPr txBox="1"/>
          <p:nvPr/>
        </p:nvSpPr>
        <p:spPr>
          <a:xfrm>
            <a:off x="3379652" y="224495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89" name="Rectangle 17">
            <a:extLst>
              <a:ext uri="{FF2B5EF4-FFF2-40B4-BE49-F238E27FC236}">
                <a16:creationId xmlns:a16="http://schemas.microsoft.com/office/drawing/2014/main" id="{BD7F0FF3-7CC1-231B-78A9-2779B069FA31}"/>
              </a:ext>
            </a:extLst>
          </p:cNvPr>
          <p:cNvSpPr/>
          <p:nvPr/>
        </p:nvSpPr>
        <p:spPr>
          <a:xfrm>
            <a:off x="5254172" y="210779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DEA891B-5404-86E1-082F-2167594CCF06}"/>
              </a:ext>
            </a:extLst>
          </p:cNvPr>
          <p:cNvSpPr txBox="1"/>
          <p:nvPr/>
        </p:nvSpPr>
        <p:spPr>
          <a:xfrm>
            <a:off x="5345612" y="224495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91" name="Rectangle 19">
            <a:extLst>
              <a:ext uri="{FF2B5EF4-FFF2-40B4-BE49-F238E27FC236}">
                <a16:creationId xmlns:a16="http://schemas.microsoft.com/office/drawing/2014/main" id="{2E1311BA-E20F-7F49-1767-393668A181EB}"/>
              </a:ext>
            </a:extLst>
          </p:cNvPr>
          <p:cNvSpPr/>
          <p:nvPr/>
        </p:nvSpPr>
        <p:spPr>
          <a:xfrm>
            <a:off x="7220132" y="210779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C5765B-9F8E-2C29-40DD-ED383A9BE2FE}"/>
              </a:ext>
            </a:extLst>
          </p:cNvPr>
          <p:cNvSpPr txBox="1"/>
          <p:nvPr/>
        </p:nvSpPr>
        <p:spPr>
          <a:xfrm>
            <a:off x="7311572" y="224495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93" name="Rectangle 21">
            <a:extLst>
              <a:ext uri="{FF2B5EF4-FFF2-40B4-BE49-F238E27FC236}">
                <a16:creationId xmlns:a16="http://schemas.microsoft.com/office/drawing/2014/main" id="{D27E89C4-2EEB-681A-9A34-E6127059C10F}"/>
              </a:ext>
            </a:extLst>
          </p:cNvPr>
          <p:cNvSpPr/>
          <p:nvPr/>
        </p:nvSpPr>
        <p:spPr>
          <a:xfrm>
            <a:off x="9186092" y="210779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4B2B0A9-3A65-13B9-6CE8-5DD2E55777C8}"/>
              </a:ext>
            </a:extLst>
          </p:cNvPr>
          <p:cNvSpPr txBox="1"/>
          <p:nvPr/>
        </p:nvSpPr>
        <p:spPr>
          <a:xfrm>
            <a:off x="9277532" y="224495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95" name="Rectangle 23">
            <a:extLst>
              <a:ext uri="{FF2B5EF4-FFF2-40B4-BE49-F238E27FC236}">
                <a16:creationId xmlns:a16="http://schemas.microsoft.com/office/drawing/2014/main" id="{02824801-489F-8E8D-548F-23C7DEB238F9}"/>
              </a:ext>
            </a:extLst>
          </p:cNvPr>
          <p:cNvSpPr/>
          <p:nvPr/>
        </p:nvSpPr>
        <p:spPr>
          <a:xfrm>
            <a:off x="682172" y="2885039"/>
            <a:ext cx="251460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45A167E-6456-026F-E100-D1C58A83832F}"/>
              </a:ext>
            </a:extLst>
          </p:cNvPr>
          <p:cNvSpPr txBox="1"/>
          <p:nvPr/>
        </p:nvSpPr>
        <p:spPr>
          <a:xfrm>
            <a:off x="773612" y="302219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1E1B4B"/>
                </a:solidFill>
                <a:latin typeface="Calibri"/>
              </a:rPr>
              <a:t>Грамота.ру</a:t>
            </a:r>
          </a:p>
        </p:txBody>
      </p:sp>
      <p:sp>
        <p:nvSpPr>
          <p:cNvPr id="97" name="Rectangle 25">
            <a:extLst>
              <a:ext uri="{FF2B5EF4-FFF2-40B4-BE49-F238E27FC236}">
                <a16:creationId xmlns:a16="http://schemas.microsoft.com/office/drawing/2014/main" id="{048E0EC0-C024-434D-627A-17A7BF64B7BC}"/>
              </a:ext>
            </a:extLst>
          </p:cNvPr>
          <p:cNvSpPr/>
          <p:nvPr/>
        </p:nvSpPr>
        <p:spPr>
          <a:xfrm>
            <a:off x="3288212" y="288503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92644CD-588F-33C9-B72D-2BD7110DEB86}"/>
              </a:ext>
            </a:extLst>
          </p:cNvPr>
          <p:cNvSpPr txBox="1"/>
          <p:nvPr/>
        </p:nvSpPr>
        <p:spPr>
          <a:xfrm>
            <a:off x="3379652" y="302219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99" name="Rectangle 27">
            <a:extLst>
              <a:ext uri="{FF2B5EF4-FFF2-40B4-BE49-F238E27FC236}">
                <a16:creationId xmlns:a16="http://schemas.microsoft.com/office/drawing/2014/main" id="{505151C8-11E8-239C-B6BC-FEAB4C2DF98B}"/>
              </a:ext>
            </a:extLst>
          </p:cNvPr>
          <p:cNvSpPr/>
          <p:nvPr/>
        </p:nvSpPr>
        <p:spPr>
          <a:xfrm>
            <a:off x="5254172" y="288503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343FD7-78D3-9508-C5CE-4FFFF7E1CA61}"/>
              </a:ext>
            </a:extLst>
          </p:cNvPr>
          <p:cNvSpPr txBox="1"/>
          <p:nvPr/>
        </p:nvSpPr>
        <p:spPr>
          <a:xfrm>
            <a:off x="5345612" y="302219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01" name="Rectangle 29">
            <a:extLst>
              <a:ext uri="{FF2B5EF4-FFF2-40B4-BE49-F238E27FC236}">
                <a16:creationId xmlns:a16="http://schemas.microsoft.com/office/drawing/2014/main" id="{0210338B-A54A-8E77-749E-C74924810D04}"/>
              </a:ext>
            </a:extLst>
          </p:cNvPr>
          <p:cNvSpPr/>
          <p:nvPr/>
        </p:nvSpPr>
        <p:spPr>
          <a:xfrm>
            <a:off x="7220132" y="288503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DDEA4F14-EB6F-66B1-D089-27C31D1D9A3D}"/>
              </a:ext>
            </a:extLst>
          </p:cNvPr>
          <p:cNvSpPr txBox="1"/>
          <p:nvPr/>
        </p:nvSpPr>
        <p:spPr>
          <a:xfrm>
            <a:off x="7311572" y="302219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03" name="Rectangle 31">
            <a:extLst>
              <a:ext uri="{FF2B5EF4-FFF2-40B4-BE49-F238E27FC236}">
                <a16:creationId xmlns:a16="http://schemas.microsoft.com/office/drawing/2014/main" id="{7FDFFF92-26C7-C1C6-BBF5-B260BB30A989}"/>
              </a:ext>
            </a:extLst>
          </p:cNvPr>
          <p:cNvSpPr/>
          <p:nvPr/>
        </p:nvSpPr>
        <p:spPr>
          <a:xfrm>
            <a:off x="9186092" y="288503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4750EDC-A43F-ADF7-4F3A-317F8890E247}"/>
              </a:ext>
            </a:extLst>
          </p:cNvPr>
          <p:cNvSpPr txBox="1"/>
          <p:nvPr/>
        </p:nvSpPr>
        <p:spPr>
          <a:xfrm>
            <a:off x="9277532" y="302219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05" name="Rectangle 33">
            <a:extLst>
              <a:ext uri="{FF2B5EF4-FFF2-40B4-BE49-F238E27FC236}">
                <a16:creationId xmlns:a16="http://schemas.microsoft.com/office/drawing/2014/main" id="{95D8F8C2-20AA-0B18-143C-25C4B699E6FD}"/>
              </a:ext>
            </a:extLst>
          </p:cNvPr>
          <p:cNvSpPr/>
          <p:nvPr/>
        </p:nvSpPr>
        <p:spPr>
          <a:xfrm>
            <a:off x="682172" y="3662279"/>
            <a:ext cx="251460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F4AF1E4-3A6B-1D67-4D31-A2A5E65C511D}"/>
              </a:ext>
            </a:extLst>
          </p:cNvPr>
          <p:cNvSpPr txBox="1"/>
          <p:nvPr/>
        </p:nvSpPr>
        <p:spPr>
          <a:xfrm>
            <a:off x="773612" y="379943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500" dirty="0">
                <a:solidFill>
                  <a:srgbClr val="1E1B4B"/>
                </a:solidFill>
                <a:latin typeface="Calibri"/>
              </a:rPr>
              <a:t>Repet.ai</a:t>
            </a:r>
            <a:endParaRPr sz="1500" b="0" i="0" dirty="0">
              <a:solidFill>
                <a:srgbClr val="1E1B4B"/>
              </a:solidFill>
              <a:latin typeface="Calibri"/>
            </a:endParaRPr>
          </a:p>
        </p:txBody>
      </p:sp>
      <p:sp>
        <p:nvSpPr>
          <p:cNvPr id="107" name="Rectangle 35">
            <a:extLst>
              <a:ext uri="{FF2B5EF4-FFF2-40B4-BE49-F238E27FC236}">
                <a16:creationId xmlns:a16="http://schemas.microsoft.com/office/drawing/2014/main" id="{A994BEDD-1CB3-A4CC-ACF2-6558BB585C78}"/>
              </a:ext>
            </a:extLst>
          </p:cNvPr>
          <p:cNvSpPr/>
          <p:nvPr/>
        </p:nvSpPr>
        <p:spPr>
          <a:xfrm>
            <a:off x="3288212" y="366227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37">
            <a:extLst>
              <a:ext uri="{FF2B5EF4-FFF2-40B4-BE49-F238E27FC236}">
                <a16:creationId xmlns:a16="http://schemas.microsoft.com/office/drawing/2014/main" id="{DE5202B9-14E1-4FBB-4DAF-C2DD39ABD86D}"/>
              </a:ext>
            </a:extLst>
          </p:cNvPr>
          <p:cNvSpPr/>
          <p:nvPr/>
        </p:nvSpPr>
        <p:spPr>
          <a:xfrm>
            <a:off x="5254172" y="366227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39">
            <a:extLst>
              <a:ext uri="{FF2B5EF4-FFF2-40B4-BE49-F238E27FC236}">
                <a16:creationId xmlns:a16="http://schemas.microsoft.com/office/drawing/2014/main" id="{24B383D9-3917-BA9A-18AB-5424388BA750}"/>
              </a:ext>
            </a:extLst>
          </p:cNvPr>
          <p:cNvSpPr/>
          <p:nvPr/>
        </p:nvSpPr>
        <p:spPr>
          <a:xfrm>
            <a:off x="7220132" y="366227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9B0BFBC-47DF-5D9E-0DA9-465DBDCC319E}"/>
              </a:ext>
            </a:extLst>
          </p:cNvPr>
          <p:cNvSpPr txBox="1"/>
          <p:nvPr/>
        </p:nvSpPr>
        <p:spPr>
          <a:xfrm>
            <a:off x="7311572" y="379943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11" name="Rectangle 41">
            <a:extLst>
              <a:ext uri="{FF2B5EF4-FFF2-40B4-BE49-F238E27FC236}">
                <a16:creationId xmlns:a16="http://schemas.microsoft.com/office/drawing/2014/main" id="{FE4FB0C8-25D0-7B7D-0FC4-9E2157488B30}"/>
              </a:ext>
            </a:extLst>
          </p:cNvPr>
          <p:cNvSpPr/>
          <p:nvPr/>
        </p:nvSpPr>
        <p:spPr>
          <a:xfrm>
            <a:off x="9186092" y="3662279"/>
            <a:ext cx="18745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64921F01-E930-A9CD-D194-9252697F4113}"/>
              </a:ext>
            </a:extLst>
          </p:cNvPr>
          <p:cNvSpPr txBox="1"/>
          <p:nvPr/>
        </p:nvSpPr>
        <p:spPr>
          <a:xfrm>
            <a:off x="9277532" y="379943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13" name="Rectangle 43">
            <a:extLst>
              <a:ext uri="{FF2B5EF4-FFF2-40B4-BE49-F238E27FC236}">
                <a16:creationId xmlns:a16="http://schemas.microsoft.com/office/drawing/2014/main" id="{16C077C9-7DD5-CCCA-C88F-FC4AE2CB612F}"/>
              </a:ext>
            </a:extLst>
          </p:cNvPr>
          <p:cNvSpPr/>
          <p:nvPr/>
        </p:nvSpPr>
        <p:spPr>
          <a:xfrm>
            <a:off x="682172" y="4439519"/>
            <a:ext cx="251460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9384794-3054-566E-863E-25ED1BC0A8B3}"/>
              </a:ext>
            </a:extLst>
          </p:cNvPr>
          <p:cNvSpPr txBox="1"/>
          <p:nvPr/>
        </p:nvSpPr>
        <p:spPr>
          <a:xfrm>
            <a:off x="773612" y="457667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 dirty="0">
                <a:solidFill>
                  <a:srgbClr val="1E1B4B"/>
                </a:solidFill>
                <a:latin typeface="Calibri"/>
              </a:rPr>
              <a:t>ChatGPT</a:t>
            </a:r>
            <a:endParaRPr lang="ru-RU" sz="1500" b="0" i="0" dirty="0">
              <a:solidFill>
                <a:srgbClr val="1E1B4B"/>
              </a:solidFill>
              <a:latin typeface="Calibri"/>
            </a:endParaRPr>
          </a:p>
        </p:txBody>
      </p:sp>
      <p:sp>
        <p:nvSpPr>
          <p:cNvPr id="115" name="Rectangle 45">
            <a:extLst>
              <a:ext uri="{FF2B5EF4-FFF2-40B4-BE49-F238E27FC236}">
                <a16:creationId xmlns:a16="http://schemas.microsoft.com/office/drawing/2014/main" id="{CD39189D-5613-33C5-BBE0-C0F82D2243AD}"/>
              </a:ext>
            </a:extLst>
          </p:cNvPr>
          <p:cNvSpPr/>
          <p:nvPr/>
        </p:nvSpPr>
        <p:spPr>
          <a:xfrm>
            <a:off x="3288212" y="443951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47">
            <a:extLst>
              <a:ext uri="{FF2B5EF4-FFF2-40B4-BE49-F238E27FC236}">
                <a16:creationId xmlns:a16="http://schemas.microsoft.com/office/drawing/2014/main" id="{11BF58B7-2D7E-7A13-AA8A-ACEC7561060E}"/>
              </a:ext>
            </a:extLst>
          </p:cNvPr>
          <p:cNvSpPr/>
          <p:nvPr/>
        </p:nvSpPr>
        <p:spPr>
          <a:xfrm>
            <a:off x="5254172" y="443951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7F0402F-E3B8-AB71-EE66-54CEC07B07B8}"/>
              </a:ext>
            </a:extLst>
          </p:cNvPr>
          <p:cNvSpPr txBox="1"/>
          <p:nvPr/>
        </p:nvSpPr>
        <p:spPr>
          <a:xfrm>
            <a:off x="5345612" y="457667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D97706"/>
                </a:solidFill>
                <a:latin typeface="Calibri"/>
              </a:rPr>
              <a:t>частично</a:t>
            </a:r>
            <a:endParaRPr sz="1800" b="0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118" name="Rectangle 49">
            <a:extLst>
              <a:ext uri="{FF2B5EF4-FFF2-40B4-BE49-F238E27FC236}">
                <a16:creationId xmlns:a16="http://schemas.microsoft.com/office/drawing/2014/main" id="{B761C886-164D-C4CC-8D8A-012E5A06DE07}"/>
              </a:ext>
            </a:extLst>
          </p:cNvPr>
          <p:cNvSpPr/>
          <p:nvPr/>
        </p:nvSpPr>
        <p:spPr>
          <a:xfrm>
            <a:off x="7220132" y="443951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51">
            <a:extLst>
              <a:ext uri="{FF2B5EF4-FFF2-40B4-BE49-F238E27FC236}">
                <a16:creationId xmlns:a16="http://schemas.microsoft.com/office/drawing/2014/main" id="{3198E8C6-CFEE-1502-F70E-BE26996222C5}"/>
              </a:ext>
            </a:extLst>
          </p:cNvPr>
          <p:cNvSpPr/>
          <p:nvPr/>
        </p:nvSpPr>
        <p:spPr>
          <a:xfrm>
            <a:off x="9186092" y="4439519"/>
            <a:ext cx="1874520" cy="713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53">
            <a:extLst>
              <a:ext uri="{FF2B5EF4-FFF2-40B4-BE49-F238E27FC236}">
                <a16:creationId xmlns:a16="http://schemas.microsoft.com/office/drawing/2014/main" id="{2933536D-E313-7D0D-CB5F-F5D3B1FA92DA}"/>
              </a:ext>
            </a:extLst>
          </p:cNvPr>
          <p:cNvSpPr/>
          <p:nvPr/>
        </p:nvSpPr>
        <p:spPr>
          <a:xfrm>
            <a:off x="682172" y="5216759"/>
            <a:ext cx="251460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C4CF8DD2-D1DB-E54C-A07F-1F1BF9AEC8CA}"/>
              </a:ext>
            </a:extLst>
          </p:cNvPr>
          <p:cNvSpPr txBox="1"/>
          <p:nvPr/>
        </p:nvSpPr>
        <p:spPr>
          <a:xfrm>
            <a:off x="773612" y="5353919"/>
            <a:ext cx="2423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4F46E5"/>
                </a:solidFill>
                <a:latin typeface="Calibri"/>
              </a:rPr>
              <a:t>РусЯзык AI ★</a:t>
            </a:r>
          </a:p>
        </p:txBody>
      </p:sp>
      <p:sp>
        <p:nvSpPr>
          <p:cNvPr id="123" name="Rectangle 55">
            <a:extLst>
              <a:ext uri="{FF2B5EF4-FFF2-40B4-BE49-F238E27FC236}">
                <a16:creationId xmlns:a16="http://schemas.microsoft.com/office/drawing/2014/main" id="{3973CC8A-055F-DB2D-9311-1956FEF6CF98}"/>
              </a:ext>
            </a:extLst>
          </p:cNvPr>
          <p:cNvSpPr/>
          <p:nvPr/>
        </p:nvSpPr>
        <p:spPr>
          <a:xfrm>
            <a:off x="3288212" y="5216759"/>
            <a:ext cx="187452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4E053D9C-ED81-DD95-72E6-88C8FE1B26E3}"/>
              </a:ext>
            </a:extLst>
          </p:cNvPr>
          <p:cNvSpPr txBox="1"/>
          <p:nvPr/>
        </p:nvSpPr>
        <p:spPr>
          <a:xfrm>
            <a:off x="3379652" y="535391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25" name="Rectangle 57">
            <a:extLst>
              <a:ext uri="{FF2B5EF4-FFF2-40B4-BE49-F238E27FC236}">
                <a16:creationId xmlns:a16="http://schemas.microsoft.com/office/drawing/2014/main" id="{2BD39D47-5625-F169-EE20-EDFB80A60C79}"/>
              </a:ext>
            </a:extLst>
          </p:cNvPr>
          <p:cNvSpPr/>
          <p:nvPr/>
        </p:nvSpPr>
        <p:spPr>
          <a:xfrm>
            <a:off x="5254172" y="5216759"/>
            <a:ext cx="187452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0C267E7A-2DDB-4911-A49A-4F9FE92E7C65}"/>
              </a:ext>
            </a:extLst>
          </p:cNvPr>
          <p:cNvSpPr txBox="1"/>
          <p:nvPr/>
        </p:nvSpPr>
        <p:spPr>
          <a:xfrm>
            <a:off x="5345612" y="535391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27" name="Rectangle 59">
            <a:extLst>
              <a:ext uri="{FF2B5EF4-FFF2-40B4-BE49-F238E27FC236}">
                <a16:creationId xmlns:a16="http://schemas.microsoft.com/office/drawing/2014/main" id="{88E22A06-9786-171F-EEA0-388AF1D0B5B0}"/>
              </a:ext>
            </a:extLst>
          </p:cNvPr>
          <p:cNvSpPr/>
          <p:nvPr/>
        </p:nvSpPr>
        <p:spPr>
          <a:xfrm>
            <a:off x="7220132" y="5216759"/>
            <a:ext cx="187452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3302E0F-7B27-503A-F71A-E9530E471D19}"/>
              </a:ext>
            </a:extLst>
          </p:cNvPr>
          <p:cNvSpPr txBox="1"/>
          <p:nvPr/>
        </p:nvSpPr>
        <p:spPr>
          <a:xfrm>
            <a:off x="7311572" y="535391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29" name="Rectangle 61">
            <a:extLst>
              <a:ext uri="{FF2B5EF4-FFF2-40B4-BE49-F238E27FC236}">
                <a16:creationId xmlns:a16="http://schemas.microsoft.com/office/drawing/2014/main" id="{3566E971-A2E6-0F43-EB32-2E1C468B7BDC}"/>
              </a:ext>
            </a:extLst>
          </p:cNvPr>
          <p:cNvSpPr/>
          <p:nvPr/>
        </p:nvSpPr>
        <p:spPr>
          <a:xfrm>
            <a:off x="9186092" y="5216759"/>
            <a:ext cx="1874520" cy="71323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D3BCC896-7CAE-A930-E14B-7530BB104AF4}"/>
              </a:ext>
            </a:extLst>
          </p:cNvPr>
          <p:cNvSpPr txBox="1"/>
          <p:nvPr/>
        </p:nvSpPr>
        <p:spPr>
          <a:xfrm>
            <a:off x="9277532" y="535391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52722D4E-BB19-CEF8-C72E-EC70877A4053}"/>
              </a:ext>
            </a:extLst>
          </p:cNvPr>
          <p:cNvSpPr txBox="1"/>
          <p:nvPr/>
        </p:nvSpPr>
        <p:spPr>
          <a:xfrm>
            <a:off x="3379652" y="3790295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D0A5D2C-AD40-89AD-F605-C8568416B1C3}"/>
              </a:ext>
            </a:extLst>
          </p:cNvPr>
          <p:cNvSpPr txBox="1"/>
          <p:nvPr/>
        </p:nvSpPr>
        <p:spPr>
          <a:xfrm>
            <a:off x="5299892" y="3799439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59669"/>
                </a:solidFill>
                <a:latin typeface="Calibri"/>
              </a:rPr>
              <a:t>✓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D0A8472-EDD1-9566-E50F-19756806B5D3}"/>
              </a:ext>
            </a:extLst>
          </p:cNvPr>
          <p:cNvSpPr txBox="1"/>
          <p:nvPr/>
        </p:nvSpPr>
        <p:spPr>
          <a:xfrm>
            <a:off x="7293284" y="4567535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D97706"/>
                </a:solidFill>
                <a:latin typeface="Calibri"/>
              </a:rPr>
              <a:t>частично</a:t>
            </a:r>
            <a:endParaRPr sz="1800" b="0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ABF6BBB-40E8-4104-0387-DED853065B87}"/>
              </a:ext>
            </a:extLst>
          </p:cNvPr>
          <p:cNvSpPr txBox="1"/>
          <p:nvPr/>
        </p:nvSpPr>
        <p:spPr>
          <a:xfrm>
            <a:off x="3333932" y="4560825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BC9211B6-EBB6-DA22-4070-3F02156E0947}"/>
              </a:ext>
            </a:extLst>
          </p:cNvPr>
          <p:cNvSpPr txBox="1"/>
          <p:nvPr/>
        </p:nvSpPr>
        <p:spPr>
          <a:xfrm>
            <a:off x="9186092" y="4560825"/>
            <a:ext cx="1783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 dirty="0" err="1">
                <a:solidFill>
                  <a:srgbClr val="D97706"/>
                </a:solidFill>
                <a:latin typeface="Calibri"/>
              </a:rPr>
              <a:t>частично</a:t>
            </a:r>
            <a:endParaRPr sz="1800" b="0" i="0" dirty="0">
              <a:solidFill>
                <a:srgbClr val="D9770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Функциональность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Полный набор инструментов учителя в одном месте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310896" y="1938528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10896" y="1938528"/>
            <a:ext cx="2697480" cy="76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0624" y="204825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075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Загрузка файлов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" y="2505456"/>
            <a:ext cx="24688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Фото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, PDF, DOCX, PPTX, TXT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любой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формат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209544" y="1938528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9544" y="1938528"/>
            <a:ext cx="2697480" cy="76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19272" y="204825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✍️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2075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Редактор текста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505456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Tiptap: отредактировать
распознанный текст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08192" y="1938528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08192" y="1938528"/>
            <a:ext cx="2697480" cy="76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2048256"/>
            <a:ext cx="4389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rgbClr val="1E293B"/>
                </a:solidFill>
              </a:rPr>
              <a:t>👾</a:t>
            </a:r>
            <a:endParaRPr sz="24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02552" y="2075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ИИ-проверка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2505456"/>
            <a:ext cx="24688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Стриминг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результата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появляется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в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реальном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времени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9006840" y="1938528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06840" y="1938528"/>
            <a:ext cx="2697480" cy="76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16568" y="204825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2075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Сохранение работ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505456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Привязка к ученику, папке,
дате и оценке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" y="3657600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10896" y="3657600"/>
            <a:ext cx="2697480" cy="76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0624" y="376732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👨‍🎓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База учеников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" y="4224528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Список, группы, статистика
по каждому ученику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9544" y="3657600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9544" y="3657600"/>
            <a:ext cx="2697480" cy="76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19272" y="376732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⚙️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03904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  <a:latin typeface="Calibri"/>
              </a:rPr>
              <a:t>Функции проверки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6704" y="4224528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Создать, опубликовать
в галерею, копировать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08192" y="3657600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108192" y="3657600"/>
            <a:ext cx="2697480" cy="76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0" y="376732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2552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Папки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5352" y="4224528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Организовать работы
по темам или классам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06840" y="3657600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9006840" y="3657600"/>
            <a:ext cx="2697480" cy="76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16568" y="376732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E293B"/>
                </a:solidFill>
                <a:latin typeface="Calibri"/>
              </a:rPr>
              <a:t>🖨️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7947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Печать отчёта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4224528"/>
            <a:ext cx="24688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HTML-отчёт прямо
из браузера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Типы проверки: встроенные функции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E0E7FF"/>
                </a:solidFill>
                <a:latin typeface="Calibri"/>
              </a:rPr>
              <a:t>5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функций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готовы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сразу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после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запуска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системы</a:t>
            </a:r>
            <a:endParaRPr sz="1300" b="0" i="0" dirty="0">
              <a:solidFill>
                <a:srgbClr val="E0E7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121408" cy="10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121408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Орфография
и пунктуация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880360"/>
            <a:ext cx="19385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64748B"/>
                </a:solidFill>
                <a:latin typeface="Calibri"/>
              </a:rPr>
              <a:t>Ошибки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 с 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объяснением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Оценка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 0</a:t>
            </a:r>
            <a:r>
              <a:rPr lang="en-US" sz="12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5
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Общий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комментарий</a:t>
            </a:r>
            <a:endParaRPr sz="12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07208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07208" y="1371600"/>
            <a:ext cx="2121408" cy="10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07208" y="1371600"/>
            <a:ext cx="2121408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16936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Сочинение
ОГЭ 9.3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16936" y="2880360"/>
            <a:ext cx="19385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64748B"/>
                </a:solidFill>
                <a:latin typeface="Calibri"/>
              </a:rPr>
              <a:t>8 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критериев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:
СК1</a:t>
            </a:r>
            <a:r>
              <a:rPr lang="en-US" sz="12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СК4 (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содержание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)
ГК1</a:t>
            </a:r>
            <a:r>
              <a:rPr lang="en-US" sz="12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ГК4 (</a:t>
            </a:r>
            <a:r>
              <a:rPr sz="1200" b="0" i="0" dirty="0" err="1">
                <a:solidFill>
                  <a:srgbClr val="64748B"/>
                </a:solidFill>
                <a:latin typeface="Calibri"/>
              </a:rPr>
              <a:t>грамотность</a:t>
            </a:r>
            <a:r>
              <a:rPr sz="1200" b="0" i="0" dirty="0">
                <a:solidFill>
                  <a:srgbClr val="64748B"/>
                </a:solidFill>
                <a:latin typeface="Calibri"/>
              </a:rPr>
              <a:t>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7216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57216" y="1371600"/>
            <a:ext cx="2121408" cy="10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57216" y="1371600"/>
            <a:ext cx="2121408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66944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Сочинение
ЕГЭ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66944" y="288036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12 критериев К1–К12
по нормам ФИПИ
Сумма баллов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07224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507224" y="1371600"/>
            <a:ext cx="2121408" cy="10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507224" y="1371600"/>
            <a:ext cx="2121408" cy="1371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16952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Итоговое
сочинение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6952" y="288036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5 критериев К1–К5
Зачёт / незачёт
Допуск к ЕГЭ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57232" y="1371600"/>
            <a:ext cx="21214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857232" y="1371600"/>
            <a:ext cx="2121408" cy="10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857232" y="1371600"/>
            <a:ext cx="2121408" cy="137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66960" y="1554480"/>
            <a:ext cx="193852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Свободная
проверка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2880360"/>
            <a:ext cx="193852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Учитель сам
формулирует задание
ИИ его выполняет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852160"/>
            <a:ext cx="11247120" cy="68580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59436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46E5"/>
                </a:solidFill>
                <a:latin typeface="Calibri"/>
              </a:rPr>
              <a:t>✚  Пользователь может создать собственную функцию, опубликовать в галерею и поделиться с другими учителями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Архитектура системы: трёхуровневая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Разделение ответственности: Routes → Services → Repositories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26517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2651760" cy="6583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298448"/>
            <a:ext cx="50800" cy="5074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" y="1389888"/>
            <a:ext cx="24505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ROUTES
(Маршруты)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756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Принимает HTTP-запрос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Валидирует (Pydantic)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044952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Делегирует сервису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529584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Возвращает JSON / SSE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014216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449884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94A3B8"/>
                </a:solidFill>
                <a:latin typeface="Calibri"/>
              </a:rPr>
              <a:t>auth  /  check  /  upload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98348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functions  /  groups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468112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pupils  /  folders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1753" y="3575304"/>
            <a:ext cx="2011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4F46E5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298448"/>
            <a:ext cx="26517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0" y="1298448"/>
            <a:ext cx="2651760" cy="6583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0" y="1298448"/>
            <a:ext cx="50800" cy="50749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28416" y="1389888"/>
            <a:ext cx="24505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SERVICES
(Бизнес-логика)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37560" y="20756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CheckService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256032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  промпт + парсинг 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3044952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LLMService — стриминг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3529584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DocumentConverter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4014216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  OCR или MarkItDown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449884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HybridOCR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498348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  PaddleOCR + Tesseract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33872" y="3584448"/>
            <a:ext cx="2011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4F46E5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1298448"/>
            <a:ext cx="26517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35040" y="1298448"/>
            <a:ext cx="2651760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035040" y="1298448"/>
            <a:ext cx="50800" cy="5074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63056" y="1389888"/>
            <a:ext cx="24505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REPOSITORIES
(Доступ к данным)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207568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CheckRepository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256032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FunctionRepository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044952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GroupRepository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3529584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PupilRepository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4014216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FolderRepository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498848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72200" y="4983480"/>
            <a:ext cx="24231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SQL скрыт от логики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15400" y="1298448"/>
            <a:ext cx="3063240" cy="411480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025128" y="1344168"/>
            <a:ext cx="29260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ИНФРАСТРУКТУРА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15400" y="1801368"/>
            <a:ext cx="3063240" cy="1078992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915400" y="1801368"/>
            <a:ext cx="63500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043416" y="189280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🔐  Supabase Auth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416" y="2304288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JWT-авторизация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2944368"/>
            <a:ext cx="3063240" cy="1078992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8915400" y="2944368"/>
            <a:ext cx="63500" cy="10789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043416" y="303580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🗄  PostgreSQL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43416" y="3447288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Supabase + SQLite (dev)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15400" y="4087368"/>
            <a:ext cx="3063240" cy="1078992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915400" y="4087368"/>
            <a:ext cx="63500" cy="10789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43416" y="4178808"/>
            <a:ext cx="28803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300" b="1" dirty="0">
                <a:solidFill>
                  <a:srgbClr val="7C3AED"/>
                </a:solidFill>
              </a:rPr>
              <a:t>👾</a:t>
            </a:r>
            <a:r>
              <a:rPr sz="1300" b="1" i="0" dirty="0">
                <a:solidFill>
                  <a:srgbClr val="7C3AED"/>
                </a:solidFill>
                <a:latin typeface="Calibri"/>
              </a:rPr>
              <a:t>  </a:t>
            </a:r>
            <a:r>
              <a:rPr sz="1300" b="1" i="0" dirty="0" err="1">
                <a:solidFill>
                  <a:srgbClr val="7C3AED"/>
                </a:solidFill>
                <a:latin typeface="Calibri"/>
              </a:rPr>
              <a:t>Ollama</a:t>
            </a:r>
            <a:r>
              <a:rPr sz="1300" b="1" i="0" dirty="0">
                <a:solidFill>
                  <a:srgbClr val="7C3AED"/>
                </a:solidFill>
                <a:latin typeface="Calibri"/>
              </a:rPr>
              <a:t> qwen2.5:7b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3416" y="4590288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Локальный LLM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15400" y="5230368"/>
            <a:ext cx="3063240" cy="1078992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8915400" y="5230368"/>
            <a:ext cx="63500" cy="10789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043416" y="5321808"/>
            <a:ext cx="2880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🐳  Docker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43416" y="5733288"/>
            <a:ext cx="2880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docker-compose up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Обработка файлов: алгоритм DocumentConverter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E0E7FF"/>
                </a:solidFill>
                <a:latin typeface="Calibri"/>
              </a:rPr>
              <a:t>Два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пути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+ fallback </a:t>
            </a:r>
            <a:r>
              <a:rPr lang="en-US" sz="1300" b="0" i="0" dirty="0">
                <a:solidFill>
                  <a:srgbClr val="E0E7FF"/>
                </a:solidFill>
                <a:latin typeface="Calibri"/>
              </a:rPr>
              <a:t>-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единый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интерфейс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для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любого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формата</a:t>
            </a:r>
            <a:endParaRPr sz="1300" b="0" i="0" dirty="0">
              <a:solidFill>
                <a:srgbClr val="E0E7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194560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2011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📂  Загруженный
файл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14884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87168"/>
            <a:ext cx="2194560" cy="658368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DocumentConverter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633472"/>
            <a:ext cx="274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371600"/>
            <a:ext cx="3474720" cy="65836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46304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🖼  Изображение: .jpg  .png  .bmp  .tiff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04825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395728"/>
            <a:ext cx="3474720" cy="658368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6120" y="24871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75285"/>
                </a:solidFill>
                <a:latin typeface="Calibri"/>
              </a:rPr>
              <a:t>HybridOCR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0815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456431"/>
            <a:ext cx="1691640" cy="77724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00400" y="3529584"/>
            <a:ext cx="1508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75285"/>
                </a:solidFill>
                <a:latin typeface="Calibri"/>
              </a:rPr>
              <a:t>PaddleOCR
2.8.1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3456431"/>
            <a:ext cx="1691640" cy="777240"/>
          </a:xfrm>
          <a:prstGeom prst="rect">
            <a:avLst/>
          </a:prstGeom>
          <a:solidFill>
            <a:srgbClr val="BAE6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29200" y="3529584"/>
            <a:ext cx="1508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457A"/>
                </a:solidFill>
                <a:latin typeface="Calibri"/>
              </a:rPr>
              <a:t>Tesseract
5.x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251960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4617720"/>
            <a:ext cx="3474720" cy="56692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246120" y="470916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59669"/>
                </a:solidFill>
                <a:latin typeface="Calibri"/>
              </a:rPr>
              <a:t>score = 0.7×conf + 0.3×text_quality → лучший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03720" y="1371600"/>
            <a:ext cx="3840480" cy="65836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040880" y="146304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📄  Документ: .pdf  .docx  .pptx  .txt  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048256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03720" y="2395728"/>
            <a:ext cx="3840480" cy="6583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40880" y="2487168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9669"/>
                </a:solidFill>
                <a:latin typeface="Calibri"/>
              </a:rPr>
              <a:t>MarkItDown (Microsoft)
ПDF/DOCX/PPTX → Markdown-текст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08152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03720" y="3456431"/>
            <a:ext cx="3840480" cy="6583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903720" y="3456431"/>
            <a:ext cx="384048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40880" y="354787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✓  Текст извлечён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657600"/>
            <a:ext cx="365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C2626"/>
                </a:solidFill>
                <a:latin typeface="Calibr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41879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64748B"/>
                </a:solidFill>
                <a:latin typeface="Calibri"/>
              </a:rPr>
              <a:t>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4553712"/>
            <a:ext cx="3840480" cy="65836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903720" y="4553712"/>
            <a:ext cx="384048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040880" y="4645152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Fallback → HybridOCR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349240"/>
            <a:ext cx="11247120" cy="65836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57200" y="5349240"/>
            <a:ext cx="6350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5458968"/>
            <a:ext cx="10789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✓  Извлечённый текст → передаётся в языковую модель (LLM) для проверки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Стриминг ответа ИИ в реальном времени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E0E7FF"/>
                </a:solidFill>
                <a:latin typeface="Calibri"/>
              </a:rPr>
              <a:t>Server-Sent Events (SSE) </a:t>
            </a:r>
            <a:r>
              <a:rPr lang="en-US" sz="1300" b="0" i="0" dirty="0">
                <a:solidFill>
                  <a:srgbClr val="E0E7FF"/>
                </a:solidFill>
                <a:latin typeface="Calibri"/>
              </a:rPr>
              <a:t>-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пользователь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видит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каждый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токен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сразу</a:t>
            </a:r>
            <a:endParaRPr sz="1300" b="0" i="0" dirty="0">
              <a:solidFill>
                <a:srgbClr val="E0E7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121408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5488" y="1499616"/>
            <a:ext cx="34747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Нажата
кнопка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POST /api/check/stream
{text, function_id}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2304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88336" y="1371600"/>
            <a:ext cx="2121408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98064" y="1499616"/>
            <a:ext cx="347472" cy="3474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98064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CheckService
формирует промпт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system_prompt + user_template
с подставленным текстом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46089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0912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10912" y="1371600"/>
            <a:ext cx="2121408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120640" y="1499616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20640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LLMService
запрашивает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openai.AsyncOpenAI
stream=True, timeout=180s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33488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33488" y="1371600"/>
            <a:ext cx="2121408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443216" y="1499616"/>
            <a:ext cx="34747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43216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Токены →
Server-Sent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43216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data: {"type":"chunk",
 "text":"..."}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246888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56064" y="1371600"/>
            <a:ext cx="2121408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656064" y="1371600"/>
            <a:ext cx="2121408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65792" y="1499616"/>
            <a:ext cx="347472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65792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6416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Браузер
читает поток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1938528"/>
            <a:ext cx="1920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fetch() + ReadableStream
+ TextDecoder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251960"/>
            <a:ext cx="11247120" cy="685800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436168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Без стриминга: пустой экран 30–60 секунд → весь текст сразу
Со стримингом: текст появляется сразу, как при живой печати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74920"/>
            <a:ext cx="11247120" cy="15087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51663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A5B4FC"/>
                </a:solidFill>
                <a:latin typeface="Calibri"/>
              </a:rPr>
              <a:t>async def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stream_check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(text,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function_id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) -&gt;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AsyncIterator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[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dict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]:
    messages = await self._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build_messages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(text,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function_id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)   # system + user
   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full_text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= ''
    async for chunk in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self.llm.stream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(messages):              #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кусочки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от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LLM
       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full_text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+= chunk
        yield {'type': 'chunk', 'text': chunk}                 # 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клиенту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сразу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
    result = self._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build_result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(text,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self._parse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(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full_text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))
    yield {'type': 'done', 'result': result}                   #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финальный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Алгоритм загрузки и обработки файла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E0E7FF"/>
                </a:solidFill>
                <a:latin typeface="Calibri"/>
              </a:rPr>
              <a:t>BackgroundTasks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FastAPI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+ polling </a:t>
            </a:r>
            <a:r>
              <a:rPr lang="en-US" sz="1300" b="0" i="0" dirty="0">
                <a:solidFill>
                  <a:srgbClr val="E0E7FF"/>
                </a:solidFill>
                <a:latin typeface="Calibri"/>
              </a:rPr>
              <a:t>-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клиент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не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ждёт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OCR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блокируя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соединение</a:t>
            </a:r>
            <a:endParaRPr sz="1300" b="0" i="0" dirty="0">
              <a:solidFill>
                <a:srgbClr val="E0E7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3152" y="1284732"/>
            <a:ext cx="1874519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82880" y="1412748"/>
            <a:ext cx="34747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82880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44932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Пользователь
выбирает файл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" y="1851660"/>
            <a:ext cx="1673351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Drag &amp; drop или диалог
выбора файла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820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12263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112263" y="1284732"/>
            <a:ext cx="1874519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221991" y="1412748"/>
            <a:ext cx="34747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21991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2615" y="144932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POST /api/upload/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21991" y="1851660"/>
            <a:ext cx="167335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Файл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сохраняется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в temp/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Создаётся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task_id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Ответ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: {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task_id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,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status:'processing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'}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774" y="23820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51374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151374" y="1284732"/>
            <a:ext cx="1874519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61102" y="1412748"/>
            <a:ext cx="347472" cy="3474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2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6" y="1449324"/>
            <a:ext cx="12344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200" b="1" i="0" dirty="0">
                <a:solidFill>
                  <a:srgbClr val="0F766E"/>
                </a:solidFill>
                <a:latin typeface="Calibri"/>
              </a:rPr>
              <a:t>Клиент </a:t>
            </a:r>
            <a:r>
              <a:rPr sz="1200" b="1" i="0" dirty="0" err="1">
                <a:solidFill>
                  <a:srgbClr val="0F766E"/>
                </a:solidFill>
                <a:latin typeface="Calibri"/>
              </a:rPr>
              <a:t>опрашивает</a:t>
            </a:r>
            <a:r>
              <a:rPr sz="1200" b="1" i="0" dirty="0">
                <a:solidFill>
                  <a:srgbClr val="0F766E"/>
                </a:solidFill>
                <a:latin typeface="Calibri"/>
              </a:rPr>
              <a:t>
GET /upload/{</a:t>
            </a:r>
            <a:r>
              <a:rPr sz="1200" b="1" i="0" dirty="0" err="1">
                <a:solidFill>
                  <a:srgbClr val="0F766E"/>
                </a:solidFill>
                <a:latin typeface="Calibri"/>
              </a:rPr>
              <a:t>task_id</a:t>
            </a:r>
            <a:r>
              <a:rPr sz="1200" b="1" i="0" dirty="0">
                <a:solidFill>
                  <a:srgbClr val="0F766E"/>
                </a:solidFill>
                <a:latin typeface="Calibri"/>
              </a:rPr>
              <a:t>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42814" y="2524857"/>
            <a:ext cx="167335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Интервал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1.5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сек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.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Пока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status == 'processing'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597" y="23820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0485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0485" y="1284732"/>
            <a:ext cx="1874519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0213" y="1412748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00213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37" y="1408684"/>
            <a:ext cx="1362455" cy="67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7C3AED"/>
                </a:solidFill>
                <a:latin typeface="Calibri"/>
              </a:rPr>
              <a:t>DocumentConverter</a:t>
            </a:r>
            <a:r>
              <a:rPr sz="1200" b="1" i="0" dirty="0">
                <a:solidFill>
                  <a:srgbClr val="7C3AED"/>
                </a:solidFill>
                <a:latin typeface="Calibri"/>
              </a:rPr>
              <a:t>
в </a:t>
            </a:r>
            <a:r>
              <a:rPr sz="1200" b="1" i="0" dirty="0" err="1">
                <a:solidFill>
                  <a:srgbClr val="7C3AED"/>
                </a:solidFill>
                <a:latin typeface="Calibri"/>
              </a:rPr>
              <a:t>фоне</a:t>
            </a:r>
            <a:endParaRPr sz="1200" b="1" i="0" dirty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300213" y="2034540"/>
            <a:ext cx="1673351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Определяет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тип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файла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HybridOCR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или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MarkItDown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Выполняется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параллельно</a:t>
            </a:r>
            <a:endParaRPr sz="10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000996" y="238201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596" y="129171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596" y="1284732"/>
            <a:ext cx="1874519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339324" y="1412748"/>
            <a:ext cx="347472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39324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59948" y="144932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status → 'done'
temp-файл удалён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9324" y="2116836"/>
            <a:ext cx="1673351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Результат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в tasks[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task_id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]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Временный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файл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очищен</a:t>
            </a:r>
            <a:endParaRPr sz="10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0040107" y="23886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268707" y="1284732"/>
            <a:ext cx="1874519" cy="2606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0268707" y="1284732"/>
            <a:ext cx="1874519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378435" y="1412748"/>
            <a:ext cx="34747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378435" y="141274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99059" y="1449324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Текст вставляется
в редактор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41859" y="2144268"/>
            <a:ext cx="170992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64748B"/>
                </a:solidFill>
                <a:latin typeface="Calibri"/>
              </a:rPr>
              <a:t>editor.commands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.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setContent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(text)
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Готово</a:t>
            </a:r>
            <a:r>
              <a:rPr sz="1000" b="0" i="0" dirty="0">
                <a:solidFill>
                  <a:srgbClr val="64748B"/>
                </a:solidFill>
                <a:latin typeface="Calibri"/>
              </a:rPr>
              <a:t> к </a:t>
            </a:r>
            <a:r>
              <a:rPr sz="1000" b="0" i="0" dirty="0" err="1">
                <a:solidFill>
                  <a:srgbClr val="64748B"/>
                </a:solidFill>
                <a:latin typeface="Calibri"/>
              </a:rPr>
              <a:t>проверке</a:t>
            </a:r>
            <a:endParaRPr sz="10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4069080"/>
            <a:ext cx="11247120" cy="9601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" y="4069080"/>
            <a:ext cx="63500" cy="9601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" y="4160520"/>
            <a:ext cx="107899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 err="1">
                <a:solidFill>
                  <a:srgbClr val="1E293B"/>
                </a:solidFill>
                <a:latin typeface="Calibri"/>
              </a:rPr>
              <a:t>Зачем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polling, а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не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держать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соединение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открытым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?</a:t>
            </a:r>
          </a:p>
          <a:p>
            <a:pPr algn="l"/>
            <a:r>
              <a:rPr sz="1200" b="0" dirty="0">
                <a:solidFill>
                  <a:srgbClr val="1E293B"/>
                </a:solidFill>
                <a:latin typeface="Calibri"/>
              </a:rPr>
              <a:t>OCR (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особенно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PaddleOCR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)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занимает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5</a:t>
            </a:r>
            <a:r>
              <a:rPr lang="en-US" sz="1200" b="0" dirty="0">
                <a:solidFill>
                  <a:srgbClr val="1E293B"/>
                </a:solidFill>
                <a:latin typeface="Calibri"/>
              </a:rPr>
              <a:t>-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30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секунд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. Браузер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закрывает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HTTP-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соединение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по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таймауту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.
Polling: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быстрый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ответ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сразу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→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периодическая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проверка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→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результат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когда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готов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166360"/>
            <a:ext cx="11247120" cy="146304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" y="5257800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@router.post('/')
async def upload(file: UploadFile, background_tasks: BackgroundTasks):
    task_id = str(uuid4())
    path = TEMP_DIR / f'{task_id}_{file.filename}'
    # сохраняем файл
    tasks[task_id] = {'status': 'processing'}
    background_tasks.add_task(ocr_service.process_file, str(path), task_id)
    return {'task_id': task_id, 'status': 'processing'}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Как работает проверка: CheckService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Routes → CheckService → LLMService → parse JSON → highlight errors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1920240" cy="868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POST
/check/stream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2468880" y="1325880"/>
            <a:ext cx="1920240" cy="8686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6032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FunctionRepository
.get(id)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325880"/>
            <a:ext cx="1920240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_build_messages()
system + user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325880"/>
            <a:ext cx="1920240" cy="868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LLMService
.stream()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325880"/>
            <a:ext cx="1920240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0" y="1417320"/>
            <a:ext cx="1737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_parse()
JSON → dict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459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16459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65941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6459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423160"/>
            <a:ext cx="11247120" cy="3474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88554" y="2446242"/>
            <a:ext cx="107899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_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build_result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() </a:t>
            </a:r>
            <a:r>
              <a:rPr lang="en-US" sz="13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что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входит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итоговый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ответ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80360"/>
            <a:ext cx="3566160" cy="841248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2880360"/>
            <a:ext cx="3566160" cy="50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29535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corrected_text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375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Исправленный текст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2880360"/>
            <a:ext cx="3566160" cy="8412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24528" y="2880360"/>
            <a:ext cx="3566160" cy="50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61688" y="29535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errors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33375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Список ошибок (JSON-массив)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1856" y="2880360"/>
            <a:ext cx="3566160" cy="84124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91856" y="2880360"/>
            <a:ext cx="356616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29016" y="29535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score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9016" y="33375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Числовая оценка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49624"/>
            <a:ext cx="3566160" cy="84124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3849624"/>
            <a:ext cx="356616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" y="39227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criteria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3068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Критерии (ОГЭ/ЕГЭ)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3849624"/>
            <a:ext cx="3566160" cy="841248"/>
          </a:xfrm>
          <a:prstGeom prst="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224528" y="3849624"/>
            <a:ext cx="3566160" cy="50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61688" y="39227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html_highlighted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61688" y="43068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Текст с &lt;span&gt; вокруг ошибок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91856" y="3849624"/>
            <a:ext cx="3566160" cy="8412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991856" y="3849624"/>
            <a:ext cx="3566160" cy="508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129016" y="3922776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alibri"/>
              </a:rPr>
              <a:t>comment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9016" y="4306824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Общий комментарий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983480"/>
            <a:ext cx="11247120" cy="166420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0080" y="5074920"/>
            <a:ext cx="109728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def _highlight(self, text: str, errors: list) -&gt; str:
    result = text
    for e in errors:
        original = e.get('original', '')          # слово с ошибкой из JSON
        result = re.sub(
            re.escape(original),                  # экранируем спецсимволы
            f'&lt;span class="error-highlight"&gt;{original}&lt;/span&gt;',
            result, count=1)                      # только первое вхождение
    return result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Функции проверки: создание, публикация, галерея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E0E7FF"/>
                </a:solidFill>
                <a:latin typeface="Calibri"/>
              </a:rPr>
              <a:t>Каждая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функция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lang="en-US" sz="1300" b="0" i="0" dirty="0">
                <a:solidFill>
                  <a:srgbClr val="E0E7FF"/>
                </a:solidFill>
                <a:latin typeface="Calibri"/>
              </a:rPr>
              <a:t>-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это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system_prompt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+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user_template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с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плейсхолдером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{text}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121408" cy="685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Создание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Учитель пишет system_prompt
(инструкции для ИИ)
и user_template
с {text}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27432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07208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07208" y="1325880"/>
            <a:ext cx="2121408" cy="685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16936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Использование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Выбирается в CheckPanel
Текст подставляется
вместо {text}
Отправляется в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8616" y="27432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57216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57216" y="1325880"/>
            <a:ext cx="2121408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66944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Публикация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66944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Флаг is_published = True
Функция попадает
в галерею
Другие видят её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8624" y="27432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07224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507224" y="1325880"/>
            <a:ext cx="2121408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16952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Версионирование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6952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Редактирование уже
опубликованной →
автоматически создаётся
новая версия в function_versions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8632" y="27432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57232" y="1325880"/>
            <a:ext cx="212140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857232" y="1325880"/>
            <a:ext cx="2121408" cy="6858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966960" y="1417320"/>
            <a:ext cx="19385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Копирование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130552"/>
            <a:ext cx="193852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Другой учитель
нажимает «Скопировать»
POST /functions/{id}/copy
Копия в его библиотеке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663440"/>
            <a:ext cx="5303520" cy="749808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57200" y="4663440"/>
            <a:ext cx="63500" cy="7498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75488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97706"/>
                </a:solidFill>
                <a:latin typeface="Calibri"/>
              </a:rPr>
              <a:t>⚠  is_default = True → нельзя редактировать и удалять
(5 стандартных функций защищены от изменений)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4663440"/>
            <a:ext cx="6126480" cy="196596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26480" y="475488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# Пример: Проверка орфографии
system_prompt: "Ты — учитель русского языка.
  Верни JSON: {corrected, errors:[{original,
  corrected, type, comment}], score, comment}"
user_template: "Проверь следующий текст:\n\n{text}"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Клиентская часть: компоненты и маршруты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React 19 + TypeScript + Tiptap + Tailwind CSS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3566160" cy="53035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63500" cy="53035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371600"/>
            <a:ext cx="32918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4F46E5"/>
                </a:solidFill>
                <a:latin typeface="Calibri"/>
              </a:rPr>
              <a:t>React Router DOM </a:t>
            </a:r>
            <a:r>
              <a:rPr lang="en-US" sz="1300" b="1" i="0" dirty="0">
                <a:solidFill>
                  <a:srgbClr val="4F46E5"/>
                </a:solidFill>
                <a:latin typeface="Calibri"/>
              </a:rPr>
              <a:t>-</a:t>
            </a:r>
            <a:r>
              <a:rPr sz="1300"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4F46E5"/>
                </a:solidFill>
                <a:latin typeface="Calibri"/>
              </a:rPr>
              <a:t>маршруты</a:t>
            </a:r>
            <a:endParaRPr sz="1300" b="1" i="0" dirty="0">
              <a:solidFill>
                <a:srgbClr val="4F46E5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8562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57984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CheckPage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Главная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страница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проверки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48640" y="27249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7706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/history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072384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HistoryPage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История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всех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проверок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48640" y="36393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6850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/students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4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StudentsPage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Ученики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и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группы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48640" y="45537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5994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/functions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901184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FunctionsPage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Мои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функции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+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галерея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8640" y="5468112"/>
            <a:ext cx="3383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1383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/profile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815584"/>
            <a:ext cx="31089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ProfilePage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Профиль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и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статистика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251960" y="1298448"/>
            <a:ext cx="7498079" cy="3474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0" y="134416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 err="1">
                <a:solidFill>
                  <a:srgbClr val="FFFFFF"/>
                </a:solidFill>
                <a:latin typeface="Calibri"/>
              </a:rPr>
              <a:t>CheckPage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12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alibri"/>
              </a:rPr>
              <a:t>компоненты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alibri"/>
              </a:rPr>
              <a:t>главной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alibri"/>
              </a:rPr>
              <a:t>страницы</a:t>
            </a:r>
            <a:endParaRPr sz="1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51960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51960" y="1737360"/>
            <a:ext cx="1389888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25112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F46E5"/>
                </a:solidFill>
                <a:latin typeface="Calibri"/>
              </a:rPr>
              <a:t>UploadForm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25112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Загрузка файла
draq &amp; drop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51576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751576" y="1737360"/>
            <a:ext cx="1389888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824728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F766E"/>
                </a:solidFill>
                <a:latin typeface="Calibri"/>
              </a:rPr>
              <a:t>TextEditor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24728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TipTap редактор
OCR-текста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51192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251192" y="1737360"/>
            <a:ext cx="1389888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24344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  <a:latin typeface="Calibri"/>
              </a:rPr>
              <a:t>CheckPanel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24344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Выбор функции
и запуск проверки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50808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750808" y="1737360"/>
            <a:ext cx="1389888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823960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StreamingPreview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23960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Стриминг ответа
в реальном времени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250424" y="1737360"/>
            <a:ext cx="1389888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250424" y="1737360"/>
            <a:ext cx="1389888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323576" y="180136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ResultPanel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23576" y="2212848"/>
            <a:ext cx="1280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Результат:
ошибки, оценка,
сохранение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3401568"/>
            <a:ext cx="7498079" cy="141732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251960" y="3401568"/>
            <a:ext cx="63500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34840" y="3474720"/>
            <a:ext cx="72237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 err="1">
                <a:solidFill>
                  <a:srgbClr val="1E293B"/>
                </a:solidFill>
                <a:latin typeface="Calibri"/>
              </a:rPr>
              <a:t>AuthContext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(React Context API)</a:t>
            </a:r>
          </a:p>
          <a:p>
            <a:pPr algn="l"/>
            <a:r>
              <a:rPr sz="1200" b="0" dirty="0">
                <a:solidFill>
                  <a:srgbClr val="1E293B"/>
                </a:solidFill>
                <a:latin typeface="Calibri"/>
              </a:rPr>
              <a:t>JWT-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токен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хранится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в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localStorage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.
Axios-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перехватчик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автоматически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добавляет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
Authorization: Bearer &lt;token&gt; к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каждому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запросу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.</a:t>
            </a:r>
          </a:p>
          <a:p>
            <a:pPr algn="l"/>
            <a:r>
              <a:rPr sz="1200" b="0" dirty="0" err="1">
                <a:solidFill>
                  <a:srgbClr val="1E293B"/>
                </a:solidFill>
                <a:latin typeface="Calibri"/>
              </a:rPr>
              <a:t>При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401 </a:t>
            </a:r>
            <a:r>
              <a:rPr lang="en-US" sz="1200" b="0" dirty="0">
                <a:solidFill>
                  <a:srgbClr val="1E293B"/>
                </a:solidFill>
                <a:latin typeface="Calibri"/>
              </a:rPr>
              <a:t>-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выход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из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1E293B"/>
                </a:solidFill>
                <a:latin typeface="Calibri"/>
              </a:rPr>
              <a:t>системы</a:t>
            </a:r>
            <a:r>
              <a:rPr sz="1200" b="0" dirty="0">
                <a:solidFill>
                  <a:srgbClr val="1E293B"/>
                </a:solidFill>
                <a:latin typeface="Calibri"/>
              </a:rPr>
              <a:t>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4956048"/>
            <a:ext cx="7498079" cy="166420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407408" y="5047488"/>
            <a:ext cx="731520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A5B4FC"/>
                </a:solidFill>
                <a:latin typeface="Calibri"/>
              </a:rPr>
              <a:t>// 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types.ts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lang="en-US" sz="1100" b="0" i="0" dirty="0">
                <a:solidFill>
                  <a:srgbClr val="A5B4FC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все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 API-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ответы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строго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типизированы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
interface 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CheckRecord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 { id: string; score: number | null;
  errors: ...; 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corrected_text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?: string; ... }
interface 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Fn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 { id: string; name: string; </a:t>
            </a:r>
            <a:r>
              <a:rPr sz="1100" b="0" i="0" dirty="0" err="1">
                <a:solidFill>
                  <a:srgbClr val="A5B4FC"/>
                </a:solidFill>
                <a:latin typeface="Calibri"/>
              </a:rPr>
              <a:t>system_prompt</a:t>
            </a:r>
            <a:r>
              <a:rPr sz="1100" b="0" i="0" dirty="0">
                <a:solidFill>
                  <a:srgbClr val="A5B4FC"/>
                </a:solidFill>
                <a:latin typeface="Calibri"/>
              </a:rPr>
              <a:t>?: string; ... }
interface Pupil { id: string; name: string; 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Авторизация: Supabase Auth + JWT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E0E7FF"/>
                </a:solidFill>
                <a:latin typeface="Calibri"/>
              </a:rPr>
              <a:t>Токен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валидируется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на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бэкенде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через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supabase.auth.get_user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() </a:t>
            </a:r>
            <a:r>
              <a:rPr lang="en-US" sz="1300" b="0" i="0" dirty="0">
                <a:solidFill>
                  <a:srgbClr val="E0E7FF"/>
                </a:solidFill>
                <a:latin typeface="Calibri"/>
              </a:rPr>
              <a:t>-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без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E0E7FF"/>
                </a:solidFill>
                <a:latin typeface="Calibri"/>
              </a:rPr>
              <a:t>ручного</a:t>
            </a:r>
            <a:r>
              <a:rPr sz="1300" b="0" i="0" dirty="0">
                <a:solidFill>
                  <a:srgbClr val="E0E7FF"/>
                </a:solidFill>
                <a:latin typeface="Calibri"/>
              </a:rPr>
              <a:t> decode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121408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75488" y="1499616"/>
            <a:ext cx="347472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5488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Регистрация /
Вход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938528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POST /api/auth/register
или /login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8098" y="238633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88336" y="1371600"/>
            <a:ext cx="2121408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798064" y="1499616"/>
            <a:ext cx="347472" cy="3474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98064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8688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Supabase Auth
выдаёт JWT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8064" y="1938528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access_token подписан
supabase_jwt_secret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0674" y="237744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10912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10912" y="1371600"/>
            <a:ext cx="2121408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120640" y="1499616"/>
            <a:ext cx="347472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20640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Фронтенд
сохраняет токен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938528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localStorage
.setItem('access_token')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5801" y="238633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33488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33488" y="1371600"/>
            <a:ext cx="2121408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443216" y="1499616"/>
            <a:ext cx="347472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43216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D97706"/>
                </a:solidFill>
                <a:latin typeface="Calibri"/>
              </a:rPr>
              <a:t>Axios interceptor
</a:t>
            </a:r>
            <a:r>
              <a:rPr sz="1200" b="1" i="0" dirty="0" err="1">
                <a:solidFill>
                  <a:srgbClr val="D97706"/>
                </a:solidFill>
                <a:latin typeface="Calibri"/>
              </a:rPr>
              <a:t>добавляет</a:t>
            </a:r>
            <a:r>
              <a:rPr sz="1200" b="1" i="0" dirty="0">
                <a:solidFill>
                  <a:srgbClr val="D97706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D97706"/>
                </a:solidFill>
                <a:latin typeface="Calibri"/>
              </a:rPr>
              <a:t>заголовок</a:t>
            </a:r>
            <a:endParaRPr sz="1200" b="1" i="0" dirty="0">
              <a:solidFill>
                <a:srgbClr val="D97706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443216" y="2122013"/>
            <a:ext cx="18403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64748B"/>
                </a:solidFill>
                <a:latin typeface="Calibri"/>
              </a:rPr>
              <a:t>Authorization:
Bearer &lt;token&gt;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831" y="236210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64748B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56064" y="1371600"/>
            <a:ext cx="2121408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656064" y="1371600"/>
            <a:ext cx="2121408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65792" y="1499616"/>
            <a:ext cx="347472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65792" y="149961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86416" y="1536192"/>
            <a:ext cx="14813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FastAPI
validates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1938528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get_current_user()
→ supabase.auth.get_user()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840480"/>
            <a:ext cx="5486400" cy="278892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0080" y="393192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async def get_current_user(
    token: str = Depends(oauth2_scheme),
    db = Depends(get_db)
):
    res = supabase.auth.get_user(token)
    if not res.user:
        raise HTTPException(401)
    return {'user_id': res.user.id,
            'email':   res.user.email}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3840480"/>
            <a:ext cx="5577840" cy="278892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09360" y="3931920"/>
            <a:ext cx="5303520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A5B4FC"/>
                </a:solidFill>
                <a:latin typeface="Calibri"/>
              </a:rPr>
              <a:t>//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api.ts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lang="en-US" sz="1000" b="0" i="0" dirty="0">
                <a:solidFill>
                  <a:srgbClr val="A5B4FC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единственное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место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с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токеном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
const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api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=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axios.create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({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baseURL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: BASE_URL });
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api.interceptors.request.use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((config) =&gt; {
  const token =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localStorage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
    .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getItem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('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access_token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');
  if (token)
   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config.headers.Authorization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=
      `Bearer ${token}`;
  return config;
});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База данных: 8 таблиц, PostgreSQL через Supabase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5394960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98448"/>
            <a:ext cx="54864" cy="868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13533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user_profiles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700784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user_id (PK), display_name, bio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353312"/>
            <a:ext cx="3657600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48840" y="138988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Профиль учителя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98448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298448"/>
            <a:ext cx="5394960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17920" y="1298448"/>
            <a:ext cx="54864" cy="86868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64224" y="135331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checks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1700784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pupil_id, function_id,
folder_id, errors (JSON),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1353312"/>
            <a:ext cx="3657600" cy="2926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9560" y="1389888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Результаты проверок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76856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2276856"/>
            <a:ext cx="539496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276856"/>
            <a:ext cx="54864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3504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functions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2679192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name, system_prompt,
user_template, is_default, is_published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2331720"/>
            <a:ext cx="3657600" cy="2926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148840" y="2368296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Функции проверки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276856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17920" y="2276856"/>
            <a:ext cx="539496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17920" y="2276856"/>
            <a:ext cx="54864" cy="8686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64224" y="2331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function_versions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4224" y="2679192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function_id, version_number,
system_prompt, change_note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2331720"/>
            <a:ext cx="3657600" cy="2926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09560" y="2368296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История версий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255264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255264"/>
            <a:ext cx="539496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3255264"/>
            <a:ext cx="54864" cy="8686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03504" y="33101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pupils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3657600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name
UNIQUE(user_id, name)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57400" y="3310128"/>
            <a:ext cx="3657600" cy="2926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148840" y="3346704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Ученики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255264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17920" y="3255264"/>
            <a:ext cx="5394960" cy="635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17920" y="3255264"/>
            <a:ext cx="54864" cy="8686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64224" y="33101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C2626"/>
                </a:solidFill>
                <a:latin typeface="Calibri"/>
              </a:rPr>
              <a:t>groups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64224" y="3657600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name, description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18120" y="3310128"/>
            <a:ext cx="3657600" cy="2926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909560" y="3346704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Группы/классы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233672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57200" y="4233672"/>
            <a:ext cx="5394960" cy="635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57200" y="4233672"/>
            <a:ext cx="54864" cy="86868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3504" y="4288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alibri"/>
              </a:rPr>
              <a:t>pupil_groups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" y="4636008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pupil_id (FK), group_id (FK)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57400" y="4288536"/>
            <a:ext cx="3657600" cy="29260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148840" y="432511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Ученик ↔ Группа M:M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4233672"/>
            <a:ext cx="53949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217920" y="4233672"/>
            <a:ext cx="5394960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217920" y="4233672"/>
            <a:ext cx="54864" cy="8686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64224" y="428853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folders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64224" y="4636008"/>
            <a:ext cx="51937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id, user_id, name, description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18120" y="4288536"/>
            <a:ext cx="3657600" cy="2926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909560" y="4325112"/>
            <a:ext cx="35478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Папки для работ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12064" y="5761228"/>
            <a:ext cx="11247120" cy="749808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40664" y="5889752"/>
            <a:ext cx="107899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4F46E5"/>
                </a:solidFill>
                <a:latin typeface="Calibri"/>
              </a:rPr>
              <a:t>💡 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checks.errors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lang="en-US" sz="1200" b="0" i="0" dirty="0">
                <a:solidFill>
                  <a:srgbClr val="4F46E5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JSON-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колонка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: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хранит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Python-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список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объектов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ошибок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напрямую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SQLAlchemy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автоматически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
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сериализует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/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десериализует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.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Нет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JOIN </a:t>
            </a:r>
            <a:r>
              <a:rPr lang="en-US" sz="1200" b="0" i="0" dirty="0">
                <a:solidFill>
                  <a:srgbClr val="4F46E5"/>
                </a:solidFill>
                <a:latin typeface="Calibri"/>
              </a:rPr>
              <a:t>-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все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данные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проверки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читаются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одним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4F46E5"/>
                </a:solidFill>
                <a:latin typeface="Calibri"/>
              </a:rPr>
              <a:t>запросом</a:t>
            </a:r>
            <a:r>
              <a:rPr sz="1200" b="0" i="0" dirty="0">
                <a:solidFill>
                  <a:srgbClr val="4F46E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6">
            <a:extLst>
              <a:ext uri="{FF2B5EF4-FFF2-40B4-BE49-F238E27FC236}">
                <a16:creationId xmlns:a16="http://schemas.microsoft.com/office/drawing/2014/main" id="{857E2B07-F7FE-F340-8170-44AC3CEE6E19}"/>
              </a:ext>
            </a:extLst>
          </p:cNvPr>
          <p:cNvSpPr/>
          <p:nvPr/>
        </p:nvSpPr>
        <p:spPr>
          <a:xfrm>
            <a:off x="137634" y="0"/>
            <a:ext cx="1218882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A22E7A-FF84-52DE-8BE1-53309667DF64}"/>
              </a:ext>
            </a:extLst>
          </p:cNvPr>
          <p:cNvSpPr txBox="1"/>
          <p:nvPr/>
        </p:nvSpPr>
        <p:spPr>
          <a:xfrm>
            <a:off x="137160" y="91440"/>
            <a:ext cx="114951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7C3AED"/>
                </a:solidFill>
                <a:latin typeface="Calibri"/>
              </a:rPr>
              <a:t>Диаграмма</a:t>
            </a:r>
            <a:r>
              <a:rPr sz="2000" b="1" i="0" dirty="0">
                <a:solidFill>
                  <a:srgbClr val="7C3AED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7C3AED"/>
                </a:solidFill>
                <a:latin typeface="Calibri"/>
              </a:rPr>
              <a:t>классов</a:t>
            </a:r>
            <a:endParaRPr sz="2000" b="1" i="0" dirty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4" name="Rectangle 18">
            <a:extLst>
              <a:ext uri="{FF2B5EF4-FFF2-40B4-BE49-F238E27FC236}">
                <a16:creationId xmlns:a16="http://schemas.microsoft.com/office/drawing/2014/main" id="{E57FFB80-9107-A246-5DF3-F85F39A7AD89}"/>
              </a:ext>
            </a:extLst>
          </p:cNvPr>
          <p:cNvSpPr/>
          <p:nvPr/>
        </p:nvSpPr>
        <p:spPr>
          <a:xfrm>
            <a:off x="0" y="0"/>
            <a:ext cx="137634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63B1F25-4C29-73BA-3AC8-EE92BF399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080" y="0"/>
            <a:ext cx="6104744" cy="6858000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E0434A77-97CE-BCF4-1251-4B661F54A700}"/>
              </a:ext>
            </a:extLst>
          </p:cNvPr>
          <p:cNvSpPr/>
          <p:nvPr/>
        </p:nvSpPr>
        <p:spPr>
          <a:xfrm>
            <a:off x="288524" y="877824"/>
            <a:ext cx="1676712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8E76EB-D7FB-6A33-F0D5-B121E7366DE6}"/>
              </a:ext>
            </a:extLst>
          </p:cNvPr>
          <p:cNvSpPr txBox="1"/>
          <p:nvPr/>
        </p:nvSpPr>
        <p:spPr>
          <a:xfrm>
            <a:off x="379964" y="950976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Таблица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962EE426-C969-F1B4-3287-1291433F7FA0}"/>
              </a:ext>
            </a:extLst>
          </p:cNvPr>
          <p:cNvSpPr/>
          <p:nvPr/>
        </p:nvSpPr>
        <p:spPr>
          <a:xfrm>
            <a:off x="2002267" y="877824"/>
            <a:ext cx="3944178" cy="4572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C305FA-3890-0F88-3732-A4119AC282E3}"/>
              </a:ext>
            </a:extLst>
          </p:cNvPr>
          <p:cNvSpPr txBox="1"/>
          <p:nvPr/>
        </p:nvSpPr>
        <p:spPr>
          <a:xfrm>
            <a:off x="2093707" y="960230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16" name="Rectangle 7">
            <a:extLst>
              <a:ext uri="{FF2B5EF4-FFF2-40B4-BE49-F238E27FC236}">
                <a16:creationId xmlns:a16="http://schemas.microsoft.com/office/drawing/2014/main" id="{BD2D50D6-2C71-7C8E-CE77-E55D6AD81C0D}"/>
              </a:ext>
            </a:extLst>
          </p:cNvPr>
          <p:cNvSpPr/>
          <p:nvPr/>
        </p:nvSpPr>
        <p:spPr>
          <a:xfrm>
            <a:off x="288524" y="1380744"/>
            <a:ext cx="1676712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42D1609C-5622-0DC2-B96E-CC8399BE90C5}"/>
              </a:ext>
            </a:extLst>
          </p:cNvPr>
          <p:cNvSpPr/>
          <p:nvPr/>
        </p:nvSpPr>
        <p:spPr>
          <a:xfrm>
            <a:off x="2002267" y="1380744"/>
            <a:ext cx="394417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C56D99-2396-ADD6-0747-2CC04BE254A6}"/>
              </a:ext>
            </a:extLst>
          </p:cNvPr>
          <p:cNvSpPr txBox="1"/>
          <p:nvPr/>
        </p:nvSpPr>
        <p:spPr>
          <a:xfrm>
            <a:off x="379964" y="1472184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users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94B6B6-959C-4D22-BFCE-C3033E540A6B}"/>
              </a:ext>
            </a:extLst>
          </p:cNvPr>
          <p:cNvSpPr txBox="1"/>
          <p:nvPr/>
        </p:nvSpPr>
        <p:spPr>
          <a:xfrm>
            <a:off x="2093707" y="1472184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1E1B4B"/>
                </a:solidFill>
                <a:latin typeface="Calibri"/>
              </a:rPr>
              <a:t>Supabase</a:t>
            </a:r>
            <a:r>
              <a:rPr sz="1300" b="0" i="0" dirty="0">
                <a:solidFill>
                  <a:srgbClr val="1E1B4B"/>
                </a:solidFill>
                <a:latin typeface="Calibri"/>
              </a:rPr>
              <a:t> Auth </a:t>
            </a:r>
            <a:r>
              <a:rPr lang="en-US" sz="1300" b="0" i="0" dirty="0">
                <a:solidFill>
                  <a:srgbClr val="1E1B4B"/>
                </a:solidFill>
                <a:latin typeface="Calibri"/>
              </a:rPr>
              <a:t>-</a:t>
            </a:r>
            <a:r>
              <a:rPr sz="1300" b="0" i="0" dirty="0">
                <a:solidFill>
                  <a:srgbClr val="1E1B4B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E1B4B"/>
                </a:solidFill>
                <a:latin typeface="Calibri"/>
              </a:rPr>
              <a:t>учётные</a:t>
            </a:r>
            <a:r>
              <a:rPr sz="1300" b="0" i="0" dirty="0">
                <a:solidFill>
                  <a:srgbClr val="1E1B4B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E1B4B"/>
                </a:solidFill>
                <a:latin typeface="Calibri"/>
              </a:rPr>
              <a:t>записи</a:t>
            </a:r>
            <a:r>
              <a:rPr sz="1300" b="0" i="0" dirty="0">
                <a:solidFill>
                  <a:srgbClr val="1E1B4B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E1B4B"/>
                </a:solidFill>
                <a:latin typeface="Calibri"/>
              </a:rPr>
              <a:t>учителей</a:t>
            </a:r>
            <a:endParaRPr sz="1300" b="0" i="0" dirty="0">
              <a:solidFill>
                <a:srgbClr val="1E1B4B"/>
              </a:solidFill>
              <a:latin typeface="Calibri"/>
            </a:endParaRPr>
          </a:p>
        </p:txBody>
      </p:sp>
      <p:sp>
        <p:nvSpPr>
          <p:cNvPr id="20" name="Rectangle 11">
            <a:extLst>
              <a:ext uri="{FF2B5EF4-FFF2-40B4-BE49-F238E27FC236}">
                <a16:creationId xmlns:a16="http://schemas.microsoft.com/office/drawing/2014/main" id="{BDE2497A-BC66-E8C5-8F66-AFE79B155832}"/>
              </a:ext>
            </a:extLst>
          </p:cNvPr>
          <p:cNvSpPr/>
          <p:nvPr/>
        </p:nvSpPr>
        <p:spPr>
          <a:xfrm>
            <a:off x="288524" y="1956816"/>
            <a:ext cx="1676712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12">
            <a:extLst>
              <a:ext uri="{FF2B5EF4-FFF2-40B4-BE49-F238E27FC236}">
                <a16:creationId xmlns:a16="http://schemas.microsoft.com/office/drawing/2014/main" id="{9D2B2962-B129-53EB-9EA2-E251B4E1AEF7}"/>
              </a:ext>
            </a:extLst>
          </p:cNvPr>
          <p:cNvSpPr/>
          <p:nvPr/>
        </p:nvSpPr>
        <p:spPr>
          <a:xfrm>
            <a:off x="2002267" y="1956816"/>
            <a:ext cx="3944178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B1ACF3-FA45-0ABA-E505-8D661A220181}"/>
              </a:ext>
            </a:extLst>
          </p:cNvPr>
          <p:cNvSpPr txBox="1"/>
          <p:nvPr/>
        </p:nvSpPr>
        <p:spPr>
          <a:xfrm>
            <a:off x="379964" y="2048256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checks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93AC08-3526-1C31-6B21-3337D9944D86}"/>
              </a:ext>
            </a:extLst>
          </p:cNvPr>
          <p:cNvSpPr txBox="1"/>
          <p:nvPr/>
        </p:nvSpPr>
        <p:spPr>
          <a:xfrm>
            <a:off x="2093707" y="2048256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Результаты проверок (текст, ошибки JSON, оценка)</a:t>
            </a:r>
          </a:p>
        </p:txBody>
      </p:sp>
      <p:sp>
        <p:nvSpPr>
          <p:cNvPr id="24" name="Rectangle 15">
            <a:extLst>
              <a:ext uri="{FF2B5EF4-FFF2-40B4-BE49-F238E27FC236}">
                <a16:creationId xmlns:a16="http://schemas.microsoft.com/office/drawing/2014/main" id="{566EB7C4-997C-523C-F554-FB1A8C8CF275}"/>
              </a:ext>
            </a:extLst>
          </p:cNvPr>
          <p:cNvSpPr/>
          <p:nvPr/>
        </p:nvSpPr>
        <p:spPr>
          <a:xfrm>
            <a:off x="288524" y="2532888"/>
            <a:ext cx="1676712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16">
            <a:extLst>
              <a:ext uri="{FF2B5EF4-FFF2-40B4-BE49-F238E27FC236}">
                <a16:creationId xmlns:a16="http://schemas.microsoft.com/office/drawing/2014/main" id="{886EB366-80D9-1526-DD61-8A30B21BDCD3}"/>
              </a:ext>
            </a:extLst>
          </p:cNvPr>
          <p:cNvSpPr/>
          <p:nvPr/>
        </p:nvSpPr>
        <p:spPr>
          <a:xfrm>
            <a:off x="2002267" y="2532888"/>
            <a:ext cx="394417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2049CA-FD2C-8451-4388-5D51A2CB4D5B}"/>
              </a:ext>
            </a:extLst>
          </p:cNvPr>
          <p:cNvSpPr txBox="1"/>
          <p:nvPr/>
        </p:nvSpPr>
        <p:spPr>
          <a:xfrm>
            <a:off x="379964" y="2624328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pupils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2563C0-31C9-9ED5-A518-37D287D01793}"/>
              </a:ext>
            </a:extLst>
          </p:cNvPr>
          <p:cNvSpPr txBox="1"/>
          <p:nvPr/>
        </p:nvSpPr>
        <p:spPr>
          <a:xfrm>
            <a:off x="2093707" y="2624328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Ученики учителя (имя, уникальность по user_id)</a:t>
            </a:r>
          </a:p>
        </p:txBody>
      </p:sp>
      <p:sp>
        <p:nvSpPr>
          <p:cNvPr id="28" name="Rectangle 19">
            <a:extLst>
              <a:ext uri="{FF2B5EF4-FFF2-40B4-BE49-F238E27FC236}">
                <a16:creationId xmlns:a16="http://schemas.microsoft.com/office/drawing/2014/main" id="{847AAE90-1D8F-821D-A2E5-5FC9A1B3B8AC}"/>
              </a:ext>
            </a:extLst>
          </p:cNvPr>
          <p:cNvSpPr/>
          <p:nvPr/>
        </p:nvSpPr>
        <p:spPr>
          <a:xfrm>
            <a:off x="288524" y="3108960"/>
            <a:ext cx="1676712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0">
            <a:extLst>
              <a:ext uri="{FF2B5EF4-FFF2-40B4-BE49-F238E27FC236}">
                <a16:creationId xmlns:a16="http://schemas.microsoft.com/office/drawing/2014/main" id="{4E3AB4D1-2D84-8059-958D-49F46FA0B805}"/>
              </a:ext>
            </a:extLst>
          </p:cNvPr>
          <p:cNvSpPr/>
          <p:nvPr/>
        </p:nvSpPr>
        <p:spPr>
          <a:xfrm>
            <a:off x="2002267" y="3108960"/>
            <a:ext cx="3944178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49C6A4-90FC-6E7A-2A3B-ED7444B9164A}"/>
              </a:ext>
            </a:extLst>
          </p:cNvPr>
          <p:cNvSpPr txBox="1"/>
          <p:nvPr/>
        </p:nvSpPr>
        <p:spPr>
          <a:xfrm>
            <a:off x="379964" y="3200400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groups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90CFD3-2DD4-7AD1-77F5-716BF4BEDCAF}"/>
              </a:ext>
            </a:extLst>
          </p:cNvPr>
          <p:cNvSpPr txBox="1"/>
          <p:nvPr/>
        </p:nvSpPr>
        <p:spPr>
          <a:xfrm>
            <a:off x="2093707" y="3200400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Группы / классы учителя</a:t>
            </a:r>
          </a:p>
        </p:txBody>
      </p:sp>
      <p:sp>
        <p:nvSpPr>
          <p:cNvPr id="32" name="Rectangle 23">
            <a:extLst>
              <a:ext uri="{FF2B5EF4-FFF2-40B4-BE49-F238E27FC236}">
                <a16:creationId xmlns:a16="http://schemas.microsoft.com/office/drawing/2014/main" id="{2A90CD62-DF2A-84A4-DFDB-0F1F95D0A3B9}"/>
              </a:ext>
            </a:extLst>
          </p:cNvPr>
          <p:cNvSpPr/>
          <p:nvPr/>
        </p:nvSpPr>
        <p:spPr>
          <a:xfrm>
            <a:off x="288524" y="3685032"/>
            <a:ext cx="1676712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24">
            <a:extLst>
              <a:ext uri="{FF2B5EF4-FFF2-40B4-BE49-F238E27FC236}">
                <a16:creationId xmlns:a16="http://schemas.microsoft.com/office/drawing/2014/main" id="{FF12A82E-2B11-3389-F8CB-07E0363C990A}"/>
              </a:ext>
            </a:extLst>
          </p:cNvPr>
          <p:cNvSpPr/>
          <p:nvPr/>
        </p:nvSpPr>
        <p:spPr>
          <a:xfrm>
            <a:off x="2002267" y="3685032"/>
            <a:ext cx="394417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85C75E4-E8AC-6FCD-7AF9-A5C4F14ED605}"/>
              </a:ext>
            </a:extLst>
          </p:cNvPr>
          <p:cNvSpPr txBox="1"/>
          <p:nvPr/>
        </p:nvSpPr>
        <p:spPr>
          <a:xfrm>
            <a:off x="379964" y="3776472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pupil_groups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3F60C3-575B-2CFE-87D4-511BCF37625E}"/>
              </a:ext>
            </a:extLst>
          </p:cNvPr>
          <p:cNvSpPr txBox="1"/>
          <p:nvPr/>
        </p:nvSpPr>
        <p:spPr>
          <a:xfrm>
            <a:off x="2093707" y="3776472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Связь многие-ко-многим: ученики ↔ группы</a:t>
            </a:r>
          </a:p>
        </p:txBody>
      </p:sp>
      <p:sp>
        <p:nvSpPr>
          <p:cNvPr id="36" name="Rectangle 27">
            <a:extLst>
              <a:ext uri="{FF2B5EF4-FFF2-40B4-BE49-F238E27FC236}">
                <a16:creationId xmlns:a16="http://schemas.microsoft.com/office/drawing/2014/main" id="{495A21F0-5EAC-B9D5-9BCD-93D74F53E878}"/>
              </a:ext>
            </a:extLst>
          </p:cNvPr>
          <p:cNvSpPr/>
          <p:nvPr/>
        </p:nvSpPr>
        <p:spPr>
          <a:xfrm>
            <a:off x="288524" y="4261104"/>
            <a:ext cx="1676712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28">
            <a:extLst>
              <a:ext uri="{FF2B5EF4-FFF2-40B4-BE49-F238E27FC236}">
                <a16:creationId xmlns:a16="http://schemas.microsoft.com/office/drawing/2014/main" id="{5D749225-E151-13B9-314E-046D3E85CD13}"/>
              </a:ext>
            </a:extLst>
          </p:cNvPr>
          <p:cNvSpPr/>
          <p:nvPr/>
        </p:nvSpPr>
        <p:spPr>
          <a:xfrm>
            <a:off x="2002267" y="4261104"/>
            <a:ext cx="3944178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7ADD5-9CE7-4036-CD35-0F40A088D157}"/>
              </a:ext>
            </a:extLst>
          </p:cNvPr>
          <p:cNvSpPr txBox="1"/>
          <p:nvPr/>
        </p:nvSpPr>
        <p:spPr>
          <a:xfrm>
            <a:off x="379964" y="4352544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folders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8B3F42E-3A03-E1B3-8E14-7A54698B94BC}"/>
              </a:ext>
            </a:extLst>
          </p:cNvPr>
          <p:cNvSpPr txBox="1"/>
          <p:nvPr/>
        </p:nvSpPr>
        <p:spPr>
          <a:xfrm>
            <a:off x="2093707" y="4352544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Папки для организации работ</a:t>
            </a:r>
          </a:p>
        </p:txBody>
      </p:sp>
      <p:sp>
        <p:nvSpPr>
          <p:cNvPr id="40" name="Rectangle 31">
            <a:extLst>
              <a:ext uri="{FF2B5EF4-FFF2-40B4-BE49-F238E27FC236}">
                <a16:creationId xmlns:a16="http://schemas.microsoft.com/office/drawing/2014/main" id="{39AA9647-84E5-FBFA-28F8-0449860ADD4C}"/>
              </a:ext>
            </a:extLst>
          </p:cNvPr>
          <p:cNvSpPr/>
          <p:nvPr/>
        </p:nvSpPr>
        <p:spPr>
          <a:xfrm>
            <a:off x="288524" y="4837176"/>
            <a:ext cx="1676712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32">
            <a:extLst>
              <a:ext uri="{FF2B5EF4-FFF2-40B4-BE49-F238E27FC236}">
                <a16:creationId xmlns:a16="http://schemas.microsoft.com/office/drawing/2014/main" id="{8E4903FB-DD3F-7503-09FA-BD0E0301AF7A}"/>
              </a:ext>
            </a:extLst>
          </p:cNvPr>
          <p:cNvSpPr/>
          <p:nvPr/>
        </p:nvSpPr>
        <p:spPr>
          <a:xfrm>
            <a:off x="2002267" y="4837176"/>
            <a:ext cx="394417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972CB4-A42F-52F3-F01F-8DA7FCC52C2E}"/>
              </a:ext>
            </a:extLst>
          </p:cNvPr>
          <p:cNvSpPr txBox="1"/>
          <p:nvPr/>
        </p:nvSpPr>
        <p:spPr>
          <a:xfrm>
            <a:off x="379964" y="4928616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functions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D5E3AC-3F0B-1D40-C425-B1BE5AAD3A4C}"/>
              </a:ext>
            </a:extLst>
          </p:cNvPr>
          <p:cNvSpPr txBox="1"/>
          <p:nvPr/>
        </p:nvSpPr>
        <p:spPr>
          <a:xfrm>
            <a:off x="2093707" y="4928616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Функции проверки (промпты, шаблоны)</a:t>
            </a:r>
          </a:p>
        </p:txBody>
      </p:sp>
      <p:sp>
        <p:nvSpPr>
          <p:cNvPr id="44" name="Rectangle 35">
            <a:extLst>
              <a:ext uri="{FF2B5EF4-FFF2-40B4-BE49-F238E27FC236}">
                <a16:creationId xmlns:a16="http://schemas.microsoft.com/office/drawing/2014/main" id="{C604C843-96AB-3274-C7BC-DBBF387104B8}"/>
              </a:ext>
            </a:extLst>
          </p:cNvPr>
          <p:cNvSpPr/>
          <p:nvPr/>
        </p:nvSpPr>
        <p:spPr>
          <a:xfrm>
            <a:off x="288524" y="5413248"/>
            <a:ext cx="1676712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36">
            <a:extLst>
              <a:ext uri="{FF2B5EF4-FFF2-40B4-BE49-F238E27FC236}">
                <a16:creationId xmlns:a16="http://schemas.microsoft.com/office/drawing/2014/main" id="{54A133A5-B288-12BF-4EC3-CF8ACB97B228}"/>
              </a:ext>
            </a:extLst>
          </p:cNvPr>
          <p:cNvSpPr/>
          <p:nvPr/>
        </p:nvSpPr>
        <p:spPr>
          <a:xfrm>
            <a:off x="2002267" y="5413248"/>
            <a:ext cx="3944178" cy="539496"/>
          </a:xfrm>
          <a:prstGeom prst="rect">
            <a:avLst/>
          </a:prstGeom>
          <a:solidFill>
            <a:srgbClr val="F8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732632E-2A6A-CF56-AE6C-19E351FA63B7}"/>
              </a:ext>
            </a:extLst>
          </p:cNvPr>
          <p:cNvSpPr txBox="1"/>
          <p:nvPr/>
        </p:nvSpPr>
        <p:spPr>
          <a:xfrm>
            <a:off x="379964" y="5504688"/>
            <a:ext cx="157610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function_versions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42646C-D8FD-4835-145C-3E7529B9C200}"/>
              </a:ext>
            </a:extLst>
          </p:cNvPr>
          <p:cNvSpPr txBox="1"/>
          <p:nvPr/>
        </p:nvSpPr>
        <p:spPr>
          <a:xfrm>
            <a:off x="2093707" y="5504688"/>
            <a:ext cx="3881901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История версий каждой функции</a:t>
            </a:r>
          </a:p>
        </p:txBody>
      </p:sp>
    </p:spTree>
    <p:extLst>
      <p:ext uri="{BB962C8B-B14F-4D97-AF65-F5344CB8AC3E}">
        <p14:creationId xmlns:p14="http://schemas.microsoft.com/office/powerpoint/2010/main" val="1970213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Calibri"/>
              </a:rPr>
              <a:t>Технологический</a:t>
            </a:r>
            <a:r>
              <a:rPr sz="2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i="0" dirty="0" err="1">
                <a:solidFill>
                  <a:srgbClr val="FFFFFF"/>
                </a:solidFill>
                <a:latin typeface="Calibri"/>
              </a:rPr>
              <a:t>сте</a:t>
            </a:r>
            <a:r>
              <a:rPr lang="ru-RU" sz="2400" b="1" i="0" dirty="0">
                <a:solidFill>
                  <a:srgbClr val="FFFFFF"/>
                </a:solidFill>
                <a:latin typeface="Calibri"/>
              </a:rPr>
              <a:t>к</a:t>
            </a:r>
          </a:p>
          <a:p>
            <a:pPr algn="l"/>
            <a:endParaRPr sz="2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216152" y="1280160"/>
            <a:ext cx="1591056" cy="43891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9304" y="1344168"/>
            <a:ext cx="1499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Технология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280160"/>
            <a:ext cx="1499616" cy="43891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53512" y="1344168"/>
            <a:ext cx="14081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Назначение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280160"/>
            <a:ext cx="6592824" cy="43891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53712" y="1344168"/>
            <a:ext cx="6501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Почему выбрано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6152" y="1764792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216152" y="1764792"/>
            <a:ext cx="508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07592" y="1819656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FastAPI 0.115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1764792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53512" y="1810512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Бэкенд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1764792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53712" y="1810512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Нативный async + SSE, автодокументация Swagger, DI через Depends()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16152" y="2157984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216152" y="2157984"/>
            <a:ext cx="5080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07592" y="2212848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Python 3.11+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2157984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53512" y="2203704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Язык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2157984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53712" y="2203704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Единственный язык с нативной поддержкой PaddleOCR, Tesseract и LLM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16152" y="2551176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216152" y="2551176"/>
            <a:ext cx="50800" cy="365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307592" y="2606040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SQLAlchemy 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2551176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953512" y="2596896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ORM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60" y="2551176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53712" y="2596896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Полный async API, изоляция SQL от бизнес-логики, декларативные модели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16152" y="2944368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216152" y="2944368"/>
            <a:ext cx="50800" cy="365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307592" y="2999232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Supabase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360" y="2944368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953512" y="2990088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БД + Auth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60" y="2944368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53712" y="2990088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Управляемый PostgreSQL + готовая JWT-авторизация, бесплатный хостинг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16152" y="3337560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216152" y="3337560"/>
            <a:ext cx="5080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307592" y="3392424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PaddleOCR 2.8.1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0360" y="3337560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53512" y="3383280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OCR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0560" y="3337560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53712" y="3383280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Наивысшая точность для рукописи, модель SVTR + детектор DB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216152" y="3730752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216152" y="3730752"/>
            <a:ext cx="50800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307592" y="3785616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Tesseract 5.x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80360" y="3730752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953512" y="3776472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OCR резерв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80560" y="3730752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53712" y="3776472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Компенсирует слабость PaddleOCR на печатном тексте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216152" y="4123944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1216152" y="4123944"/>
            <a:ext cx="50800" cy="3657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307592" y="4178808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MarkItDown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80360" y="4123944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953512" y="4169664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Документы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80560" y="4123944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553712" y="4169664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Единый API для PDF/DOCX/PPTX/TXT от Microsoft, сохраняет структуру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216152" y="4517136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216152" y="4517136"/>
            <a:ext cx="50800" cy="3657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307592" y="4572000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Ollama qwen2.5:7b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880360" y="4517136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2953512" y="4562856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LLM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80560" y="4517136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53712" y="4562856"/>
            <a:ext cx="65013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1E293B"/>
                </a:solidFill>
                <a:latin typeface="Calibri"/>
              </a:rPr>
              <a:t>Локальный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запуск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lang="en-US" sz="1000" b="0" i="0" dirty="0">
                <a:solidFill>
                  <a:srgbClr val="1E293B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данные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не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утекают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; 7B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оптимален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CPU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16152" y="4910328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1216152" y="4910328"/>
            <a:ext cx="5080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307592" y="4965192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React 19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80360" y="4910328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953512" y="4956048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Фронтенд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80560" y="4910328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4553712" y="4956048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Стандарт отрасли, компонентный подход, наибольшая экосистема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16152" y="5303520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1216152" y="5303520"/>
            <a:ext cx="5080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307592" y="5358384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TypeScript ~6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880360" y="5303520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953512" y="5349240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Типизация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480560" y="5303520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553712" y="5349240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Обнаруживает ошибки типов на этапе сборки, улучшает IDE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216152" y="5696712"/>
            <a:ext cx="159105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1216152" y="5696712"/>
            <a:ext cx="50800" cy="365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1307592" y="5751576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Vite 8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880360" y="5696712"/>
            <a:ext cx="1499616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2953512" y="5742432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Сборщик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480560" y="5696712"/>
            <a:ext cx="6592824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553712" y="5742432"/>
            <a:ext cx="650138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1E293B"/>
                </a:solidFill>
                <a:latin typeface="Calibri"/>
              </a:rPr>
              <a:t>Мгновенный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старт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через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ES-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модули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, Rolldown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на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Rust </a:t>
            </a:r>
            <a:r>
              <a:rPr lang="en-US" sz="1000" b="0" i="0" dirty="0">
                <a:solidFill>
                  <a:srgbClr val="1E293B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1E293B"/>
                </a:solidFill>
                <a:latin typeface="Calibri"/>
              </a:rPr>
              <a:t>быстрее</a:t>
            </a:r>
            <a:r>
              <a:rPr sz="1000" b="0" i="0" dirty="0">
                <a:solidFill>
                  <a:srgbClr val="1E293B"/>
                </a:solidFill>
                <a:latin typeface="Calibri"/>
              </a:rPr>
              <a:t> Webpack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216152" y="6089904"/>
            <a:ext cx="159105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216152" y="6089904"/>
            <a:ext cx="50800" cy="3657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1307592" y="6144768"/>
            <a:ext cx="14813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Calibri"/>
              </a:rPr>
              <a:t>Tailwind CSS v4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2880360" y="6089904"/>
            <a:ext cx="1499616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2953512" y="6135624"/>
            <a:ext cx="14081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Стили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480560" y="6089904"/>
            <a:ext cx="6592824" cy="3657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4553712" y="6135624"/>
            <a:ext cx="6501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E293B"/>
                </a:solidFill>
                <a:latin typeface="Calibri"/>
              </a:rPr>
              <a:t>Utility-first: стили прямо в JSX, v4 через Vite-плагин без конфига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Паттерны проектирования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Strategy + Repository + Dependency Injection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298448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3657600" cy="635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3657600" cy="5029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Стратегия (Strategy)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347472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64748B"/>
                </a:solidFill>
                <a:latin typeface="Calibri"/>
              </a:rPr>
              <a:t>ЗАЧЕМ: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Легко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добавить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новый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OCR-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движок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без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изменения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существующего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кода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КАК: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OCRStrategy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абстрактный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класс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PaddleStrategy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TesseractStrategy</a:t>
            </a:r>
            <a:r>
              <a:rPr lang="en-US" sz="1100" dirty="0">
                <a:solidFill>
                  <a:srgbClr val="64748B"/>
                </a:solidFill>
                <a:latin typeface="Calibri"/>
              </a:rPr>
              <a:t> 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реализации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HybridOCR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-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агрегирует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обе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(◆)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" y="4023360"/>
            <a:ext cx="3511296" cy="221284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" y="4096512"/>
            <a:ext cx="3401568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class OCRStrategy(ABC):
  @abstractmethod
  def recognize(self,
    image_path: str) -&gt; OcrResult: ...
  @abstractmethod
  def get_name(self) -&gt; str: 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87952" y="1298448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87952" y="1298448"/>
            <a:ext cx="3657600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87952" y="1298448"/>
            <a:ext cx="3657600" cy="5029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Репозиторий (Repository)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1920240"/>
            <a:ext cx="3474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ЗАЧЕМ:
Сервисы не знают про SQL.
Легко сменить СУБД.
Код тестируем.
КАК:
CheckRepository, GroupRepository,
FunctionRepository и другие.
Единственное место с select/insert/update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61104" y="4023360"/>
            <a:ext cx="3511296" cy="221284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52544" y="4096512"/>
            <a:ext cx="3401568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class CheckRepository:
  async def create(self, data) -&gt; Check:
    obj = Check(**data)
    self.db.add(obj)
    await self.db.commit()
    return obj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2" y="1298448"/>
            <a:ext cx="365760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28432" y="1298448"/>
            <a:ext cx="36576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28432" y="1298448"/>
            <a:ext cx="3657600" cy="502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38160" y="13716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Инъекция зависимостей (DI)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1920240"/>
            <a:ext cx="347472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ЗАЧЕМ:
Компоненты не создают
зависимости самостоятельно.
Упрощает тестирование.
КАК:
FastAPI Depends() создаёт сессию БД
и текущего пользователя
для каждого запроса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1584" y="4023360"/>
            <a:ext cx="3511296" cy="221284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93024" y="4096512"/>
            <a:ext cx="3401568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5B4FC"/>
                </a:solidFill>
                <a:latin typeface="Calibri"/>
              </a:rPr>
              <a:t>@router.get('/history')
async def history(
  db = Depends(get_db),
  user = Depends(get_current_user)
):
  return await CheckRepository(db)
           .get_by_user(user['user_id'])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0350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UML-диаграммы проекта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273962" y="658368"/>
            <a:ext cx="11914990" cy="608979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204" y="659220"/>
            <a:ext cx="108021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 err="1">
                <a:solidFill>
                  <a:srgbClr val="4F46E5"/>
                </a:solidFill>
                <a:latin typeface="Calibri"/>
              </a:rPr>
              <a:t>Диаграмма</a:t>
            </a:r>
            <a:r>
              <a:rPr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4F46E5"/>
                </a:solidFill>
                <a:latin typeface="Calibri"/>
              </a:rPr>
              <a:t>вариантов</a:t>
            </a:r>
            <a:r>
              <a:rPr b="1" i="0" dirty="0">
                <a:solidFill>
                  <a:srgbClr val="4F46E5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4F46E5"/>
                </a:solidFill>
                <a:latin typeface="Calibri"/>
              </a:rPr>
              <a:t>использования</a:t>
            </a:r>
            <a:endParaRPr b="1" i="0" dirty="0">
              <a:solidFill>
                <a:srgbClr val="4F46E5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2880" y="658368"/>
            <a:ext cx="129336" cy="608979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74675" y="1269062"/>
            <a:ext cx="3259273" cy="923969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4072" y="1434635"/>
            <a:ext cx="11174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b="1" dirty="0">
                <a:solidFill>
                  <a:srgbClr val="4F46E5"/>
                </a:solidFill>
                <a:latin typeface="Calibri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985" y="1566897"/>
            <a:ext cx="22362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dirty="0">
                <a:solidFill>
                  <a:srgbClr val="1E293B"/>
                </a:solidFill>
                <a:latin typeface="Calibri"/>
              </a:rPr>
              <a:t>в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ариантов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использования</a:t>
            </a:r>
            <a:endParaRPr sz="14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621" y="3365282"/>
            <a:ext cx="3259273" cy="923969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02" y="3505878"/>
            <a:ext cx="11174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4F46E5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0918" y="3630467"/>
            <a:ext cx="23681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dirty="0">
                <a:solidFill>
                  <a:srgbClr val="1E293B"/>
                </a:solidFill>
                <a:latin typeface="Calibri"/>
              </a:rPr>
              <a:t>а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ктор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(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преподаватель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1630" y="2320268"/>
            <a:ext cx="3259273" cy="923969"/>
          </a:xfrm>
          <a:prstGeom prst="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3298" y="2451745"/>
            <a:ext cx="11174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4F46E5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695" y="2572765"/>
            <a:ext cx="17693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1E293B"/>
                </a:solidFill>
                <a:latin typeface="Calibri"/>
              </a:rPr>
              <a:t>разделов</a:t>
            </a:r>
            <a:endParaRPr sz="1400" b="0" i="0" dirty="0">
              <a:solidFill>
                <a:srgbClr val="1E293B"/>
              </a:solidFill>
              <a:latin typeface="Calibri"/>
            </a:endParaRP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D34E8DB-BE65-4261-9617-E0F2FAB18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611" y="109838"/>
            <a:ext cx="6892377" cy="66412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-1" y="0"/>
            <a:ext cx="1218882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42ACDE3-A956-A929-9F09-39141B7DA4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2353" y="491550"/>
            <a:ext cx="9828860" cy="62374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7160" y="91440"/>
            <a:ext cx="1149515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7C3AED"/>
                </a:solidFill>
                <a:latin typeface="Calibri"/>
              </a:rPr>
              <a:t>Диаграмма</a:t>
            </a:r>
            <a:r>
              <a:rPr sz="2000" b="1" i="0" dirty="0">
                <a:solidFill>
                  <a:srgbClr val="7C3AED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7C3AED"/>
                </a:solidFill>
                <a:latin typeface="Calibri"/>
              </a:rPr>
              <a:t>классов</a:t>
            </a:r>
            <a:endParaRPr sz="2000" b="1" i="0" dirty="0">
              <a:solidFill>
                <a:srgbClr val="7C3AED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37634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7634" y="626519"/>
            <a:ext cx="1159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E293B"/>
                </a:solidFill>
                <a:latin typeface="Calibri"/>
              </a:rPr>
              <a:t>▸ 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OCRStrategy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-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абстрактный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класс</a:t>
            </a:r>
            <a:endParaRPr lang="ru-RU" sz="1400" b="0" i="0" dirty="0">
              <a:solidFill>
                <a:srgbClr val="1E293B"/>
              </a:solidFill>
              <a:latin typeface="Calibri"/>
            </a:endParaRPr>
          </a:p>
          <a:p>
            <a:pPr algn="l"/>
            <a:r>
              <a:rPr sz="1400" b="0" i="0" dirty="0">
                <a:solidFill>
                  <a:srgbClr val="1E293B"/>
                </a:solidFill>
                <a:latin typeface="Calibri"/>
              </a:rPr>
              <a:t> (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контракт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12" y="1365183"/>
            <a:ext cx="115942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E293B"/>
                </a:solidFill>
                <a:latin typeface="Calibri"/>
              </a:rPr>
              <a:t>▸ 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PaddleStrategy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TesseractStrategy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–</a:t>
            </a:r>
          </a:p>
          <a:p>
            <a:pPr algn="l"/>
            <a:r>
              <a:rPr lang="ru-RU" sz="1400" dirty="0">
                <a:solidFill>
                  <a:srgbClr val="1E293B"/>
                </a:solidFill>
                <a:latin typeface="Calibri"/>
              </a:rPr>
              <a:t>     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реализации</a:t>
            </a:r>
            <a:endParaRPr sz="140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130" y="2167116"/>
            <a:ext cx="24925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E293B"/>
                </a:solidFill>
                <a:latin typeface="Calibri"/>
              </a:rPr>
              <a:t>▸ 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HybridOCR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◆→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OCRStrategy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</a:t>
            </a:r>
            <a:endParaRPr lang="ru-RU" sz="1400" b="0" i="0" dirty="0">
              <a:solidFill>
                <a:srgbClr val="1E293B"/>
              </a:solidFill>
              <a:latin typeface="Calibri"/>
            </a:endParaRPr>
          </a:p>
          <a:p>
            <a:pPr algn="l"/>
            <a:r>
              <a:rPr lang="ru-RU" sz="1400" dirty="0">
                <a:solidFill>
                  <a:srgbClr val="1E293B"/>
                </a:solidFill>
                <a:latin typeface="Calibri"/>
              </a:rPr>
              <a:t>     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(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композиция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30" y="2753360"/>
            <a:ext cx="24925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1E293B"/>
                </a:solidFill>
                <a:latin typeface="Calibri"/>
              </a:rPr>
              <a:t>▸ 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CheckService</a:t>
            </a:r>
            <a:r>
              <a:rPr sz="1400" b="0" i="0" dirty="0">
                <a:solidFill>
                  <a:srgbClr val="1E293B"/>
                </a:solidFill>
                <a:latin typeface="Calibri"/>
              </a:rPr>
              <a:t> → </a:t>
            </a:r>
            <a:r>
              <a:rPr sz="1400" b="0" i="0" dirty="0" err="1">
                <a:solidFill>
                  <a:srgbClr val="1E293B"/>
                </a:solidFill>
                <a:latin typeface="Calibri"/>
              </a:rPr>
              <a:t>LLMService</a:t>
            </a:r>
            <a:r>
              <a:rPr lang="ru-RU" sz="1400" b="0" i="0" dirty="0">
                <a:solidFill>
                  <a:srgbClr val="1E293B"/>
                </a:solidFill>
                <a:latin typeface="Calibri"/>
              </a:rPr>
              <a:t>,</a:t>
            </a:r>
            <a:r>
              <a:rPr lang="ru-RU" sz="1400" dirty="0">
                <a:solidFill>
                  <a:srgbClr val="1E293B"/>
                </a:solidFill>
                <a:latin typeface="Calibri"/>
              </a:rPr>
              <a:t> </a:t>
            </a:r>
            <a:r>
              <a:rPr lang="en-US" sz="1400" b="0" i="0" dirty="0" err="1">
                <a:solidFill>
                  <a:srgbClr val="1E293B"/>
                </a:solidFill>
                <a:latin typeface="Calibri"/>
              </a:rPr>
              <a:t>FunctionRepo</a:t>
            </a:r>
            <a:endParaRPr lang="en-US" sz="1400" b="0" i="0" dirty="0">
              <a:solidFill>
                <a:srgbClr val="1E293B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38228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789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Структура проекта: монорепозиторий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0E7FF"/>
                </a:solidFill>
                <a:latin typeface="Calibri"/>
              </a:rPr>
              <a:t>Две независимые части в одном git-репозитории, развёртывание через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98448"/>
            <a:ext cx="4754880" cy="530352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F46E5"/>
                </a:solidFill>
                <a:latin typeface="Calibri"/>
              </a:rPr>
              <a:t>russian-handwriting-checker-new/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7335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766E"/>
                </a:solidFill>
                <a:latin typeface="Calibri"/>
              </a:rPr>
              <a:t>├── frontend/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29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766E"/>
                </a:solidFill>
                <a:latin typeface="Calibri"/>
              </a:rPr>
              <a:t>│   ├── src/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18541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├── pages/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441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├── components/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├── context/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9535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├── api.ts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20954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│   └── types.ts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46557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└── package.json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2160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C3AED"/>
                </a:solidFill>
                <a:latin typeface="Calibri"/>
              </a:rPr>
              <a:t>├── python-service/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9776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C3AED"/>
                </a:solidFill>
                <a:latin typeface="Calibri"/>
              </a:rPr>
              <a:t>│   └── src/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3367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api/routes/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48970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services/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74573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repositories/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0017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models/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2578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├── strategies/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51383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│       └── converters/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986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59669"/>
                </a:solidFill>
                <a:latin typeface="Calibri"/>
              </a:rPr>
              <a:t>├── docker-compose.yml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02589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97706"/>
                </a:solidFill>
                <a:latin typeface="Calibri"/>
              </a:rPr>
              <a:t>└── .env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60" y="1298448"/>
            <a:ext cx="324612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394960" y="1298448"/>
            <a:ext cx="3246120" cy="63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394960" y="1298448"/>
            <a:ext cx="54864" cy="126187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541264" y="1371600"/>
            <a:ext cx="3044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frontend/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41264" y="1755648"/>
            <a:ext cx="30449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React + TypeScript + Vite
Только UI, нет бизнес-логики
Статика, собирается в dist/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2688336"/>
            <a:ext cx="324612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394960" y="2688336"/>
            <a:ext cx="324612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394960" y="2688336"/>
            <a:ext cx="54864" cy="12618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541264" y="2761488"/>
            <a:ext cx="3044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  <a:latin typeface="Calibri"/>
              </a:rPr>
              <a:t>python-service/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41264" y="3145536"/>
            <a:ext cx="304495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64748B"/>
                </a:solidFill>
                <a:latin typeface="Calibri"/>
              </a:rPr>
              <a:t>FastAPI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+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SQLAlchemy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lang="en-US" sz="1100" b="0" i="0" dirty="0">
                <a:solidFill>
                  <a:srgbClr val="64748B"/>
                </a:solidFill>
                <a:latin typeface="Calibri"/>
              </a:rPr>
              <a:t>O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CR + LLM +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авторизация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
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Вся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бизнес-логика</a:t>
            </a:r>
            <a:r>
              <a:rPr sz="110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64748B"/>
                </a:solidFill>
                <a:latin typeface="Calibri"/>
              </a:rPr>
              <a:t>здесь</a:t>
            </a:r>
            <a:endParaRPr sz="1100" b="0" i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394960" y="4078224"/>
            <a:ext cx="324612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394960" y="4078224"/>
            <a:ext cx="3246120" cy="635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394960" y="4078224"/>
            <a:ext cx="54864" cy="12618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541264" y="4151376"/>
            <a:ext cx="30449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docker-compose.yml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1264" y="4535424"/>
            <a:ext cx="30449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Запускает оба сервиса
Раздаёт порты и переменные
Простой деплой: docker-compose 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94960" y="5468112"/>
            <a:ext cx="324612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394960" y="5468112"/>
            <a:ext cx="324612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394960" y="5468112"/>
            <a:ext cx="54864" cy="12618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41264" y="5541264"/>
            <a:ext cx="304495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libri"/>
              </a:rPr>
              <a:t>.env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41264" y="5925312"/>
            <a:ext cx="304495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DATABASE_URL, Supabase keys
Ollama URL и модель
Безопасно: не входит в git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23960" y="5788152"/>
            <a:ext cx="3178650" cy="724898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70264" y="5900106"/>
            <a:ext cx="61264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A5B4FC"/>
                </a:solidFill>
                <a:latin typeface="Calibri"/>
              </a:rPr>
              <a:t>docker-compose up --build    #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запуск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обоих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A5B4FC"/>
                </a:solidFill>
                <a:latin typeface="Calibri"/>
              </a:rPr>
              <a:t>сервисов</a:t>
            </a:r>
            <a:r>
              <a:rPr sz="1000" b="0" i="0" dirty="0">
                <a:solidFill>
                  <a:srgbClr val="A5B4FC"/>
                </a:solidFill>
                <a:latin typeface="Calibri"/>
              </a:rPr>
              <a:t>
# frontend → :5173   |   python-service → :8000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791456"/>
            <a:ext cx="12188952" cy="2066544"/>
          </a:xfrm>
          <a:prstGeom prst="rect">
            <a:avLst/>
          </a:prstGeom>
          <a:solidFill>
            <a:srgbClr val="382E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Результаты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9144000" cy="25400"/>
          </a:xfrm>
          <a:prstGeom prst="rect">
            <a:avLst/>
          </a:prstGeom>
          <a:solidFill>
            <a:srgbClr val="C7D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261872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243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Гибридный OCR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55448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PaddleOCR + Tesseract, автовыбор лучшего результата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170432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261872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2435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Документы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55448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MarkItDown: PDF, DOCX, PPTX, TXT с сохранением структуры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11680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103120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59" y="2084832"/>
            <a:ext cx="307655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5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типов</a:t>
            </a:r>
            <a:r>
              <a:rPr lang="ru-RU" sz="13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проверки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51560" y="239572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E0E7FF"/>
                </a:solidFill>
                <a:latin typeface="Calibri"/>
              </a:rPr>
              <a:t>Орфография</a:t>
            </a:r>
            <a:r>
              <a:rPr sz="1100" b="0" i="0" dirty="0">
                <a:solidFill>
                  <a:srgbClr val="E0E7FF"/>
                </a:solidFill>
                <a:latin typeface="Calibri"/>
              </a:rPr>
              <a:t>, ОГЭ 9.3, ЕГЭ, </a:t>
            </a:r>
            <a:r>
              <a:rPr sz="1100" b="0" i="0" dirty="0" err="1">
                <a:solidFill>
                  <a:srgbClr val="E0E7FF"/>
                </a:solidFill>
                <a:latin typeface="Calibri"/>
              </a:rPr>
              <a:t>итоговое</a:t>
            </a:r>
            <a:r>
              <a:rPr sz="1100" b="0" i="0" dirty="0">
                <a:solidFill>
                  <a:srgbClr val="E0E7FF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E0E7FF"/>
                </a:solidFill>
                <a:latin typeface="Calibri"/>
              </a:rPr>
              <a:t>сочинение</a:t>
            </a:r>
            <a:r>
              <a:rPr sz="1100" b="0" i="0" dirty="0">
                <a:solidFill>
                  <a:srgbClr val="E0E7FF"/>
                </a:solidFill>
                <a:latin typeface="Calibri"/>
              </a:rPr>
              <a:t>, </a:t>
            </a:r>
            <a:r>
              <a:rPr sz="1100" b="0" i="0" dirty="0" err="1">
                <a:solidFill>
                  <a:srgbClr val="E0E7FF"/>
                </a:solidFill>
                <a:latin typeface="Calibri"/>
              </a:rPr>
              <a:t>свободная</a:t>
            </a:r>
            <a:endParaRPr sz="1100" b="0" i="0" dirty="0">
              <a:solidFill>
                <a:srgbClr val="E0E7FF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9360" y="2011680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2103120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0848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Стриминг 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395728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Ответ ИИ появляется в реальном времени, не надо ждать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52928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2944368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59" y="2926080"/>
            <a:ext cx="236634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FFFFFF"/>
                </a:solidFill>
                <a:latin typeface="Calibri"/>
              </a:rPr>
              <a:t>JWT-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авторизация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051560" y="3236976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Supabase Auth, изоляция данных по user_id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852928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2944368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👨‍🎓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926080"/>
            <a:ext cx="195752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Calibri"/>
              </a:rPr>
              <a:t>Управление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данными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858000" y="3236976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Ученики, группы, папки, история с фильтрами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694176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3785616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⚙️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3767328"/>
            <a:ext cx="214884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FFFFFF"/>
                </a:solidFill>
                <a:latin typeface="Calibri"/>
              </a:rPr>
              <a:t>Галерея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функций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051560" y="4078224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Публикация, копирование, версионирование промптов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694176"/>
            <a:ext cx="5577840" cy="713232"/>
          </a:xfrm>
          <a:prstGeom prst="rect">
            <a:avLst/>
          </a:prstGeom>
          <a:solidFill>
            <a:srgbClr val="3B38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00800" y="3785616"/>
            <a:ext cx="411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E293B"/>
                </a:solidFill>
                <a:latin typeface="Calibri"/>
              </a:rPr>
              <a:t>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76732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4078224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0E7FF"/>
                </a:solidFill>
                <a:latin typeface="Calibri"/>
              </a:rPr>
              <a:t>Готово к деплою на любом сервере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517844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 err="1">
                <a:solidFill>
                  <a:srgbClr val="C7D2FE"/>
                </a:solidFill>
                <a:latin typeface="Calibri"/>
              </a:rPr>
              <a:t>Спасибо</a:t>
            </a:r>
            <a:r>
              <a:rPr sz="2200" b="1" i="0" dirty="0">
                <a:solidFill>
                  <a:srgbClr val="C7D2FE"/>
                </a:solidFill>
                <a:latin typeface="Calibri"/>
              </a:rPr>
              <a:t> </a:t>
            </a:r>
            <a:r>
              <a:rPr sz="2200" b="1" i="0" dirty="0" err="1">
                <a:solidFill>
                  <a:srgbClr val="C7D2FE"/>
                </a:solidFill>
                <a:latin typeface="Calibri"/>
              </a:rPr>
              <a:t>за</a:t>
            </a:r>
            <a:r>
              <a:rPr sz="2200" b="1" i="0" dirty="0">
                <a:solidFill>
                  <a:srgbClr val="C7D2FE"/>
                </a:solidFill>
                <a:latin typeface="Calibri"/>
              </a:rPr>
              <a:t> </a:t>
            </a:r>
            <a:r>
              <a:rPr sz="2200" b="1" i="0" dirty="0" err="1">
                <a:solidFill>
                  <a:srgbClr val="C7D2FE"/>
                </a:solidFill>
                <a:latin typeface="Calibri"/>
              </a:rPr>
              <a:t>внимание</a:t>
            </a:r>
            <a:r>
              <a:rPr sz="2200" b="1" i="0" dirty="0">
                <a:solidFill>
                  <a:srgbClr val="C7D2FE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1230</TotalTime>
  <Words>3145</Words>
  <Application>Microsoft Office PowerPoint</Application>
  <PresentationFormat>Произвольный</PresentationFormat>
  <Paragraphs>485</Paragraphs>
  <Slides>22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6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Office</cp:lastModifiedBy>
  <cp:revision>12</cp:revision>
  <dcterms:created xsi:type="dcterms:W3CDTF">2013-01-27T09:14:16Z</dcterms:created>
  <dcterms:modified xsi:type="dcterms:W3CDTF">2026-05-14T15:56:54Z</dcterms:modified>
  <cp:category/>
</cp:coreProperties>
</file>