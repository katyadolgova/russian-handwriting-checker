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7" r:id="rId17"/>
    <p:sldId id="271" r:id="rId18"/>
    <p:sldId id="272" r:id="rId19"/>
    <p:sldId id="273" r:id="rId20"/>
    <p:sldId id="276" r:id="rId21"/>
    <p:sldId id="274" r:id="rId22"/>
    <p:sldId id="275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801F"/>
    <a:srgbClr val="F79B4F"/>
    <a:srgbClr val="F2E8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2" d="100"/>
          <a:sy n="92" d="100"/>
        </p:scale>
        <p:origin x="68" y="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13870C-EB3B-4BEF-A41D-BA5B6A204416}" type="datetimeFigureOut">
              <a:rPr lang="ru-RU" smtClean="0"/>
              <a:t>13.05.2026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05D05-FEBD-4ADB-A485-F121C0A06D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712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05D05-FEBD-4ADB-A485-F121C0A06D5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819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05D05-FEBD-4ADB-A485-F121C0A06D5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299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05D05-FEBD-4ADB-A485-F121C0A06D52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627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46320"/>
            <a:ext cx="12188952" cy="201168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РусЯзык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0E7FF"/>
                </a:solidFill>
                <a:latin typeface="Calibri"/>
              </a:rPr>
              <a:t>Веб-приложение для автоматической проверки письменных работ учеников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214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0E7FF"/>
                </a:solidFill>
                <a:latin typeface="Calibri"/>
              </a:rPr>
              <a:t>с использованием OCR и искусственного интеллекта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9144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7315200" cy="1483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500" b="0" dirty="0" err="1">
                <a:solidFill>
                  <a:srgbClr val="C7D2FE"/>
                </a:solidFill>
                <a:latin typeface="Calibri"/>
              </a:rPr>
              <a:t>Дипломный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проект</a:t>
            </a:r>
            <a:endParaRPr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500" b="0" dirty="0" err="1">
                <a:solidFill>
                  <a:srgbClr val="C7D2FE"/>
                </a:solidFill>
                <a:latin typeface="Calibri"/>
              </a:rPr>
              <a:t>Специальность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Разработка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программного</a:t>
            </a:r>
            <a:r>
              <a:rPr sz="1500" b="0" dirty="0">
                <a:solidFill>
                  <a:srgbClr val="C7D2FE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обеспечения</a:t>
            </a:r>
            <a:endParaRPr lang="ru-RU"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lang="ru-RU" sz="1500" dirty="0">
                <a:solidFill>
                  <a:srgbClr val="C7D2FE"/>
                </a:solidFill>
                <a:latin typeface="Calibri"/>
              </a:rPr>
              <a:t>Группа П211</a:t>
            </a:r>
          </a:p>
          <a:p>
            <a:pPr algn="l">
              <a:lnSpc>
                <a:spcPts val="2200"/>
              </a:lnSpc>
            </a:pPr>
            <a:r>
              <a:rPr lang="ru-RU" sz="1500" b="0" dirty="0">
                <a:solidFill>
                  <a:srgbClr val="C7D2FE"/>
                </a:solidFill>
                <a:latin typeface="Calibri"/>
              </a:rPr>
              <a:t>Долгова Екатерина Александровна</a:t>
            </a:r>
            <a:endParaRPr sz="1500" b="0" dirty="0">
              <a:solidFill>
                <a:srgbClr val="C7D2FE"/>
              </a:solidFill>
              <a:latin typeface="Calibri"/>
            </a:endParaRPr>
          </a:p>
          <a:p>
            <a:pPr algn="l">
              <a:lnSpc>
                <a:spcPts val="2200"/>
              </a:lnSpc>
            </a:pPr>
            <a:r>
              <a:rPr sz="1500" b="0" dirty="0">
                <a:solidFill>
                  <a:srgbClr val="C7D2FE"/>
                </a:solidFill>
                <a:latin typeface="Calibri"/>
              </a:rPr>
              <a:t>2026 </a:t>
            </a:r>
            <a:r>
              <a:rPr sz="1500" b="0" dirty="0" err="1">
                <a:solidFill>
                  <a:srgbClr val="C7D2FE"/>
                </a:solidFill>
                <a:latin typeface="Calibri"/>
              </a:rPr>
              <a:t>год</a:t>
            </a:r>
            <a:endParaRPr sz="1500" b="0" dirty="0">
              <a:solidFill>
                <a:srgbClr val="C7D2F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5029200"/>
            <a:ext cx="2560320" cy="14630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5148072"/>
            <a:ext cx="502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1E293B"/>
                </a:solidFill>
              </a:rPr>
              <a:t>✎</a:t>
            </a:r>
            <a:endParaRPr sz="28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43000" y="514807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OCR
рукописей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5029200"/>
            <a:ext cx="2560320" cy="14630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5120640"/>
            <a:ext cx="502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1E293B"/>
                </a:solidFill>
              </a:rPr>
              <a:t>👾</a:t>
            </a:r>
            <a:endParaRPr sz="28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77640" y="514807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ИИ
проверка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5029200"/>
            <a:ext cx="2560320" cy="14630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93B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514807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ОГЭ / ЕГЭ
критерии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5029200"/>
            <a:ext cx="2560320" cy="146304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5120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93B"/>
                </a:solidFill>
                <a:latin typeface="Calibri"/>
              </a:rPr>
              <a:t>👨‍🏫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5148072"/>
            <a:ext cx="1737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Управление
учениками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Постановка проблемы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1078992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 err="1">
                <a:solidFill>
                  <a:srgbClr val="4F46E5"/>
                </a:solidFill>
                <a:latin typeface="Calibri"/>
              </a:rPr>
              <a:t>Учитель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русского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языка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тратит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10–15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минут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на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проверку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одной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работы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.
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При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классе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из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30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учеников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lang="en-US" sz="1700" b="1" i="0" dirty="0">
                <a:solidFill>
                  <a:srgbClr val="4F46E5"/>
                </a:solidFill>
                <a:latin typeface="Calibri"/>
              </a:rPr>
              <a:t>-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это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5–7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часов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только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на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одну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волну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700" b="1" i="0" dirty="0" err="1">
                <a:solidFill>
                  <a:srgbClr val="4F46E5"/>
                </a:solidFill>
                <a:latin typeface="Calibri"/>
              </a:rPr>
              <a:t>работ</a:t>
            </a:r>
            <a:r>
              <a:rPr sz="1700" b="1" i="0" dirty="0">
                <a:solidFill>
                  <a:srgbClr val="4F46E5"/>
                </a:solidFill>
                <a:latin typeface="Calibri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265176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  <a:latin typeface="Calibri"/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F46E5"/>
                </a:solidFill>
                <a:latin typeface="Calibri"/>
              </a:rPr>
              <a:t>Прочитать
рукописный
почерк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2240280"/>
            <a:ext cx="265176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  <a:latin typeface="Calibri"/>
              </a:rPr>
              <a:t>✏️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971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C3AED"/>
                </a:solidFill>
                <a:latin typeface="Calibri"/>
              </a:rPr>
              <a:t>Найти каждую
ошибку и
объяснить её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2240280"/>
            <a:ext cx="265176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766E"/>
                </a:solidFill>
                <a:latin typeface="Calibri"/>
              </a:rPr>
              <a:t>Оценить по
критериям
ОГЭ / ЕГЭ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240280"/>
            <a:ext cx="26517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2240280"/>
            <a:ext cx="265176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23774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E293B"/>
                </a:solidFill>
                <a:latin typeface="Calibri"/>
              </a:rPr>
              <a:t>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971800"/>
            <a:ext cx="24688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1" i="0" dirty="0">
                <a:solidFill>
                  <a:srgbClr val="D97706"/>
                </a:solidFill>
                <a:latin typeface="Calibri"/>
              </a:rPr>
              <a:t>Внешние и человеческие факторы могут замедлять работу</a:t>
            </a:r>
            <a:endParaRPr sz="1400" b="1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5321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Цель проекта: автоматизировать рутинную часть проверки, чтобы учитель мог
сосредоточиться на живом взаимодействии с учеником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Цель и задачи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69492"/>
            <a:ext cx="11247120" cy="74980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69492"/>
            <a:ext cx="76200" cy="7498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6093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4F46E5"/>
                </a:solidFill>
                <a:latin typeface="Calibri"/>
              </a:rPr>
              <a:t>ЦЕЛЬ: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разработать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веб-приложение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для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автоматической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проверки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рукописных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и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печатных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работ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учеников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по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русскому</a:t>
            </a:r>
            <a:r>
              <a:rPr sz="16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600" b="1" i="0" dirty="0" err="1">
                <a:solidFill>
                  <a:srgbClr val="4F46E5"/>
                </a:solidFill>
                <a:latin typeface="Calibri"/>
              </a:rPr>
              <a:t>языку</a:t>
            </a:r>
            <a:endParaRPr sz="16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192" y="2615184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3192" y="2615184"/>
            <a:ext cx="356616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93192" y="2615184"/>
            <a:ext cx="54864" cy="138988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270662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Распознавание текста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163824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Рукописные фото → HybridOCR
PDF/DOCX/PPTX → MarkItDown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615184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60520" y="2615184"/>
            <a:ext cx="356616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2615184"/>
            <a:ext cx="54864" cy="13898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270662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Calibri"/>
              </a:rPr>
              <a:t>Проверка по критериям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63824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ОГЭ, ЕГЭ, итоговое сочинение,
орфография, свободная проверка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27848" y="2615184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27848" y="2615184"/>
            <a:ext cx="356616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27848" y="2615184"/>
            <a:ext cx="54864" cy="13898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65008" y="270662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</a:rPr>
              <a:t>Стриминг в реальном времени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163824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Ответ ИИ появляется
по мере генерации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" y="4169664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93192" y="4169664"/>
            <a:ext cx="356616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93192" y="4169664"/>
            <a:ext cx="54864" cy="13898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426110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Calibri"/>
              </a:rPr>
              <a:t>История и статистика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718304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Хранение всех проверок,
поиск и фильтрация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4169664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60520" y="4169664"/>
            <a:ext cx="356616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4169664"/>
            <a:ext cx="54864" cy="13898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97680" y="426110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Calibri"/>
              </a:rPr>
              <a:t>Управление учениками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718304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База учеников, группы (классы),
привязка работ к ученику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7848" y="4169664"/>
            <a:ext cx="3566160" cy="13898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27848" y="4169664"/>
            <a:ext cx="356616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27848" y="4169664"/>
            <a:ext cx="54864" cy="138988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65008" y="4261104"/>
            <a:ext cx="3364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Calibri"/>
              </a:rPr>
              <a:t>Галерея функций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4718304"/>
            <a:ext cx="33649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Создать, опубликовать,
скопировать, версионировать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Анализ конкурентов</a:t>
            </a:r>
          </a:p>
        </p:txBody>
      </p:sp>
      <p:sp>
        <p:nvSpPr>
          <p:cNvPr id="75" name="Rectangle 3">
            <a:extLst>
              <a:ext uri="{FF2B5EF4-FFF2-40B4-BE49-F238E27FC236}">
                <a16:creationId xmlns:a16="http://schemas.microsoft.com/office/drawing/2014/main" id="{3F5F0857-2DBF-2E65-D40E-B7291D101ADC}"/>
              </a:ext>
            </a:extLst>
          </p:cNvPr>
          <p:cNvSpPr/>
          <p:nvPr/>
        </p:nvSpPr>
        <p:spPr>
          <a:xfrm>
            <a:off x="682172" y="1421999"/>
            <a:ext cx="251460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0850586-7BE3-2CF6-30A4-A9D170499A0D}"/>
              </a:ext>
            </a:extLst>
          </p:cNvPr>
          <p:cNvSpPr txBox="1"/>
          <p:nvPr/>
        </p:nvSpPr>
        <p:spPr>
          <a:xfrm>
            <a:off x="755324" y="1458575"/>
            <a:ext cx="2423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Решение</a:t>
            </a:r>
          </a:p>
        </p:txBody>
      </p:sp>
      <p:sp>
        <p:nvSpPr>
          <p:cNvPr id="77" name="Rectangle 5">
            <a:extLst>
              <a:ext uri="{FF2B5EF4-FFF2-40B4-BE49-F238E27FC236}">
                <a16:creationId xmlns:a16="http://schemas.microsoft.com/office/drawing/2014/main" id="{486999DB-C9EC-3DCE-1D1D-8BE7F681D5FE}"/>
              </a:ext>
            </a:extLst>
          </p:cNvPr>
          <p:cNvSpPr/>
          <p:nvPr/>
        </p:nvSpPr>
        <p:spPr>
          <a:xfrm>
            <a:off x="3288212" y="1421999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D03C53-AAE6-17EE-831A-B0AA7A7788F6}"/>
              </a:ext>
            </a:extLst>
          </p:cNvPr>
          <p:cNvSpPr txBox="1"/>
          <p:nvPr/>
        </p:nvSpPr>
        <p:spPr>
          <a:xfrm>
            <a:off x="3361364" y="1458575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Распознавание
рукописей</a:t>
            </a:r>
          </a:p>
        </p:txBody>
      </p:sp>
      <p:sp>
        <p:nvSpPr>
          <p:cNvPr id="79" name="Rectangle 7">
            <a:extLst>
              <a:ext uri="{FF2B5EF4-FFF2-40B4-BE49-F238E27FC236}">
                <a16:creationId xmlns:a16="http://schemas.microsoft.com/office/drawing/2014/main" id="{63DBAF3F-CB5A-58A7-0CEE-6C7C48B4DD9D}"/>
              </a:ext>
            </a:extLst>
          </p:cNvPr>
          <p:cNvSpPr/>
          <p:nvPr/>
        </p:nvSpPr>
        <p:spPr>
          <a:xfrm>
            <a:off x="5254172" y="1421999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A311BA7-FC7E-93FE-1A72-A2016A574305}"/>
              </a:ext>
            </a:extLst>
          </p:cNvPr>
          <p:cNvSpPr txBox="1"/>
          <p:nvPr/>
        </p:nvSpPr>
        <p:spPr>
          <a:xfrm>
            <a:off x="5327324" y="1458575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Критерии
ОГЭ/ЕГЭ</a:t>
            </a:r>
          </a:p>
        </p:txBody>
      </p:sp>
      <p:sp>
        <p:nvSpPr>
          <p:cNvPr id="81" name="Rectangle 9">
            <a:extLst>
              <a:ext uri="{FF2B5EF4-FFF2-40B4-BE49-F238E27FC236}">
                <a16:creationId xmlns:a16="http://schemas.microsoft.com/office/drawing/2014/main" id="{4AC7408F-AC6F-9EDF-BF3F-D566BA93A6F4}"/>
              </a:ext>
            </a:extLst>
          </p:cNvPr>
          <p:cNvSpPr/>
          <p:nvPr/>
        </p:nvSpPr>
        <p:spPr>
          <a:xfrm>
            <a:off x="7220132" y="1421999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3BC5CA-0E89-B5DF-7700-76588E1B559B}"/>
              </a:ext>
            </a:extLst>
          </p:cNvPr>
          <p:cNvSpPr txBox="1"/>
          <p:nvPr/>
        </p:nvSpPr>
        <p:spPr>
          <a:xfrm>
            <a:off x="7293284" y="1458575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История
и ученики</a:t>
            </a:r>
          </a:p>
        </p:txBody>
      </p:sp>
      <p:sp>
        <p:nvSpPr>
          <p:cNvPr id="83" name="Rectangle 11">
            <a:extLst>
              <a:ext uri="{FF2B5EF4-FFF2-40B4-BE49-F238E27FC236}">
                <a16:creationId xmlns:a16="http://schemas.microsoft.com/office/drawing/2014/main" id="{51E041EF-C653-0DB0-4128-F019C819424C}"/>
              </a:ext>
            </a:extLst>
          </p:cNvPr>
          <p:cNvSpPr/>
          <p:nvPr/>
        </p:nvSpPr>
        <p:spPr>
          <a:xfrm>
            <a:off x="9186092" y="1421999"/>
            <a:ext cx="187452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85BB1EA-8503-EC67-EED4-E234B9478F8D}"/>
              </a:ext>
            </a:extLst>
          </p:cNvPr>
          <p:cNvSpPr txBox="1"/>
          <p:nvPr/>
        </p:nvSpPr>
        <p:spPr>
          <a:xfrm>
            <a:off x="9259244" y="1458575"/>
            <a:ext cx="1783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Свои
функции</a:t>
            </a:r>
          </a:p>
        </p:txBody>
      </p:sp>
      <p:sp>
        <p:nvSpPr>
          <p:cNvPr id="85" name="Rectangle 13">
            <a:extLst>
              <a:ext uri="{FF2B5EF4-FFF2-40B4-BE49-F238E27FC236}">
                <a16:creationId xmlns:a16="http://schemas.microsoft.com/office/drawing/2014/main" id="{ABC5D2D7-CB16-E215-023D-F887F9C418CF}"/>
              </a:ext>
            </a:extLst>
          </p:cNvPr>
          <p:cNvSpPr/>
          <p:nvPr/>
        </p:nvSpPr>
        <p:spPr>
          <a:xfrm>
            <a:off x="682172" y="2107799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DC6D7B9-573F-E055-E22B-32B85CC4B1AA}"/>
              </a:ext>
            </a:extLst>
          </p:cNvPr>
          <p:cNvSpPr txBox="1"/>
          <p:nvPr/>
        </p:nvSpPr>
        <p:spPr>
          <a:xfrm>
            <a:off x="773612" y="2244959"/>
            <a:ext cx="2423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1B4B"/>
                </a:solidFill>
                <a:latin typeface="Calibri"/>
              </a:rPr>
              <a:t>Яндекс.Спеллер</a:t>
            </a:r>
          </a:p>
        </p:txBody>
      </p:sp>
      <p:sp>
        <p:nvSpPr>
          <p:cNvPr id="87" name="Rectangle 15">
            <a:extLst>
              <a:ext uri="{FF2B5EF4-FFF2-40B4-BE49-F238E27FC236}">
                <a16:creationId xmlns:a16="http://schemas.microsoft.com/office/drawing/2014/main" id="{E23C34D6-2464-7CDB-AAFE-BA566D1DC8F1}"/>
              </a:ext>
            </a:extLst>
          </p:cNvPr>
          <p:cNvSpPr/>
          <p:nvPr/>
        </p:nvSpPr>
        <p:spPr>
          <a:xfrm>
            <a:off x="3288212" y="2107799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973FBB8-C835-11D1-31D4-EE5DB269C11A}"/>
              </a:ext>
            </a:extLst>
          </p:cNvPr>
          <p:cNvSpPr txBox="1"/>
          <p:nvPr/>
        </p:nvSpPr>
        <p:spPr>
          <a:xfrm>
            <a:off x="3379652" y="224495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89" name="Rectangle 17">
            <a:extLst>
              <a:ext uri="{FF2B5EF4-FFF2-40B4-BE49-F238E27FC236}">
                <a16:creationId xmlns:a16="http://schemas.microsoft.com/office/drawing/2014/main" id="{BD7F0FF3-7CC1-231B-78A9-2779B069FA31}"/>
              </a:ext>
            </a:extLst>
          </p:cNvPr>
          <p:cNvSpPr/>
          <p:nvPr/>
        </p:nvSpPr>
        <p:spPr>
          <a:xfrm>
            <a:off x="5254172" y="2107799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EA891B-5404-86E1-082F-2167594CCF06}"/>
              </a:ext>
            </a:extLst>
          </p:cNvPr>
          <p:cNvSpPr txBox="1"/>
          <p:nvPr/>
        </p:nvSpPr>
        <p:spPr>
          <a:xfrm>
            <a:off x="5345612" y="224495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91" name="Rectangle 19">
            <a:extLst>
              <a:ext uri="{FF2B5EF4-FFF2-40B4-BE49-F238E27FC236}">
                <a16:creationId xmlns:a16="http://schemas.microsoft.com/office/drawing/2014/main" id="{2E1311BA-E20F-7F49-1767-393668A181EB}"/>
              </a:ext>
            </a:extLst>
          </p:cNvPr>
          <p:cNvSpPr/>
          <p:nvPr/>
        </p:nvSpPr>
        <p:spPr>
          <a:xfrm>
            <a:off x="7220132" y="2107799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C5765B-9F8E-2C29-40DD-ED383A9BE2FE}"/>
              </a:ext>
            </a:extLst>
          </p:cNvPr>
          <p:cNvSpPr txBox="1"/>
          <p:nvPr/>
        </p:nvSpPr>
        <p:spPr>
          <a:xfrm>
            <a:off x="7311572" y="224495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93" name="Rectangle 21">
            <a:extLst>
              <a:ext uri="{FF2B5EF4-FFF2-40B4-BE49-F238E27FC236}">
                <a16:creationId xmlns:a16="http://schemas.microsoft.com/office/drawing/2014/main" id="{D27E89C4-2EEB-681A-9A34-E6127059C10F}"/>
              </a:ext>
            </a:extLst>
          </p:cNvPr>
          <p:cNvSpPr/>
          <p:nvPr/>
        </p:nvSpPr>
        <p:spPr>
          <a:xfrm>
            <a:off x="9186092" y="2107799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B2B0A9-3A65-13B9-6CE8-5DD2E55777C8}"/>
              </a:ext>
            </a:extLst>
          </p:cNvPr>
          <p:cNvSpPr txBox="1"/>
          <p:nvPr/>
        </p:nvSpPr>
        <p:spPr>
          <a:xfrm>
            <a:off x="9277532" y="224495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95" name="Rectangle 23">
            <a:extLst>
              <a:ext uri="{FF2B5EF4-FFF2-40B4-BE49-F238E27FC236}">
                <a16:creationId xmlns:a16="http://schemas.microsoft.com/office/drawing/2014/main" id="{02824801-489F-8E8D-548F-23C7DEB238F9}"/>
              </a:ext>
            </a:extLst>
          </p:cNvPr>
          <p:cNvSpPr/>
          <p:nvPr/>
        </p:nvSpPr>
        <p:spPr>
          <a:xfrm>
            <a:off x="682172" y="2885039"/>
            <a:ext cx="251460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45A167E-6456-026F-E100-D1C58A83832F}"/>
              </a:ext>
            </a:extLst>
          </p:cNvPr>
          <p:cNvSpPr txBox="1"/>
          <p:nvPr/>
        </p:nvSpPr>
        <p:spPr>
          <a:xfrm>
            <a:off x="773612" y="3022199"/>
            <a:ext cx="2423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E1B4B"/>
                </a:solidFill>
                <a:latin typeface="Calibri"/>
              </a:rPr>
              <a:t>Грамота.ру</a:t>
            </a:r>
          </a:p>
        </p:txBody>
      </p:sp>
      <p:sp>
        <p:nvSpPr>
          <p:cNvPr id="97" name="Rectangle 25">
            <a:extLst>
              <a:ext uri="{FF2B5EF4-FFF2-40B4-BE49-F238E27FC236}">
                <a16:creationId xmlns:a16="http://schemas.microsoft.com/office/drawing/2014/main" id="{048E0EC0-C024-434D-627A-17A7BF64B7BC}"/>
              </a:ext>
            </a:extLst>
          </p:cNvPr>
          <p:cNvSpPr/>
          <p:nvPr/>
        </p:nvSpPr>
        <p:spPr>
          <a:xfrm>
            <a:off x="3288212" y="2885039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92644CD-588F-33C9-B72D-2BD7110DEB86}"/>
              </a:ext>
            </a:extLst>
          </p:cNvPr>
          <p:cNvSpPr txBox="1"/>
          <p:nvPr/>
        </p:nvSpPr>
        <p:spPr>
          <a:xfrm>
            <a:off x="3379652" y="302219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99" name="Rectangle 27">
            <a:extLst>
              <a:ext uri="{FF2B5EF4-FFF2-40B4-BE49-F238E27FC236}">
                <a16:creationId xmlns:a16="http://schemas.microsoft.com/office/drawing/2014/main" id="{505151C8-11E8-239C-B6BC-FEAB4C2DF98B}"/>
              </a:ext>
            </a:extLst>
          </p:cNvPr>
          <p:cNvSpPr/>
          <p:nvPr/>
        </p:nvSpPr>
        <p:spPr>
          <a:xfrm>
            <a:off x="5254172" y="2885039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6343FD7-78D3-9508-C5CE-4FFFF7E1CA61}"/>
              </a:ext>
            </a:extLst>
          </p:cNvPr>
          <p:cNvSpPr txBox="1"/>
          <p:nvPr/>
        </p:nvSpPr>
        <p:spPr>
          <a:xfrm>
            <a:off x="5345612" y="302219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01" name="Rectangle 29">
            <a:extLst>
              <a:ext uri="{FF2B5EF4-FFF2-40B4-BE49-F238E27FC236}">
                <a16:creationId xmlns:a16="http://schemas.microsoft.com/office/drawing/2014/main" id="{0210338B-A54A-8E77-749E-C74924810D04}"/>
              </a:ext>
            </a:extLst>
          </p:cNvPr>
          <p:cNvSpPr/>
          <p:nvPr/>
        </p:nvSpPr>
        <p:spPr>
          <a:xfrm>
            <a:off x="7220132" y="2885039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DEA4F14-EB6F-66B1-D089-27C31D1D9A3D}"/>
              </a:ext>
            </a:extLst>
          </p:cNvPr>
          <p:cNvSpPr txBox="1"/>
          <p:nvPr/>
        </p:nvSpPr>
        <p:spPr>
          <a:xfrm>
            <a:off x="7311572" y="302219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03" name="Rectangle 31">
            <a:extLst>
              <a:ext uri="{FF2B5EF4-FFF2-40B4-BE49-F238E27FC236}">
                <a16:creationId xmlns:a16="http://schemas.microsoft.com/office/drawing/2014/main" id="{7FDFFF92-26C7-C1C6-BBF5-B260BB30A989}"/>
              </a:ext>
            </a:extLst>
          </p:cNvPr>
          <p:cNvSpPr/>
          <p:nvPr/>
        </p:nvSpPr>
        <p:spPr>
          <a:xfrm>
            <a:off x="9186092" y="2885039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D4750EDC-A43F-ADF7-4F3A-317F8890E247}"/>
              </a:ext>
            </a:extLst>
          </p:cNvPr>
          <p:cNvSpPr txBox="1"/>
          <p:nvPr/>
        </p:nvSpPr>
        <p:spPr>
          <a:xfrm>
            <a:off x="9277532" y="302219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05" name="Rectangle 33">
            <a:extLst>
              <a:ext uri="{FF2B5EF4-FFF2-40B4-BE49-F238E27FC236}">
                <a16:creationId xmlns:a16="http://schemas.microsoft.com/office/drawing/2014/main" id="{95D8F8C2-20AA-0B18-143C-25C4B699E6FD}"/>
              </a:ext>
            </a:extLst>
          </p:cNvPr>
          <p:cNvSpPr/>
          <p:nvPr/>
        </p:nvSpPr>
        <p:spPr>
          <a:xfrm>
            <a:off x="682172" y="3662279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F4AF1E4-3A6B-1D67-4D31-A2A5E65C511D}"/>
              </a:ext>
            </a:extLst>
          </p:cNvPr>
          <p:cNvSpPr txBox="1"/>
          <p:nvPr/>
        </p:nvSpPr>
        <p:spPr>
          <a:xfrm>
            <a:off x="773612" y="3799439"/>
            <a:ext cx="2423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1E1B4B"/>
                </a:solidFill>
                <a:latin typeface="Calibri"/>
              </a:rPr>
              <a:t>Repet.ai</a:t>
            </a:r>
            <a:endParaRPr sz="15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107" name="Rectangle 35">
            <a:extLst>
              <a:ext uri="{FF2B5EF4-FFF2-40B4-BE49-F238E27FC236}">
                <a16:creationId xmlns:a16="http://schemas.microsoft.com/office/drawing/2014/main" id="{A994BEDD-1CB3-A4CC-ACF2-6558BB585C78}"/>
              </a:ext>
            </a:extLst>
          </p:cNvPr>
          <p:cNvSpPr/>
          <p:nvPr/>
        </p:nvSpPr>
        <p:spPr>
          <a:xfrm>
            <a:off x="3288212" y="3662279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37">
            <a:extLst>
              <a:ext uri="{FF2B5EF4-FFF2-40B4-BE49-F238E27FC236}">
                <a16:creationId xmlns:a16="http://schemas.microsoft.com/office/drawing/2014/main" id="{DE5202B9-14E1-4FBB-4DAF-C2DD39ABD86D}"/>
              </a:ext>
            </a:extLst>
          </p:cNvPr>
          <p:cNvSpPr/>
          <p:nvPr/>
        </p:nvSpPr>
        <p:spPr>
          <a:xfrm>
            <a:off x="5254172" y="3662279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39">
            <a:extLst>
              <a:ext uri="{FF2B5EF4-FFF2-40B4-BE49-F238E27FC236}">
                <a16:creationId xmlns:a16="http://schemas.microsoft.com/office/drawing/2014/main" id="{24B383D9-3917-BA9A-18AB-5424388BA750}"/>
              </a:ext>
            </a:extLst>
          </p:cNvPr>
          <p:cNvSpPr/>
          <p:nvPr/>
        </p:nvSpPr>
        <p:spPr>
          <a:xfrm>
            <a:off x="7220132" y="3662279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9B0BFBC-47DF-5D9E-0DA9-465DBDCC319E}"/>
              </a:ext>
            </a:extLst>
          </p:cNvPr>
          <p:cNvSpPr txBox="1"/>
          <p:nvPr/>
        </p:nvSpPr>
        <p:spPr>
          <a:xfrm>
            <a:off x="7311572" y="379943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11" name="Rectangle 41">
            <a:extLst>
              <a:ext uri="{FF2B5EF4-FFF2-40B4-BE49-F238E27FC236}">
                <a16:creationId xmlns:a16="http://schemas.microsoft.com/office/drawing/2014/main" id="{FE4FB0C8-25D0-7B7D-0FC4-9E2157488B30}"/>
              </a:ext>
            </a:extLst>
          </p:cNvPr>
          <p:cNvSpPr/>
          <p:nvPr/>
        </p:nvSpPr>
        <p:spPr>
          <a:xfrm>
            <a:off x="9186092" y="3662279"/>
            <a:ext cx="1874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921F01-E930-A9CD-D194-9252697F4113}"/>
              </a:ext>
            </a:extLst>
          </p:cNvPr>
          <p:cNvSpPr txBox="1"/>
          <p:nvPr/>
        </p:nvSpPr>
        <p:spPr>
          <a:xfrm>
            <a:off x="9277532" y="379943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13" name="Rectangle 43">
            <a:extLst>
              <a:ext uri="{FF2B5EF4-FFF2-40B4-BE49-F238E27FC236}">
                <a16:creationId xmlns:a16="http://schemas.microsoft.com/office/drawing/2014/main" id="{16C077C9-7DD5-CCCA-C88F-FC4AE2CB612F}"/>
              </a:ext>
            </a:extLst>
          </p:cNvPr>
          <p:cNvSpPr/>
          <p:nvPr/>
        </p:nvSpPr>
        <p:spPr>
          <a:xfrm>
            <a:off x="682172" y="4439519"/>
            <a:ext cx="251460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9384794-3054-566E-863E-25ED1BC0A8B3}"/>
              </a:ext>
            </a:extLst>
          </p:cNvPr>
          <p:cNvSpPr txBox="1"/>
          <p:nvPr/>
        </p:nvSpPr>
        <p:spPr>
          <a:xfrm>
            <a:off x="773612" y="4576679"/>
            <a:ext cx="2423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1E1B4B"/>
                </a:solidFill>
                <a:latin typeface="Calibri"/>
              </a:rPr>
              <a:t>ChatGPT</a:t>
            </a:r>
            <a:endParaRPr lang="ru-RU" sz="15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115" name="Rectangle 45">
            <a:extLst>
              <a:ext uri="{FF2B5EF4-FFF2-40B4-BE49-F238E27FC236}">
                <a16:creationId xmlns:a16="http://schemas.microsoft.com/office/drawing/2014/main" id="{CD39189D-5613-33C5-BBE0-C0F82D2243AD}"/>
              </a:ext>
            </a:extLst>
          </p:cNvPr>
          <p:cNvSpPr/>
          <p:nvPr/>
        </p:nvSpPr>
        <p:spPr>
          <a:xfrm>
            <a:off x="3288212" y="4439519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47">
            <a:extLst>
              <a:ext uri="{FF2B5EF4-FFF2-40B4-BE49-F238E27FC236}">
                <a16:creationId xmlns:a16="http://schemas.microsoft.com/office/drawing/2014/main" id="{11BF58B7-2D7E-7A13-AA8A-ACEC7561060E}"/>
              </a:ext>
            </a:extLst>
          </p:cNvPr>
          <p:cNvSpPr/>
          <p:nvPr/>
        </p:nvSpPr>
        <p:spPr>
          <a:xfrm>
            <a:off x="5254172" y="4439519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67F0402F-E3B8-AB71-EE66-54CEC07B07B8}"/>
              </a:ext>
            </a:extLst>
          </p:cNvPr>
          <p:cNvSpPr txBox="1"/>
          <p:nvPr/>
        </p:nvSpPr>
        <p:spPr>
          <a:xfrm>
            <a:off x="5345612" y="457667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118" name="Rectangle 49">
            <a:extLst>
              <a:ext uri="{FF2B5EF4-FFF2-40B4-BE49-F238E27FC236}">
                <a16:creationId xmlns:a16="http://schemas.microsoft.com/office/drawing/2014/main" id="{B761C886-164D-C4CC-8D8A-012E5A06DE07}"/>
              </a:ext>
            </a:extLst>
          </p:cNvPr>
          <p:cNvSpPr/>
          <p:nvPr/>
        </p:nvSpPr>
        <p:spPr>
          <a:xfrm>
            <a:off x="7220132" y="4439519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51">
            <a:extLst>
              <a:ext uri="{FF2B5EF4-FFF2-40B4-BE49-F238E27FC236}">
                <a16:creationId xmlns:a16="http://schemas.microsoft.com/office/drawing/2014/main" id="{3198E8C6-CFEE-1502-F70E-BE26996222C5}"/>
              </a:ext>
            </a:extLst>
          </p:cNvPr>
          <p:cNvSpPr/>
          <p:nvPr/>
        </p:nvSpPr>
        <p:spPr>
          <a:xfrm>
            <a:off x="9186092" y="4439519"/>
            <a:ext cx="1874520" cy="713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53">
            <a:extLst>
              <a:ext uri="{FF2B5EF4-FFF2-40B4-BE49-F238E27FC236}">
                <a16:creationId xmlns:a16="http://schemas.microsoft.com/office/drawing/2014/main" id="{2933536D-E313-7D0D-CB5F-F5D3B1FA92DA}"/>
              </a:ext>
            </a:extLst>
          </p:cNvPr>
          <p:cNvSpPr/>
          <p:nvPr/>
        </p:nvSpPr>
        <p:spPr>
          <a:xfrm>
            <a:off x="682172" y="5216759"/>
            <a:ext cx="251460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4CF8DD2-D1DB-E54C-A07F-1F1BF9AEC8CA}"/>
              </a:ext>
            </a:extLst>
          </p:cNvPr>
          <p:cNvSpPr txBox="1"/>
          <p:nvPr/>
        </p:nvSpPr>
        <p:spPr>
          <a:xfrm>
            <a:off x="773612" y="5353919"/>
            <a:ext cx="24231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46E5"/>
                </a:solidFill>
                <a:latin typeface="Calibri"/>
              </a:rPr>
              <a:t>РусЯзык AI ★</a:t>
            </a:r>
          </a:p>
        </p:txBody>
      </p:sp>
      <p:sp>
        <p:nvSpPr>
          <p:cNvPr id="123" name="Rectangle 55">
            <a:extLst>
              <a:ext uri="{FF2B5EF4-FFF2-40B4-BE49-F238E27FC236}">
                <a16:creationId xmlns:a16="http://schemas.microsoft.com/office/drawing/2014/main" id="{3973CC8A-055F-DB2D-9311-1956FEF6CF98}"/>
              </a:ext>
            </a:extLst>
          </p:cNvPr>
          <p:cNvSpPr/>
          <p:nvPr/>
        </p:nvSpPr>
        <p:spPr>
          <a:xfrm>
            <a:off x="3288212" y="5216759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E053D9C-ED81-DD95-72E6-88C8FE1B26E3}"/>
              </a:ext>
            </a:extLst>
          </p:cNvPr>
          <p:cNvSpPr txBox="1"/>
          <p:nvPr/>
        </p:nvSpPr>
        <p:spPr>
          <a:xfrm>
            <a:off x="3379652" y="535391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25" name="Rectangle 57">
            <a:extLst>
              <a:ext uri="{FF2B5EF4-FFF2-40B4-BE49-F238E27FC236}">
                <a16:creationId xmlns:a16="http://schemas.microsoft.com/office/drawing/2014/main" id="{2BD39D47-5625-F169-EE20-EDFB80A60C79}"/>
              </a:ext>
            </a:extLst>
          </p:cNvPr>
          <p:cNvSpPr/>
          <p:nvPr/>
        </p:nvSpPr>
        <p:spPr>
          <a:xfrm>
            <a:off x="5254172" y="5216759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C267E7A-2DDB-4911-A49A-4F9FE92E7C65}"/>
              </a:ext>
            </a:extLst>
          </p:cNvPr>
          <p:cNvSpPr txBox="1"/>
          <p:nvPr/>
        </p:nvSpPr>
        <p:spPr>
          <a:xfrm>
            <a:off x="5345612" y="535391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27" name="Rectangle 59">
            <a:extLst>
              <a:ext uri="{FF2B5EF4-FFF2-40B4-BE49-F238E27FC236}">
                <a16:creationId xmlns:a16="http://schemas.microsoft.com/office/drawing/2014/main" id="{88E22A06-9786-171F-EEA0-388AF1D0B5B0}"/>
              </a:ext>
            </a:extLst>
          </p:cNvPr>
          <p:cNvSpPr/>
          <p:nvPr/>
        </p:nvSpPr>
        <p:spPr>
          <a:xfrm>
            <a:off x="7220132" y="5216759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3302E0F-7B27-503A-F71A-E9530E471D19}"/>
              </a:ext>
            </a:extLst>
          </p:cNvPr>
          <p:cNvSpPr txBox="1"/>
          <p:nvPr/>
        </p:nvSpPr>
        <p:spPr>
          <a:xfrm>
            <a:off x="7311572" y="535391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29" name="Rectangle 61">
            <a:extLst>
              <a:ext uri="{FF2B5EF4-FFF2-40B4-BE49-F238E27FC236}">
                <a16:creationId xmlns:a16="http://schemas.microsoft.com/office/drawing/2014/main" id="{3566E971-A2E6-0F43-EB32-2E1C468B7BDC}"/>
              </a:ext>
            </a:extLst>
          </p:cNvPr>
          <p:cNvSpPr/>
          <p:nvPr/>
        </p:nvSpPr>
        <p:spPr>
          <a:xfrm>
            <a:off x="9186092" y="5216759"/>
            <a:ext cx="1874520" cy="71323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3BCC896-7CAE-A930-E14B-7530BB104AF4}"/>
              </a:ext>
            </a:extLst>
          </p:cNvPr>
          <p:cNvSpPr txBox="1"/>
          <p:nvPr/>
        </p:nvSpPr>
        <p:spPr>
          <a:xfrm>
            <a:off x="9277532" y="535391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2722D4E-BB19-CEF8-C72E-EC70877A4053}"/>
              </a:ext>
            </a:extLst>
          </p:cNvPr>
          <p:cNvSpPr txBox="1"/>
          <p:nvPr/>
        </p:nvSpPr>
        <p:spPr>
          <a:xfrm>
            <a:off x="3379652" y="3790295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D0A5D2C-AD40-89AD-F605-C8568416B1C3}"/>
              </a:ext>
            </a:extLst>
          </p:cNvPr>
          <p:cNvSpPr txBox="1"/>
          <p:nvPr/>
        </p:nvSpPr>
        <p:spPr>
          <a:xfrm>
            <a:off x="5299892" y="3799439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9669"/>
                </a:solidFill>
                <a:latin typeface="Calibri"/>
              </a:rPr>
              <a:t>✓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DD0A8472-EDD1-9566-E50F-19756806B5D3}"/>
              </a:ext>
            </a:extLst>
          </p:cNvPr>
          <p:cNvSpPr txBox="1"/>
          <p:nvPr/>
        </p:nvSpPr>
        <p:spPr>
          <a:xfrm>
            <a:off x="7293284" y="4567535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ABF6BBB-40E8-4104-0387-DED853065B87}"/>
              </a:ext>
            </a:extLst>
          </p:cNvPr>
          <p:cNvSpPr txBox="1"/>
          <p:nvPr/>
        </p:nvSpPr>
        <p:spPr>
          <a:xfrm>
            <a:off x="3333932" y="4560825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C9211B6-EBB6-DA22-4070-3F02156E0947}"/>
              </a:ext>
            </a:extLst>
          </p:cNvPr>
          <p:cNvSpPr txBox="1"/>
          <p:nvPr/>
        </p:nvSpPr>
        <p:spPr>
          <a:xfrm>
            <a:off x="9186092" y="4560825"/>
            <a:ext cx="1783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solidFill>
                  <a:srgbClr val="D97706"/>
                </a:solidFill>
                <a:latin typeface="Calibri"/>
              </a:rPr>
              <a:t>частично</a:t>
            </a:r>
            <a:endParaRPr sz="1800" b="0" i="0" dirty="0">
              <a:solidFill>
                <a:srgbClr val="D9770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Функциональность приложения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Полный набор инструментов учителя в одном месте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938528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0896" y="1938528"/>
            <a:ext cx="269748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0624" y="204825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" y="2075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Загрузка файлов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2505456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Фото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, PDF, DOCX, PPTX, TXT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любой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формат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209544" y="1938528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09544" y="1938528"/>
            <a:ext cx="269748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19272" y="204825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✍️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3904" y="2075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Редактор текста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2505456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Tiptap: отредактировать
распознанный текст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8192" y="1938528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08192" y="1938528"/>
            <a:ext cx="269748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2048256"/>
            <a:ext cx="438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1E293B"/>
                </a:solidFill>
              </a:rPr>
              <a:t>👾</a:t>
            </a:r>
            <a:endParaRPr sz="24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02552" y="2075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ИИ-проверка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505456"/>
            <a:ext cx="24688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Стриминг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результата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появляется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в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реальном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времени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006840" y="1938528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1938528"/>
            <a:ext cx="269748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16568" y="2048256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075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Сохранение работ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05456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Привязка к ученику, папке,
дате и оценке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" y="36576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10896" y="3657600"/>
            <a:ext cx="2697480" cy="76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0624" y="3767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👨‍🎓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База учеников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" y="4224528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Список, группы, статистика
по каждому ученику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9544" y="36576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09544" y="3657600"/>
            <a:ext cx="2697480" cy="76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19272" y="3767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⚙️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3904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Calibri"/>
              </a:rPr>
              <a:t>Функции проверки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46704" y="4224528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Создать, опубликовать
в галерею, копировать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08192" y="36576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108192" y="3657600"/>
            <a:ext cx="2697480" cy="76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3767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2552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Папки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5352" y="4224528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Организовать работы
по темам или классам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3657600"/>
            <a:ext cx="269748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3657600"/>
            <a:ext cx="2697480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16568" y="3767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1E293B"/>
                </a:solidFill>
                <a:latin typeface="Calibri"/>
              </a:rPr>
              <a:t>🖨️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7947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Печать отчёта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224528"/>
            <a:ext cx="24688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HTML-отчёт прямо
из браузера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3716" y="-14646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Типы проверки: встроенные функции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0E7FF"/>
                </a:solidFill>
                <a:latin typeface="Calibri"/>
              </a:rPr>
              <a:t>5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функций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готовы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сразу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после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запуска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системы</a:t>
            </a:r>
            <a:endParaRPr sz="13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0186" y="1371600"/>
            <a:ext cx="1779161" cy="4215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10186" y="1371600"/>
            <a:ext cx="1779161" cy="9965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0186" y="1371600"/>
            <a:ext cx="1779161" cy="1345335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9914" y="1554480"/>
            <a:ext cx="16257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Орфография
и пунктуация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914" y="2880361"/>
            <a:ext cx="1625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64748B"/>
                </a:solidFill>
                <a:latin typeface="Calibri"/>
              </a:rPr>
              <a:t>Ошибки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с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объяснением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Оценка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0</a:t>
            </a:r>
            <a:r>
              <a:rPr lang="en-US" sz="12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5
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Общий</a:t>
            </a:r>
            <a:r>
              <a:rPr sz="12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64748B"/>
                </a:solidFill>
                <a:latin typeface="Calibri"/>
              </a:rPr>
              <a:t>комментарий</a:t>
            </a:r>
            <a:endParaRPr sz="12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89974" y="1371600"/>
            <a:ext cx="1779161" cy="4215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89974" y="1371600"/>
            <a:ext cx="1779161" cy="9965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89974" y="1371600"/>
            <a:ext cx="1779161" cy="134533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99702" y="1554480"/>
            <a:ext cx="16257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Сочинение
ОГЭ 9.3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99702" y="2880361"/>
            <a:ext cx="1625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64748B"/>
                </a:solidFill>
              </a:rPr>
              <a:t>8 критериев:
СК1</a:t>
            </a:r>
            <a:r>
              <a:rPr lang="en-US" sz="1200" dirty="0">
                <a:solidFill>
                  <a:srgbClr val="64748B"/>
                </a:solidFill>
              </a:rPr>
              <a:t>-</a:t>
            </a:r>
            <a:r>
              <a:rPr lang="ru-RU" sz="1200" dirty="0">
                <a:solidFill>
                  <a:srgbClr val="64748B"/>
                </a:solidFill>
              </a:rPr>
              <a:t>СК4 (содержание)
ГК1</a:t>
            </a:r>
            <a:r>
              <a:rPr lang="en-US" sz="1200" dirty="0">
                <a:solidFill>
                  <a:srgbClr val="64748B"/>
                </a:solidFill>
              </a:rPr>
              <a:t>-</a:t>
            </a:r>
            <a:r>
              <a:rPr lang="ru-RU" sz="1200" dirty="0">
                <a:solidFill>
                  <a:srgbClr val="64748B"/>
                </a:solidFill>
              </a:rPr>
              <a:t>ГК4 (грамотность)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9762" y="1371600"/>
            <a:ext cx="1779161" cy="4215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9762" y="1371600"/>
            <a:ext cx="1779161" cy="9965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9762" y="1371600"/>
            <a:ext cx="1779161" cy="134533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79490" y="1554480"/>
            <a:ext cx="16257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Сочинение
ЕГЭ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490" y="2880361"/>
            <a:ext cx="1625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64748B"/>
                </a:solidFill>
              </a:rPr>
              <a:t>10 критериев К1–К10
по нормам ФИПИ 2026
Максимум 22 балла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6042" y="1371600"/>
            <a:ext cx="1779161" cy="4215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76042" y="1371600"/>
            <a:ext cx="1779161" cy="9965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76042" y="1371600"/>
            <a:ext cx="1779161" cy="134533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6266" y="1554480"/>
            <a:ext cx="162578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  <a:latin typeface="Calibri"/>
              </a:rPr>
              <a:t>Итоговое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сочинение</a:t>
            </a:r>
            <a:r>
              <a:rPr lang="en-US" sz="1500" b="1" dirty="0">
                <a:solidFill>
                  <a:schemeClr val="bg1"/>
                </a:solidFill>
                <a:latin typeface="Calibri"/>
              </a:rPr>
              <a:t> </a:t>
            </a:r>
          </a:p>
          <a:p>
            <a:pPr algn="ctr"/>
            <a:r>
              <a:rPr lang="en-US" sz="1500" b="1" i="0" dirty="0">
                <a:solidFill>
                  <a:schemeClr val="bg1"/>
                </a:solidFill>
                <a:latin typeface="Calibri"/>
              </a:rPr>
              <a:t>(</a:t>
            </a:r>
            <a:r>
              <a:rPr lang="ru-RU" sz="1500" b="1" i="0" dirty="0">
                <a:solidFill>
                  <a:schemeClr val="bg1"/>
                </a:solidFill>
                <a:latin typeface="Calibri"/>
              </a:rPr>
              <a:t>вузовская)</a:t>
            </a:r>
            <a:endParaRPr lang="en-US" sz="15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256266" y="2880361"/>
            <a:ext cx="1625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64748B"/>
                </a:solidFill>
              </a:rPr>
              <a:t>10 критериев К1–К10
Максимум 20 баллов
Для поступления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99478" y="1371600"/>
            <a:ext cx="1779161" cy="4215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199478" y="1371600"/>
            <a:ext cx="1779161" cy="9965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199478" y="1371600"/>
            <a:ext cx="1779161" cy="1345335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79702" y="1554480"/>
            <a:ext cx="162578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Свободная
проверка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79702" y="2880361"/>
            <a:ext cx="1625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Учитель сам
формулирует задание
ИИ его выполняет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852160"/>
            <a:ext cx="11247120" cy="6858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943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46E5"/>
                </a:solidFill>
                <a:latin typeface="Calibri"/>
              </a:rPr>
              <a:t>✚  Пользователь может создать собственную функцию, опубликовать в галерею и поделиться с другими учителями</a:t>
            </a:r>
          </a:p>
        </p:txBody>
      </p:sp>
      <p:sp>
        <p:nvSpPr>
          <p:cNvPr id="33" name="Rectangle 19">
            <a:extLst>
              <a:ext uri="{FF2B5EF4-FFF2-40B4-BE49-F238E27FC236}">
                <a16:creationId xmlns:a16="http://schemas.microsoft.com/office/drawing/2014/main" id="{04AA3001-910F-78EF-88D0-DF285F92B989}"/>
              </a:ext>
            </a:extLst>
          </p:cNvPr>
          <p:cNvSpPr/>
          <p:nvPr/>
        </p:nvSpPr>
        <p:spPr>
          <a:xfrm>
            <a:off x="6193198" y="1371600"/>
            <a:ext cx="1779161" cy="4215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20">
            <a:extLst>
              <a:ext uri="{FF2B5EF4-FFF2-40B4-BE49-F238E27FC236}">
                <a16:creationId xmlns:a16="http://schemas.microsoft.com/office/drawing/2014/main" id="{118483C9-D6D3-0CF8-76E8-136645C49DB6}"/>
              </a:ext>
            </a:extLst>
          </p:cNvPr>
          <p:cNvSpPr/>
          <p:nvPr/>
        </p:nvSpPr>
        <p:spPr>
          <a:xfrm>
            <a:off x="6193198" y="1371600"/>
            <a:ext cx="1779161" cy="9965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21">
            <a:extLst>
              <a:ext uri="{FF2B5EF4-FFF2-40B4-BE49-F238E27FC236}">
                <a16:creationId xmlns:a16="http://schemas.microsoft.com/office/drawing/2014/main" id="{73E454F2-7C75-C019-E6D5-7E896EDF0F47}"/>
              </a:ext>
            </a:extLst>
          </p:cNvPr>
          <p:cNvSpPr/>
          <p:nvPr/>
        </p:nvSpPr>
        <p:spPr>
          <a:xfrm>
            <a:off x="6193198" y="1371600"/>
            <a:ext cx="1779161" cy="134533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CCC016-2756-8D9A-CBD3-E3AF5CFDFD8E}"/>
              </a:ext>
            </a:extLst>
          </p:cNvPr>
          <p:cNvSpPr txBox="1"/>
          <p:nvPr/>
        </p:nvSpPr>
        <p:spPr>
          <a:xfrm>
            <a:off x="6273422" y="1554480"/>
            <a:ext cx="162578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  <a:latin typeface="Calibri"/>
              </a:rPr>
              <a:t>Итоговое</a:t>
            </a:r>
            <a:r>
              <a:rPr sz="1500" b="1" i="0" dirty="0">
                <a:solidFill>
                  <a:srgbClr val="FFFFFF"/>
                </a:solidFill>
                <a:latin typeface="Calibri"/>
              </a:rPr>
              <a:t>
</a:t>
            </a:r>
            <a:r>
              <a:rPr sz="1500" b="1" i="0" dirty="0" err="1">
                <a:solidFill>
                  <a:srgbClr val="FFFFFF"/>
                </a:solidFill>
                <a:latin typeface="Calibri"/>
              </a:rPr>
              <a:t>сочинение</a:t>
            </a:r>
            <a:endParaRPr lang="en-US" sz="15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600" b="1" dirty="0">
                <a:solidFill>
                  <a:schemeClr val="bg1"/>
                </a:solidFill>
              </a:rPr>
              <a:t>(школьная)</a:t>
            </a:r>
            <a:endParaRPr sz="15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4775A7-8FBB-10FB-11D4-5D62D067A4DA}"/>
              </a:ext>
            </a:extLst>
          </p:cNvPr>
          <p:cNvSpPr txBox="1"/>
          <p:nvPr/>
        </p:nvSpPr>
        <p:spPr>
          <a:xfrm>
            <a:off x="6273422" y="2880361"/>
            <a:ext cx="16257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64748B"/>
                </a:solidFill>
              </a:rPr>
              <a:t>5 критериев К1–К5
Зачёт / незачёт
Допуск к ЕГЭ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Архитектура системы: трёхуровневая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Разделение ответственности: Routes → Services → Repositories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2651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2651760" cy="6583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50800" cy="5074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389888"/>
            <a:ext cx="2450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ROUTES
(Маршруты)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7568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Принимает HTTP-запрос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Валидирует (Pydantic)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44952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Делегирует сервису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2958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Возвращает JSON / 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14216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44988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94A3B8"/>
                </a:solidFill>
                <a:latin typeface="Calibri"/>
              </a:rPr>
              <a:t>auth  /  check  / 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8348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functions  /  groups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68112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pupils  /  folders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81753" y="3575304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298448"/>
            <a:ext cx="2651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00400" y="1298448"/>
            <a:ext cx="2651760" cy="65836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00400" y="1298448"/>
            <a:ext cx="50800" cy="5074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28416" y="1389888"/>
            <a:ext cx="2450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SERVICES
(Бизнес-логика)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07568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CheckService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56032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  промпт + парсинг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3044952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LLMService — стриминг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52958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DocumentConverter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14216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  OCR или MarkItDown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4988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HybridOCR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498348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  PaddleOCR + Tesseract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3872" y="3584448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4F46E5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1298448"/>
            <a:ext cx="2651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035040" y="1298448"/>
            <a:ext cx="2651760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035040" y="1298448"/>
            <a:ext cx="50800" cy="5074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63056" y="1389888"/>
            <a:ext cx="2450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REPOSITORIES
(Доступ к данным)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207568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CheckRepository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56032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FunctionRepository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3044952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GroupRepository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529584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PupilRepository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014216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FolderRepository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498848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72200" y="4983480"/>
            <a:ext cx="24231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SQL скрыт от логики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15400" y="1298448"/>
            <a:ext cx="3063240" cy="411480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25128" y="1344168"/>
            <a:ext cx="29260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ИНФРАСТРУКТУРА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15400" y="1801368"/>
            <a:ext cx="3063240" cy="1078992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915400" y="1801368"/>
            <a:ext cx="63500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43416" y="189280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🔐  Supabase Auth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3416" y="230428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JWT-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авторизация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8915400" y="2944368"/>
            <a:ext cx="3063240" cy="107899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915400" y="2944368"/>
            <a:ext cx="63500" cy="107899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43416" y="3035808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🗄  PostgreSQL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3416" y="3447288"/>
            <a:ext cx="28803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Supabase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15400" y="4087368"/>
            <a:ext cx="3063240" cy="1078992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915400" y="4087368"/>
            <a:ext cx="63500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43416" y="4178808"/>
            <a:ext cx="2880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300" b="1" dirty="0">
                <a:solidFill>
                  <a:srgbClr val="7C3AED"/>
                </a:solidFill>
              </a:rPr>
              <a:t>👾</a:t>
            </a:r>
            <a:r>
              <a:rPr sz="1300" b="1" i="0" dirty="0">
                <a:solidFill>
                  <a:srgbClr val="7C3AED"/>
                </a:solidFill>
                <a:latin typeface="Calibri"/>
              </a:rPr>
              <a:t>  </a:t>
            </a:r>
            <a:r>
              <a:rPr sz="1300" b="1" i="0" dirty="0" err="1">
                <a:solidFill>
                  <a:srgbClr val="7C3AED"/>
                </a:solidFill>
                <a:latin typeface="Calibri"/>
              </a:rPr>
              <a:t>Ollama</a:t>
            </a:r>
            <a:r>
              <a:rPr sz="1300" b="1" i="0" dirty="0">
                <a:solidFill>
                  <a:srgbClr val="7C3AED"/>
                </a:solidFill>
                <a:latin typeface="Calibri"/>
              </a:rPr>
              <a:t> qwen2.5:7b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3416" y="4590288"/>
            <a:ext cx="2880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Локальный LLM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Обработка файлов: алгоритм DocumentConverter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E0E7FF"/>
                </a:solidFill>
                <a:latin typeface="Calibri"/>
              </a:rPr>
              <a:t>Два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пути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+ fallback </a:t>
            </a:r>
            <a:r>
              <a:rPr lang="en-US" sz="1300" b="0" i="0" dirty="0">
                <a:solidFill>
                  <a:srgbClr val="E0E7FF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единый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интерфейс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для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любого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формата</a:t>
            </a:r>
            <a:endParaRPr sz="13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94560" cy="7498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📂  Загруженный
файл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214884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87168"/>
            <a:ext cx="2194560" cy="658368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57860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DocumentConverter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63347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371600"/>
            <a:ext cx="347472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14630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🖼  Изображение: .jpg  .png  .bmp  .tiff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0482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2395728"/>
            <a:ext cx="3474720" cy="658368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248716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5285"/>
                </a:solidFill>
                <a:latin typeface="Calibri"/>
              </a:rPr>
              <a:t>HybridOCR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081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456431"/>
            <a:ext cx="1691640" cy="77724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0" y="3529584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75285"/>
                </a:solidFill>
                <a:latin typeface="Calibri"/>
              </a:rPr>
              <a:t>PaddleOCR
2.8.1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3456431"/>
            <a:ext cx="1691640" cy="777240"/>
          </a:xfrm>
          <a:prstGeom prst="rect">
            <a:avLst/>
          </a:prstGeom>
          <a:solidFill>
            <a:srgbClr val="BAE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0" y="3529584"/>
            <a:ext cx="1508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457A"/>
                </a:solidFill>
                <a:latin typeface="Calibri"/>
              </a:rPr>
              <a:t>Tesseract
5.x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251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617720"/>
            <a:ext cx="3474720" cy="56692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47091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59669"/>
                </a:solidFill>
                <a:latin typeface="Calibri"/>
              </a:rPr>
              <a:t>score = 0.7×conf + 0.3×text_quality → лучший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1371600"/>
            <a:ext cx="3840480" cy="658368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0" y="1463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📄  Документ: .pdf  .docx  .pptx  .txt  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04825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395728"/>
            <a:ext cx="3840480" cy="6583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40880" y="2487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alibri"/>
              </a:rPr>
              <a:t>MarkItDown (Microsoft)
ПDF/DOCX/PPTX → Markdown-текст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08152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456431"/>
            <a:ext cx="3840480" cy="6583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03720" y="3456431"/>
            <a:ext cx="384048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40880" y="35478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✓  Текст извлечён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657600"/>
            <a:ext cx="365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C2626"/>
                </a:solidFill>
                <a:latin typeface="Calibri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4187952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03720" y="4553712"/>
            <a:ext cx="3840480" cy="65836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903720" y="4553712"/>
            <a:ext cx="384048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040880" y="464515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Fallback → HybridOCR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49240"/>
            <a:ext cx="11247120" cy="65836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" y="5349240"/>
            <a:ext cx="63500" cy="65836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5458968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Calibri"/>
              </a:rPr>
              <a:t>✓  Извлечённый текст → передаётся в языковую модель (LLM) для проверки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Стриминг ответа ИИ в реальном времени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0E7FF"/>
                </a:solidFill>
                <a:latin typeface="Calibri"/>
              </a:rPr>
              <a:t>Server-Sent Events (SSE) </a:t>
            </a:r>
            <a:r>
              <a:rPr lang="en-US" sz="1300" b="0" i="0" dirty="0">
                <a:solidFill>
                  <a:srgbClr val="E0E7FF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пользователь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видит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каждый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токен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сразу</a:t>
            </a:r>
            <a:endParaRPr sz="13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21408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" y="1499616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Нажата
кнопка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POST /api/check/stream
{text, function_id}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2304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88336" y="1371600"/>
            <a:ext cx="2121408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499616"/>
            <a:ext cx="34747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8064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CheckService
формирует промпт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system_prompt + user_template
с подставленным текстом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82312" y="246089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10912" y="1371600"/>
            <a:ext cx="2121408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0" y="1499616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LLMService
запрашивает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openai.AsyncOpenAI
stream=True, timeout=180s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33488" y="1371600"/>
            <a:ext cx="2121408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43216" y="1499616"/>
            <a:ext cx="34747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43216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Токены →
Server-Sent Events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43216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data: {"type":"chunk",
 "text":"..."}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56064" y="1371600"/>
            <a:ext cx="2121408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56064" y="1371600"/>
            <a:ext cx="2121408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65792" y="1499616"/>
            <a:ext cx="3474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65792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6416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Браузер
читает поток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1938528"/>
            <a:ext cx="1920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fetch() + ReadableStream
+ TextDecoder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251960"/>
            <a:ext cx="11247120" cy="68580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" y="43616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Без стриминга: пустой экран 30–60 секунд → весь текст сразу
Со стримингом: текст появляется сразу, как при живой печати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74920"/>
            <a:ext cx="11247120" cy="15087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5B4FC"/>
                </a:solidFill>
                <a:latin typeface="Calibri"/>
              </a:rPr>
              <a:t>async def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stream_check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(text,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function_id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) -&gt;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AsyncIterator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[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dict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]:
    messages = await self._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build_messages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(text,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function_id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)   # system + user
 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full_text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= ''
    async for chunk in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self.llm.stream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(messages):              #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кусочки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от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LLM
     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full_text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+= chunk
        yield {'type': 'chunk', 'text': chunk}                 #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клиенту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сразу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
    result = self._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build_result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(text,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self._parse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full_text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))
    yield {'type': 'done', 'result': result}                   #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финальный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Алгоритм загрузки и обработки файла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E0E7FF"/>
                </a:solidFill>
                <a:latin typeface="Calibri"/>
              </a:rPr>
              <a:t>BackgroundTasks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FastAPI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+ polling </a:t>
            </a:r>
            <a:r>
              <a:rPr lang="en-US" sz="1300" b="0" i="0" dirty="0">
                <a:solidFill>
                  <a:srgbClr val="E0E7FF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клиент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не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ждёт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OCR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блокируя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соединение</a:t>
            </a:r>
            <a:endParaRPr sz="13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" y="1284732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" y="1284732"/>
            <a:ext cx="1874519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82880" y="1412748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4127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449324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Пользователь
выбирает файл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51660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4748B"/>
                </a:solidFill>
                <a:latin typeface="Calibri"/>
              </a:rPr>
              <a:t>Drag &amp; drop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или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диалог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выбора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файла</a:t>
            </a:r>
            <a:endParaRPr sz="10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4519" y="23820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12263" y="1284732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112263" y="1284732"/>
            <a:ext cx="1874519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21991" y="1412748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21991" y="14127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42615" y="1449324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POST /api/upload/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1991" y="1851660"/>
            <a:ext cx="16733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4748B"/>
                </a:solidFill>
                <a:latin typeface="Calibri"/>
              </a:rPr>
              <a:t>Файл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сохраняется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в temp/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Создаётся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Ответ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: {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status:'processing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'}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4" y="23820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51374" y="1284732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51374" y="1284732"/>
            <a:ext cx="1874519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61102" y="1412748"/>
            <a:ext cx="34747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1102" y="14127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6" y="1449324"/>
            <a:ext cx="12344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200" b="1" i="0" dirty="0">
                <a:solidFill>
                  <a:srgbClr val="0F766E"/>
                </a:solidFill>
                <a:latin typeface="Calibri"/>
              </a:rPr>
              <a:t>Клиент </a:t>
            </a:r>
            <a:r>
              <a:rPr sz="1200" b="1" i="0" dirty="0" err="1">
                <a:solidFill>
                  <a:srgbClr val="0F766E"/>
                </a:solidFill>
                <a:latin typeface="Calibri"/>
              </a:rPr>
              <a:t>опрашивает</a:t>
            </a:r>
            <a:r>
              <a:rPr sz="1200" b="1" i="0" dirty="0">
                <a:solidFill>
                  <a:srgbClr val="0F766E"/>
                </a:solidFill>
                <a:latin typeface="Calibri"/>
              </a:rPr>
              <a:t>
GET /upload/{</a:t>
            </a:r>
            <a:r>
              <a:rPr sz="1200" b="1" i="0" dirty="0" err="1">
                <a:solidFill>
                  <a:srgbClr val="0F766E"/>
                </a:solidFill>
                <a:latin typeface="Calibri"/>
              </a:rPr>
              <a:t>task_id</a:t>
            </a:r>
            <a:r>
              <a:rPr sz="1200" b="1" i="0" dirty="0">
                <a:solidFill>
                  <a:srgbClr val="0F766E"/>
                </a:solidFill>
                <a:latin typeface="Calibri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2814" y="2524857"/>
            <a:ext cx="16733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4748B"/>
                </a:solidFill>
                <a:latin typeface="Calibri"/>
              </a:rPr>
              <a:t>Интервал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1.5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сек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.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Пока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status == 'processing'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597" y="23820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90485" y="1284732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0485" y="1284732"/>
            <a:ext cx="1874519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0213" y="1412748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3" y="14127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37" y="1408684"/>
            <a:ext cx="1362455" cy="671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7C3AED"/>
                </a:solidFill>
                <a:latin typeface="Calibri"/>
              </a:rPr>
              <a:t>DocumentConverter</a:t>
            </a:r>
            <a:r>
              <a:rPr sz="1200" b="1" i="0" dirty="0">
                <a:solidFill>
                  <a:srgbClr val="7C3AED"/>
                </a:solidFill>
                <a:latin typeface="Calibri"/>
              </a:rPr>
              <a:t>
в </a:t>
            </a:r>
            <a:r>
              <a:rPr sz="1200" b="1" i="0" dirty="0" err="1">
                <a:solidFill>
                  <a:srgbClr val="7C3AED"/>
                </a:solidFill>
                <a:latin typeface="Calibri"/>
              </a:rPr>
              <a:t>фоне</a:t>
            </a:r>
            <a:endParaRPr sz="1200" b="1" i="0" dirty="0">
              <a:solidFill>
                <a:srgbClr val="7C3AED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0213" y="2034540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4748B"/>
                </a:solidFill>
                <a:latin typeface="Calibri"/>
              </a:rPr>
              <a:t>Определяет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тип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файла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HybridOCR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или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MarkItDown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Выполняется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параллельно</a:t>
            </a:r>
            <a:endParaRPr sz="10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00996" y="238201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596" y="1291712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596" y="1284732"/>
            <a:ext cx="1874519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339324" y="1412748"/>
            <a:ext cx="3474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39324" y="14127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59948" y="1449324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status → 'done'
temp-файл удалён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4" y="2116836"/>
            <a:ext cx="1673351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4748B"/>
                </a:solidFill>
                <a:latin typeface="Calibri"/>
              </a:rPr>
              <a:t>Результат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в tasks[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task_id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]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Временный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файл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очищен</a:t>
            </a:r>
            <a:endParaRPr sz="10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40107" y="238861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68707" y="1284732"/>
            <a:ext cx="1874519" cy="2606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268707" y="1284732"/>
            <a:ext cx="1874519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378435" y="1412748"/>
            <a:ext cx="34747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78435" y="14127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99059" y="1449324"/>
            <a:ext cx="12344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Текст вставляется
в редактор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41859" y="2144268"/>
            <a:ext cx="170992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4748B"/>
                </a:solidFill>
                <a:latin typeface="Calibri"/>
              </a:rPr>
              <a:t>editor.commands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.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setContent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(text)
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Готово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 к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проверке</a:t>
            </a:r>
            <a:endParaRPr sz="10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4069080"/>
            <a:ext cx="11247120" cy="9601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4069080"/>
            <a:ext cx="63500" cy="9601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85800" y="4160520"/>
            <a:ext cx="1078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1E293B"/>
                </a:solidFill>
                <a:latin typeface="Calibri"/>
              </a:rPr>
              <a:t>Зачем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polling, а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не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держать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соединение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открытым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?</a:t>
            </a:r>
          </a:p>
          <a:p>
            <a:pPr algn="l"/>
            <a:r>
              <a:rPr sz="1200" b="0" dirty="0">
                <a:solidFill>
                  <a:srgbClr val="1E293B"/>
                </a:solidFill>
                <a:latin typeface="Calibri"/>
              </a:rPr>
              <a:t>OCR (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особенно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PaddleOCR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)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занимает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5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-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30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секунд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. Браузер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закрывает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HTTP-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соединение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по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таймауту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.
Polling: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быстрый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ответ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сразу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→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периодическая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проверка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→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результат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когда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готов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5166360"/>
            <a:ext cx="11247120" cy="1463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5257800"/>
            <a:ext cx="109728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@router.post('/')
async def upload(file: UploadFile, background_tasks: BackgroundTasks):
    task_id = str(uuid4())
    path = TEMP_DIR / f'{task_id}_{file.filename}'
    # сохраняем файл
    tasks[task_id] = {'status': 'processing'}
    background_tasks.add_task(ocr_service.process_file, str(path), task_id)
    return {'task_id': task_id, 'status': 'processing'}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855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5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Calibri"/>
              </a:rPr>
              <a:t>Как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работает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проверка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CheckService</a:t>
            </a:r>
            <a:endParaRPr sz="2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4048" y="436880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E0E7FF"/>
                </a:solidFill>
                <a:latin typeface="Calibri"/>
              </a:rPr>
              <a:t>Routes →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CheckService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→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LLMService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→ parse JSON → highlight errors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3924" y="992632"/>
            <a:ext cx="1920240" cy="68856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5364" y="1084072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POST
/check/stream</a:t>
            </a:r>
          </a:p>
        </p:txBody>
      </p:sp>
      <p:sp>
        <p:nvSpPr>
          <p:cNvPr id="7" name="Rectangle 6"/>
          <p:cNvSpPr/>
          <p:nvPr/>
        </p:nvSpPr>
        <p:spPr>
          <a:xfrm>
            <a:off x="2537044" y="992632"/>
            <a:ext cx="1920240" cy="68856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28484" y="1084072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FunctionRepository
.get(id)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40164" y="992632"/>
            <a:ext cx="1920240" cy="68856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31604" y="1084072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_build_messages()
system +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43284" y="992632"/>
            <a:ext cx="1920240" cy="68856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34724" y="1084072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LLMService
.stream()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46404" y="992632"/>
            <a:ext cx="1920240" cy="68856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37844" y="1084072"/>
            <a:ext cx="17373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Calibri"/>
              </a:rPr>
              <a:t>_parse()
JSON →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dict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08444" y="1178195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564" y="1184148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4684" y="1166146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7804" y="1190974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810512"/>
            <a:ext cx="11247120" cy="3591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97114" y="1833594"/>
            <a:ext cx="107899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_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build_result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() </a:t>
            </a:r>
            <a:r>
              <a:rPr lang="en-US" sz="13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что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входит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в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итоговый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ответ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267712"/>
            <a:ext cx="3566160" cy="869536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2267712"/>
            <a:ext cx="3566160" cy="525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3408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corrected_text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724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Исправленный текст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3088" y="2267712"/>
            <a:ext cx="3566160" cy="86953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33088" y="2267712"/>
            <a:ext cx="3566160" cy="525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70248" y="23408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2724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Список ошибок (JSON-массив)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0416" y="2267712"/>
            <a:ext cx="3566160" cy="869536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00416" y="2267712"/>
            <a:ext cx="3566160" cy="525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37576" y="234086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6" y="27249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Числовая оценка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221042"/>
            <a:ext cx="3566160" cy="869536"/>
          </a:xfrm>
          <a:prstGeom prst="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3221042"/>
            <a:ext cx="3566160" cy="525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2920" y="329419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criteria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67824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Критерии (ОГЭ/ЕГЭ)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33088" y="3221042"/>
            <a:ext cx="3566160" cy="869536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133088" y="3221042"/>
            <a:ext cx="3566160" cy="525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70248" y="329419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html_highlighted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3678242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Текст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с </a:t>
            </a:r>
            <a:r>
              <a:rPr lang="ru-RU" sz="1100" b="0" i="0" dirty="0">
                <a:solidFill>
                  <a:srgbClr val="64748B"/>
                </a:solidFill>
                <a:latin typeface="Calibri"/>
              </a:rPr>
              <a:t>тегом 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&lt;span&gt;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вокруг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ошибок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7900416" y="3221042"/>
            <a:ext cx="3566160" cy="86953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900416" y="3221042"/>
            <a:ext cx="3566160" cy="525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37576" y="3294194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comment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6" y="367824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Общий комментарий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5101844"/>
            <a:ext cx="11247120" cy="166420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66928" y="5220208"/>
            <a:ext cx="1097280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5B4FC"/>
                </a:solidFill>
                <a:latin typeface="Calibri"/>
              </a:rPr>
              <a:t>def _highlight(self, text: str, errors: list) -&gt; str:
    result = text
    for e in errors:
        original =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e.get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('original', '')          #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слово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с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ошибкой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из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JSON
        result =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re.sub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
         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re.escape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(original),                  #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экранируем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спецсимволы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
            f'&lt;span class="error-highlight"&gt;{original}&lt;/span&gt;',
            result, count=1)                      #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только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первое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вхождение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
    return result</a:t>
            </a:r>
          </a:p>
        </p:txBody>
      </p:sp>
      <p:sp>
        <p:nvSpPr>
          <p:cNvPr id="48" name="Rectangle 32">
            <a:extLst>
              <a:ext uri="{FF2B5EF4-FFF2-40B4-BE49-F238E27FC236}">
                <a16:creationId xmlns:a16="http://schemas.microsoft.com/office/drawing/2014/main" id="{E3411291-8AC2-1974-7142-C596F1E47570}"/>
              </a:ext>
            </a:extLst>
          </p:cNvPr>
          <p:cNvSpPr/>
          <p:nvPr/>
        </p:nvSpPr>
        <p:spPr>
          <a:xfrm>
            <a:off x="365760" y="4190638"/>
            <a:ext cx="3566160" cy="86953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33">
            <a:extLst>
              <a:ext uri="{FF2B5EF4-FFF2-40B4-BE49-F238E27FC236}">
                <a16:creationId xmlns:a16="http://schemas.microsoft.com/office/drawing/2014/main" id="{E4E308DE-84AF-B513-09F5-DFD08A591BB7}"/>
              </a:ext>
            </a:extLst>
          </p:cNvPr>
          <p:cNvSpPr/>
          <p:nvPr/>
        </p:nvSpPr>
        <p:spPr>
          <a:xfrm>
            <a:off x="365760" y="4190638"/>
            <a:ext cx="3566160" cy="525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1F9862-ADAF-7183-06A5-DE7D0F449180}"/>
              </a:ext>
            </a:extLst>
          </p:cNvPr>
          <p:cNvSpPr txBox="1"/>
          <p:nvPr/>
        </p:nvSpPr>
        <p:spPr>
          <a:xfrm>
            <a:off x="502920" y="4263790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chemeClr val="accent5">
                    <a:lumMod val="50000"/>
                  </a:schemeClr>
                </a:solidFill>
              </a:rPr>
              <a:t>pass_fail</a:t>
            </a:r>
            <a:endParaRPr lang="en-US" sz="12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389037E-63D4-178B-FCDB-C75D1960CEB3}"/>
              </a:ext>
            </a:extLst>
          </p:cNvPr>
          <p:cNvSpPr txBox="1"/>
          <p:nvPr/>
        </p:nvSpPr>
        <p:spPr>
          <a:xfrm>
            <a:off x="502920" y="464783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rgbClr val="1E293B"/>
                </a:solidFill>
              </a:rPr>
              <a:t>«зачёт» / «незачёт» (итоговое сочинение)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2" name="Rectangle 36">
            <a:extLst>
              <a:ext uri="{FF2B5EF4-FFF2-40B4-BE49-F238E27FC236}">
                <a16:creationId xmlns:a16="http://schemas.microsoft.com/office/drawing/2014/main" id="{48101C2E-712E-3876-46FD-332B2082FA8D}"/>
              </a:ext>
            </a:extLst>
          </p:cNvPr>
          <p:cNvSpPr/>
          <p:nvPr/>
        </p:nvSpPr>
        <p:spPr>
          <a:xfrm>
            <a:off x="4133088" y="4190638"/>
            <a:ext cx="3566160" cy="86953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37">
            <a:extLst>
              <a:ext uri="{FF2B5EF4-FFF2-40B4-BE49-F238E27FC236}">
                <a16:creationId xmlns:a16="http://schemas.microsoft.com/office/drawing/2014/main" id="{001F6047-83E0-B847-0DB9-B98F14287161}"/>
              </a:ext>
            </a:extLst>
          </p:cNvPr>
          <p:cNvSpPr/>
          <p:nvPr/>
        </p:nvSpPr>
        <p:spPr>
          <a:xfrm>
            <a:off x="4133088" y="4190638"/>
            <a:ext cx="3566160" cy="52508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E2AAEE-07B1-86B2-7C18-97F48EF384D7}"/>
              </a:ext>
            </a:extLst>
          </p:cNvPr>
          <p:cNvSpPr txBox="1"/>
          <p:nvPr/>
        </p:nvSpPr>
        <p:spPr>
          <a:xfrm>
            <a:off x="4270248" y="4263790"/>
            <a:ext cx="3383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accent3">
                    <a:lumMod val="50000"/>
                  </a:schemeClr>
                </a:solidFill>
              </a:rPr>
              <a:t>criteria</a:t>
            </a:r>
            <a:endParaRPr sz="1200" b="1" i="0" dirty="0">
              <a:solidFill>
                <a:schemeClr val="accent3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BB9628-3B73-B3E4-2F99-AB53CC6E71FD}"/>
              </a:ext>
            </a:extLst>
          </p:cNvPr>
          <p:cNvSpPr txBox="1"/>
          <p:nvPr/>
        </p:nvSpPr>
        <p:spPr>
          <a:xfrm>
            <a:off x="4270248" y="464783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bg1">
                    <a:lumMod val="50000"/>
                  </a:schemeClr>
                </a:solidFill>
              </a:rPr>
              <a:t>Баллы по критериям ОГЭ/ЕГЭ</a:t>
            </a:r>
            <a:endParaRPr sz="1100" b="0" i="0" dirty="0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56" name="Rectangle 40">
            <a:extLst>
              <a:ext uri="{FF2B5EF4-FFF2-40B4-BE49-F238E27FC236}">
                <a16:creationId xmlns:a16="http://schemas.microsoft.com/office/drawing/2014/main" id="{BE77FF72-629F-E9B5-C6C4-A17B9985B734}"/>
              </a:ext>
            </a:extLst>
          </p:cNvPr>
          <p:cNvSpPr/>
          <p:nvPr/>
        </p:nvSpPr>
        <p:spPr>
          <a:xfrm>
            <a:off x="7900416" y="4190638"/>
            <a:ext cx="3566160" cy="869536"/>
          </a:xfrm>
          <a:prstGeom prst="rect">
            <a:avLst/>
          </a:prstGeom>
          <a:solidFill>
            <a:srgbClr val="F2E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41">
            <a:extLst>
              <a:ext uri="{FF2B5EF4-FFF2-40B4-BE49-F238E27FC236}">
                <a16:creationId xmlns:a16="http://schemas.microsoft.com/office/drawing/2014/main" id="{52FB8513-DA8F-55AA-EBD8-0A0A1EA34AF3}"/>
              </a:ext>
            </a:extLst>
          </p:cNvPr>
          <p:cNvSpPr/>
          <p:nvPr/>
        </p:nvSpPr>
        <p:spPr>
          <a:xfrm>
            <a:off x="7900416" y="4190638"/>
            <a:ext cx="3566160" cy="5250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C7742E-4742-9E57-68BF-1B3E125F9C2B}"/>
              </a:ext>
            </a:extLst>
          </p:cNvPr>
          <p:cNvSpPr txBox="1"/>
          <p:nvPr/>
        </p:nvSpPr>
        <p:spPr>
          <a:xfrm>
            <a:off x="8037576" y="4263790"/>
            <a:ext cx="33832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F5801F"/>
                </a:solidFill>
              </a:rPr>
              <a:t>min_words</a:t>
            </a:r>
            <a:endParaRPr lang="en-US" sz="1200" b="1" dirty="0">
              <a:solidFill>
                <a:srgbClr val="F5801F"/>
              </a:solidFill>
            </a:endParaRPr>
          </a:p>
          <a:p>
            <a:pPr algn="l"/>
            <a:endParaRPr sz="1200" b="1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F1FFA7-B227-2D20-CA2A-E2C7395CA83C}"/>
              </a:ext>
            </a:extLst>
          </p:cNvPr>
          <p:cNvSpPr txBox="1"/>
          <p:nvPr/>
        </p:nvSpPr>
        <p:spPr>
          <a:xfrm>
            <a:off x="8037576" y="4647838"/>
            <a:ext cx="3383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bg1">
                    <a:lumMod val="50000"/>
                  </a:schemeClr>
                </a:solidFill>
              </a:rPr>
              <a:t>Минимум слов из настроек функции</a:t>
            </a:r>
            <a:endParaRPr sz="1100" b="0" i="0" dirty="0">
              <a:solidFill>
                <a:schemeClr val="bg1">
                  <a:lumMod val="50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Функции проверки: создание, публикация, галерея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E0E7FF"/>
                </a:solidFill>
                <a:latin typeface="Calibri"/>
              </a:rPr>
              <a:t>Каждая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функция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lang="en-US" sz="1300" b="0" i="0" dirty="0">
                <a:solidFill>
                  <a:srgbClr val="E0E7FF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это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system_prompt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+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user_template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с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плейсхолдером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{text}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2121408" cy="685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Создание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Учитель пишет system_prompt
(инструкции для ИИ)
и user_template
с {text}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07208" y="1325880"/>
            <a:ext cx="2121408" cy="685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16936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Использование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Выбирается в CheckPanel
Текст подставляется
вместо {text}
Отправляется в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57216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57216" y="1325880"/>
            <a:ext cx="2121408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66944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Публикация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Флаг is_published = True
Функция попадает
в галерею
Другие видят её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07224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507224" y="1325880"/>
            <a:ext cx="2121408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6952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Версионирование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2130552"/>
            <a:ext cx="19385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rgbClr val="64748B"/>
                </a:solidFill>
              </a:rPr>
              <a:t>Авто: при редактировании опубликованной
Вручную: кнопка «Сохранить версию»
Удаление версий
Другие видят версии (чтение)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274320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57232" y="1325880"/>
            <a:ext cx="2121408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57232" y="1325880"/>
            <a:ext cx="2121408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66960" y="1417320"/>
            <a:ext cx="19385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Копирование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130552"/>
            <a:ext cx="1938528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Другой учитель
нажимает «Скопировать»
POST /functions/{id}/copy
Копия в его библиотеке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63440"/>
            <a:ext cx="5303520" cy="749808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63500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4754880"/>
            <a:ext cx="5029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D97706"/>
                </a:solidFill>
                <a:latin typeface="Calibri"/>
              </a:rPr>
              <a:t>⚠ 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is_default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 = True →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нельзя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редактировать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 и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удалять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
(</a:t>
            </a:r>
            <a:r>
              <a:rPr lang="ru-RU" sz="1200" b="0" i="0" dirty="0">
                <a:solidFill>
                  <a:srgbClr val="D97706"/>
                </a:solidFill>
                <a:latin typeface="Calibri"/>
              </a:rPr>
              <a:t>6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стандартных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функций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защищены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от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D97706"/>
                </a:solidFill>
                <a:latin typeface="Calibri"/>
              </a:rPr>
              <a:t>изменений</a:t>
            </a:r>
            <a:r>
              <a:rPr sz="1200" b="0" i="0" dirty="0">
                <a:solidFill>
                  <a:srgbClr val="D97706"/>
                </a:solidFill>
                <a:latin typeface="Calibri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663440"/>
            <a:ext cx="6126480" cy="1965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26480" y="475488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# Пример: Проверка орфографии
system_prompt: "Ты — учитель русского языка.
  Верни JSON: {corrected, errors:[{original,
  corrected, type, comment}], score, comment}"
user_template: "Проверь следующий текст:\n\n{text}"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Клиентская часть: компоненты и маршруты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React 19 + TypeScript + Tiptap + Tailwind CSS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3566160" cy="53035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63500" cy="5303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1371600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4F46E5"/>
                </a:solidFill>
                <a:latin typeface="Calibri"/>
              </a:rPr>
              <a:t>React Router DOM </a:t>
            </a:r>
            <a:r>
              <a:rPr lang="en-US" sz="1300" b="1" i="0" dirty="0">
                <a:solidFill>
                  <a:srgbClr val="4F46E5"/>
                </a:solidFill>
                <a:latin typeface="Calibri"/>
              </a:rPr>
              <a:t>-</a:t>
            </a:r>
            <a:r>
              <a:rPr sz="1300"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4F46E5"/>
                </a:solidFill>
                <a:latin typeface="Calibri"/>
              </a:rPr>
              <a:t>маршруты</a:t>
            </a:r>
            <a:endParaRPr sz="13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8105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562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57984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CheckPage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Главная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страница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проверки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7249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7706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72384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HistoryPage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История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всех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проверок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36393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/students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86784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StudentsPage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Ученики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и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группы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5537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5994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01184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FunctionsPage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Мои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функции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+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галерея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5468112"/>
            <a:ext cx="33832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51383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/profile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15584"/>
            <a:ext cx="3108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ProfilePage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Профиль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и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статистика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51960" y="1298448"/>
            <a:ext cx="7498079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1344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FFFFFF"/>
                </a:solidFill>
                <a:latin typeface="Calibri"/>
              </a:rPr>
              <a:t>CheckPage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компоненты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главной</a:t>
            </a:r>
            <a:r>
              <a:rPr sz="12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Calibri"/>
              </a:rPr>
              <a:t>страницы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251960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60" y="1737360"/>
            <a:ext cx="1389888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25112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46E5"/>
                </a:solidFill>
                <a:latin typeface="Calibri"/>
              </a:rPr>
              <a:t>UploadForm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Загрузка файла
draq &amp; drop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51576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51576" y="1737360"/>
            <a:ext cx="1389888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24728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766E"/>
                </a:solidFill>
                <a:latin typeface="Calibri"/>
              </a:rPr>
              <a:t>TextEditor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4728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TipTap редактор
OCR-текста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51192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251192" y="1737360"/>
            <a:ext cx="1389888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24344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Calibri"/>
              </a:rPr>
              <a:t>CheckPanel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24344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Выбор функции
и запуск проверки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50808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750808" y="1737360"/>
            <a:ext cx="1389888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823960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StreamingPreview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Стриминг ответа
в реальном времени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50424" y="1737360"/>
            <a:ext cx="1389888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250424" y="1737360"/>
            <a:ext cx="1389888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323576" y="18013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ResultPanel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23576" y="2212848"/>
            <a:ext cx="1280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Результат:
ошибки, оценка,
сохранение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401568"/>
            <a:ext cx="7498079" cy="141732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251960" y="3401568"/>
            <a:ext cx="63500" cy="14173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34840" y="3474720"/>
            <a:ext cx="72237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 err="1">
                <a:solidFill>
                  <a:srgbClr val="1E293B"/>
                </a:solidFill>
                <a:latin typeface="Calibri"/>
              </a:rPr>
              <a:t>AuthContext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(React Context API)</a:t>
            </a:r>
          </a:p>
          <a:p>
            <a:pPr algn="l"/>
            <a:r>
              <a:rPr sz="1200" b="0" dirty="0">
                <a:solidFill>
                  <a:srgbClr val="1E293B"/>
                </a:solidFill>
                <a:latin typeface="Calibri"/>
              </a:rPr>
              <a:t>JWT-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токен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хранится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в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localStorage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.
Axios-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перехватчик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автоматически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добавляет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
Authorization: Bearer &lt;token&gt; к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каждому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запросу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.</a:t>
            </a:r>
          </a:p>
          <a:p>
            <a:pPr algn="l"/>
            <a:r>
              <a:rPr sz="1200" b="0" dirty="0" err="1">
                <a:solidFill>
                  <a:srgbClr val="1E293B"/>
                </a:solidFill>
                <a:latin typeface="Calibri"/>
              </a:rPr>
              <a:t>При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401 </a:t>
            </a:r>
            <a:r>
              <a:rPr lang="en-US" sz="1200" b="0" dirty="0">
                <a:solidFill>
                  <a:srgbClr val="1E293B"/>
                </a:solidFill>
                <a:latin typeface="Calibri"/>
              </a:rPr>
              <a:t>-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выход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из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200" b="0" dirty="0" err="1">
                <a:solidFill>
                  <a:srgbClr val="1E293B"/>
                </a:solidFill>
                <a:latin typeface="Calibri"/>
              </a:rPr>
              <a:t>системы</a:t>
            </a:r>
            <a:r>
              <a:rPr sz="1200" b="0" dirty="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0" y="4956048"/>
            <a:ext cx="7498079" cy="166420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407408" y="5047488"/>
            <a:ext cx="731520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A5B4FC"/>
                </a:solidFill>
                <a:latin typeface="Calibri"/>
              </a:rPr>
              <a:t>// 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types.ts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lang="en-US" sz="1100" b="0" i="0" dirty="0">
                <a:solidFill>
                  <a:srgbClr val="A5B4FC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все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 API-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ответы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строго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типизированы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
interface 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CheckRecord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 { id: string; score: number | null;
  errors: ...; 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corrected_text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?: string; ... }
interface 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Fn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 { id: string; name: string; </a:t>
            </a:r>
            <a:r>
              <a:rPr sz="1100" b="0" i="0" dirty="0" err="1">
                <a:solidFill>
                  <a:srgbClr val="A5B4FC"/>
                </a:solidFill>
                <a:latin typeface="Calibri"/>
              </a:rPr>
              <a:t>system_prompt</a:t>
            </a:r>
            <a:r>
              <a:rPr sz="1100" b="0" i="0" dirty="0">
                <a:solidFill>
                  <a:srgbClr val="A5B4FC"/>
                </a:solidFill>
                <a:latin typeface="Calibri"/>
              </a:rPr>
              <a:t>?: string; ... }
interface Pupil { id: string; name: string;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Авторизация: Supabase Auth +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E0E7FF"/>
                </a:solidFill>
                <a:latin typeface="Calibri"/>
              </a:rPr>
              <a:t>Токен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валидируется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на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бэкенде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через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supabase.auth.get_user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() </a:t>
            </a:r>
            <a:r>
              <a:rPr lang="en-US" sz="1300" b="0" i="0" dirty="0">
                <a:solidFill>
                  <a:srgbClr val="E0E7FF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без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ручного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decode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121408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75488" y="1499616"/>
            <a:ext cx="347472" cy="34747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Регистрация /
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3852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POST /api/auth/register
или /login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8098" y="238633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8336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88336" y="1371600"/>
            <a:ext cx="2121408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98064" y="1499616"/>
            <a:ext cx="347472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8064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Supabase Auth
выдаёт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193852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access_token подписан
supabase_jwt_secret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0674" y="2377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10912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10912" y="1371600"/>
            <a:ext cx="2121408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120640" y="1499616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1264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Фронтенд
сохраняет токен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93852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localStorage
.setItem('access_token')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5801" y="238633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33488" y="1371600"/>
            <a:ext cx="2121408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43216" y="1499616"/>
            <a:ext cx="347472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43216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D97706"/>
                </a:solidFill>
                <a:latin typeface="Calibri"/>
              </a:rPr>
              <a:t>Axios interceptor
</a:t>
            </a:r>
            <a:r>
              <a:rPr sz="1200" b="1" i="0" dirty="0" err="1">
                <a:solidFill>
                  <a:srgbClr val="D97706"/>
                </a:solidFill>
                <a:latin typeface="Calibri"/>
              </a:rPr>
              <a:t>добавляет</a:t>
            </a:r>
            <a:r>
              <a:rPr sz="1200" b="1" i="0" dirty="0">
                <a:solidFill>
                  <a:srgbClr val="D97706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D97706"/>
                </a:solidFill>
                <a:latin typeface="Calibri"/>
              </a:rPr>
              <a:t>заголовок</a:t>
            </a:r>
            <a:endParaRPr sz="1200" b="1" i="0" dirty="0">
              <a:solidFill>
                <a:srgbClr val="D97706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43216" y="2122013"/>
            <a:ext cx="18403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4748B"/>
                </a:solidFill>
                <a:latin typeface="Calibri"/>
              </a:rPr>
              <a:t>Authorization:
Bearer &lt;token&gt;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831" y="2362103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56064" y="1371600"/>
            <a:ext cx="212140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656064" y="1371600"/>
            <a:ext cx="2121408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765792" y="1499616"/>
            <a:ext cx="347472" cy="34747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765792" y="149961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86416" y="1536192"/>
            <a:ext cx="14813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FastAPI
validates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1938528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4748B"/>
                </a:solidFill>
                <a:latin typeface="Calibri"/>
              </a:rPr>
              <a:t>get_current_user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()
→ </a:t>
            </a:r>
            <a:r>
              <a:rPr sz="1000" b="0" i="0" dirty="0" err="1">
                <a:solidFill>
                  <a:srgbClr val="64748B"/>
                </a:solidFill>
                <a:latin typeface="Calibri"/>
              </a:rPr>
              <a:t>supabase.auth.get_user</a:t>
            </a:r>
            <a:r>
              <a:rPr sz="1000" b="0" i="0" dirty="0">
                <a:solidFill>
                  <a:srgbClr val="64748B"/>
                </a:solidFill>
                <a:latin typeface="Calibri"/>
              </a:rPr>
              <a:t>()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840480"/>
            <a:ext cx="5486400" cy="2788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3931920"/>
            <a:ext cx="52120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5B4FC"/>
                </a:solidFill>
                <a:latin typeface="Calibri"/>
              </a:rPr>
              <a:t>async def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get_current_user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
    token: str = Depends(oauth2_scheme),
 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db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= Depends(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get_db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)
):
    res =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supabase.auth.get_user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(token)
    if not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res.user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:
        raise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HTTPException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(401)
    return {'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user_id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': res.user.id,
            'email':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res.user.email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840480"/>
            <a:ext cx="5577840" cy="2788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3931920"/>
            <a:ext cx="530352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5B4FC"/>
                </a:solidFill>
                <a:latin typeface="Calibri"/>
              </a:rPr>
              <a:t>//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api.ts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A5B4FC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единственное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место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с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токеном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
const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api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=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axios.create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({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baseURL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: BASE_URL });
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api.interceptors.request.use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((config) =&gt; {
  const token =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localStorage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
    .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getItem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('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access_token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');
  if (token)
 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config.headers.Authorization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 =
      `Bearer ${token}`;
  return config;
});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База данных: 8 таблиц, PostgreSQL через 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98448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539496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54864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353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user_profiles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700784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user_id (PK), display_name, bio</a:t>
            </a:r>
          </a:p>
        </p:txBody>
      </p:sp>
      <p:sp>
        <p:nvSpPr>
          <p:cNvPr id="9" name="Rectangle 8"/>
          <p:cNvSpPr/>
          <p:nvPr/>
        </p:nvSpPr>
        <p:spPr>
          <a:xfrm>
            <a:off x="2057400" y="1353312"/>
            <a:ext cx="365760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48840" y="138988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Профиль учителя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98448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298448"/>
            <a:ext cx="5394960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98448"/>
            <a:ext cx="54864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64224" y="13533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700784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pupil_id, function_id,
folder_id, errors (JSON),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353312"/>
            <a:ext cx="3657600" cy="2926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09560" y="1389888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Результаты проверок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76856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2276856"/>
            <a:ext cx="539496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2276856"/>
            <a:ext cx="54864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Calibri"/>
              </a:rPr>
              <a:t>functions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2679192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name, system_prompt,
user_template, is_default, is_published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331720"/>
            <a:ext cx="36576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2368296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Функции проверки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2276856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17920" y="2276856"/>
            <a:ext cx="5394960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276856"/>
            <a:ext cx="54864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function_versions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4224" y="2679192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function_id, version_number,
system_prompt, change_note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331720"/>
            <a:ext cx="365760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09560" y="2368296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История версий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255264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57200" y="3255264"/>
            <a:ext cx="5394960" cy="635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3255264"/>
            <a:ext cx="54864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" y="33101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pupils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3657600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name
UNIQUE(user_id, name)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57400" y="3310128"/>
            <a:ext cx="365760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48840" y="3346704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Ученики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255264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217920" y="3255264"/>
            <a:ext cx="5394960" cy="635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17920" y="3255264"/>
            <a:ext cx="54864" cy="868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64224" y="33101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groups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64224" y="3657600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name, description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18120" y="3310128"/>
            <a:ext cx="365760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909560" y="3346704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Группы/классы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233672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7200" y="4233672"/>
            <a:ext cx="5394960" cy="635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57200" y="4233672"/>
            <a:ext cx="54864" cy="868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3504" y="4288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pupil_groups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" y="4636008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pupil_id (FK), group_id (FK)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4288536"/>
            <a:ext cx="3657600" cy="2926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148840" y="432511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Ученик ↔ Группа M:M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4233672"/>
            <a:ext cx="539496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217920" y="4233672"/>
            <a:ext cx="539496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217920" y="4233672"/>
            <a:ext cx="54864" cy="8686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364224" y="42885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46E5"/>
                </a:solidFill>
                <a:latin typeface="Calibri"/>
              </a:rPr>
              <a:t>folders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64224" y="4636008"/>
            <a:ext cx="51937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id, user_id, name, description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18120" y="4288536"/>
            <a:ext cx="3657600" cy="2926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909560" y="4325112"/>
            <a:ext cx="35478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Папки для работ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12064" y="5761228"/>
            <a:ext cx="11247120" cy="749808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40664" y="5889752"/>
            <a:ext cx="107899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4F46E5"/>
                </a:solidFill>
                <a:latin typeface="Calibri"/>
              </a:rPr>
              <a:t>💡 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checks.errors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lang="en-US" sz="1200" b="0" i="0" dirty="0">
                <a:solidFill>
                  <a:srgbClr val="4F46E5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JSON-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колонка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: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хранит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Python-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список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объектов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ошибок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напрямую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.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SQLAlchemy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автоматически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сериализует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/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десериализует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.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Нет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JOIN </a:t>
            </a:r>
            <a:r>
              <a:rPr lang="en-US" sz="1200" b="0" i="0" dirty="0">
                <a:solidFill>
                  <a:srgbClr val="4F46E5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все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данные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проверки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читаются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одним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4F46E5"/>
                </a:solidFill>
                <a:latin typeface="Calibri"/>
              </a:rPr>
              <a:t>запросом</a:t>
            </a:r>
            <a:r>
              <a:rPr sz="1200" b="0" i="0" dirty="0">
                <a:solidFill>
                  <a:srgbClr val="4F46E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F2B5EF4-FFF2-40B4-BE49-F238E27FC236}">
                <a16:creationId xmlns:a16="http://schemas.microsoft.com/office/drawing/2014/main" id="{857E2B07-F7FE-F340-8170-44AC3CEE6E19}"/>
              </a:ext>
            </a:extLst>
          </p:cNvPr>
          <p:cNvSpPr/>
          <p:nvPr/>
        </p:nvSpPr>
        <p:spPr>
          <a:xfrm>
            <a:off x="137634" y="0"/>
            <a:ext cx="1218882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A22E7A-FF84-52DE-8BE1-53309667DF64}"/>
              </a:ext>
            </a:extLst>
          </p:cNvPr>
          <p:cNvSpPr txBox="1"/>
          <p:nvPr/>
        </p:nvSpPr>
        <p:spPr>
          <a:xfrm>
            <a:off x="137160" y="91440"/>
            <a:ext cx="11495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7C3AED"/>
                </a:solidFill>
                <a:latin typeface="Calibri"/>
              </a:rPr>
              <a:t>Диаграмма</a:t>
            </a:r>
            <a:r>
              <a:rPr sz="2000" b="1" i="0" dirty="0">
                <a:solidFill>
                  <a:srgbClr val="7C3AED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7C3AED"/>
                </a:solidFill>
                <a:latin typeface="Calibri"/>
              </a:rPr>
              <a:t>классов</a:t>
            </a:r>
            <a:endParaRPr sz="2000" b="1" i="0" dirty="0">
              <a:solidFill>
                <a:srgbClr val="7C3AED"/>
              </a:solidFill>
              <a:latin typeface="Calibri"/>
            </a:endParaRP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E57FFB80-9107-A246-5DF3-F85F39A7AD89}"/>
              </a:ext>
            </a:extLst>
          </p:cNvPr>
          <p:cNvSpPr/>
          <p:nvPr/>
        </p:nvSpPr>
        <p:spPr>
          <a:xfrm>
            <a:off x="0" y="0"/>
            <a:ext cx="13763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63B1F25-4C29-73BA-3AC8-EE92BF399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080" y="0"/>
            <a:ext cx="6104744" cy="6858000"/>
          </a:xfrm>
          <a:prstGeom prst="rect">
            <a:avLst/>
          </a:prstGeom>
        </p:spPr>
      </p:pic>
      <p:sp>
        <p:nvSpPr>
          <p:cNvPr id="12" name="Rectangle 3">
            <a:extLst>
              <a:ext uri="{FF2B5EF4-FFF2-40B4-BE49-F238E27FC236}">
                <a16:creationId xmlns:a16="http://schemas.microsoft.com/office/drawing/2014/main" id="{E0434A77-97CE-BCF4-1251-4B661F54A700}"/>
              </a:ext>
            </a:extLst>
          </p:cNvPr>
          <p:cNvSpPr/>
          <p:nvPr/>
        </p:nvSpPr>
        <p:spPr>
          <a:xfrm>
            <a:off x="288524" y="877824"/>
            <a:ext cx="1676712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8E76EB-D7FB-6A33-F0D5-B121E7366DE6}"/>
              </a:ext>
            </a:extLst>
          </p:cNvPr>
          <p:cNvSpPr txBox="1"/>
          <p:nvPr/>
        </p:nvSpPr>
        <p:spPr>
          <a:xfrm>
            <a:off x="379964" y="950976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Таблица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962EE426-C969-F1B4-3287-1291433F7FA0}"/>
              </a:ext>
            </a:extLst>
          </p:cNvPr>
          <p:cNvSpPr/>
          <p:nvPr/>
        </p:nvSpPr>
        <p:spPr>
          <a:xfrm>
            <a:off x="2002267" y="877824"/>
            <a:ext cx="3944178" cy="4572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C305FA-3890-0F88-3732-A4119AC282E3}"/>
              </a:ext>
            </a:extLst>
          </p:cNvPr>
          <p:cNvSpPr txBox="1"/>
          <p:nvPr/>
        </p:nvSpPr>
        <p:spPr>
          <a:xfrm>
            <a:off x="2093707" y="960230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Описание</a:t>
            </a:r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BD2D50D6-2C71-7C8E-CE77-E55D6AD81C0D}"/>
              </a:ext>
            </a:extLst>
          </p:cNvPr>
          <p:cNvSpPr/>
          <p:nvPr/>
        </p:nvSpPr>
        <p:spPr>
          <a:xfrm>
            <a:off x="288524" y="1380744"/>
            <a:ext cx="167671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42D1609C-5622-0DC2-B96E-CC8399BE90C5}"/>
              </a:ext>
            </a:extLst>
          </p:cNvPr>
          <p:cNvSpPr/>
          <p:nvPr/>
        </p:nvSpPr>
        <p:spPr>
          <a:xfrm>
            <a:off x="2002267" y="1380744"/>
            <a:ext cx="3944178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56D99-2396-ADD6-0747-2CC04BE254A6}"/>
              </a:ext>
            </a:extLst>
          </p:cNvPr>
          <p:cNvSpPr txBox="1"/>
          <p:nvPr/>
        </p:nvSpPr>
        <p:spPr>
          <a:xfrm>
            <a:off x="379964" y="1472184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 err="1">
                <a:solidFill>
                  <a:srgbClr val="4F46E5"/>
                </a:solidFill>
                <a:latin typeface="Calibri"/>
              </a:rPr>
              <a:t>u</a:t>
            </a:r>
            <a:r>
              <a:rPr sz="1300" b="1" i="0" dirty="0" err="1">
                <a:solidFill>
                  <a:srgbClr val="4F46E5"/>
                </a:solidFill>
                <a:latin typeface="Calibri"/>
              </a:rPr>
              <a:t>ser</a:t>
            </a:r>
            <a:r>
              <a:rPr lang="en-US" sz="1300" b="1" i="0" dirty="0" err="1">
                <a:solidFill>
                  <a:srgbClr val="4F46E5"/>
                </a:solidFill>
                <a:latin typeface="Calibri"/>
              </a:rPr>
              <a:t>_profiles</a:t>
            </a:r>
            <a:endParaRPr sz="13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94B6B6-959C-4D22-BFCE-C3033E540A6B}"/>
              </a:ext>
            </a:extLst>
          </p:cNvPr>
          <p:cNvSpPr txBox="1"/>
          <p:nvPr/>
        </p:nvSpPr>
        <p:spPr>
          <a:xfrm>
            <a:off x="2093707" y="1472184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1E1B4B"/>
                </a:solidFill>
                <a:latin typeface="Calibri"/>
              </a:rPr>
              <a:t>Supabase</a:t>
            </a:r>
            <a:r>
              <a:rPr sz="1300" b="0" i="0" dirty="0">
                <a:solidFill>
                  <a:srgbClr val="1E1B4B"/>
                </a:solidFill>
                <a:latin typeface="Calibri"/>
              </a:rPr>
              <a:t> Auth </a:t>
            </a:r>
            <a:r>
              <a:rPr lang="en-US" sz="1300" b="0" i="0" dirty="0">
                <a:solidFill>
                  <a:srgbClr val="1E1B4B"/>
                </a:solidFill>
                <a:latin typeface="Calibri"/>
              </a:rPr>
              <a:t>-</a:t>
            </a:r>
            <a:r>
              <a:rPr sz="13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E1B4B"/>
                </a:solidFill>
                <a:latin typeface="Calibri"/>
              </a:rPr>
              <a:t>учётные</a:t>
            </a:r>
            <a:r>
              <a:rPr sz="13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E1B4B"/>
                </a:solidFill>
                <a:latin typeface="Calibri"/>
              </a:rPr>
              <a:t>записи</a:t>
            </a:r>
            <a:r>
              <a:rPr sz="1300" b="0" i="0" dirty="0">
                <a:solidFill>
                  <a:srgbClr val="1E1B4B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1E1B4B"/>
                </a:solidFill>
                <a:latin typeface="Calibri"/>
              </a:rPr>
              <a:t>учителей</a:t>
            </a:r>
            <a:endParaRPr sz="1300" b="0" i="0" dirty="0">
              <a:solidFill>
                <a:srgbClr val="1E1B4B"/>
              </a:solidFill>
              <a:latin typeface="Calibri"/>
            </a:endParaRPr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BDE2497A-BC66-E8C5-8F66-AFE79B155832}"/>
              </a:ext>
            </a:extLst>
          </p:cNvPr>
          <p:cNvSpPr/>
          <p:nvPr/>
        </p:nvSpPr>
        <p:spPr>
          <a:xfrm>
            <a:off x="288524" y="1956816"/>
            <a:ext cx="1676712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9D2B2962-B129-53EB-9EA2-E251B4E1AEF7}"/>
              </a:ext>
            </a:extLst>
          </p:cNvPr>
          <p:cNvSpPr/>
          <p:nvPr/>
        </p:nvSpPr>
        <p:spPr>
          <a:xfrm>
            <a:off x="2002267" y="1956816"/>
            <a:ext cx="3944178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B1ACF3-FA45-0ABA-E505-8D661A220181}"/>
              </a:ext>
            </a:extLst>
          </p:cNvPr>
          <p:cNvSpPr txBox="1"/>
          <p:nvPr/>
        </p:nvSpPr>
        <p:spPr>
          <a:xfrm>
            <a:off x="379964" y="2048256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checks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93AC08-3526-1C31-6B21-3337D9944D86}"/>
              </a:ext>
            </a:extLst>
          </p:cNvPr>
          <p:cNvSpPr txBox="1"/>
          <p:nvPr/>
        </p:nvSpPr>
        <p:spPr>
          <a:xfrm>
            <a:off x="2093707" y="2048256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Результаты проверок (текст, ошибки JSON, оценка)</a:t>
            </a:r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566EB7C4-997C-523C-F554-FB1A8C8CF275}"/>
              </a:ext>
            </a:extLst>
          </p:cNvPr>
          <p:cNvSpPr/>
          <p:nvPr/>
        </p:nvSpPr>
        <p:spPr>
          <a:xfrm>
            <a:off x="288524" y="2532888"/>
            <a:ext cx="167671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16">
            <a:extLst>
              <a:ext uri="{FF2B5EF4-FFF2-40B4-BE49-F238E27FC236}">
                <a16:creationId xmlns:a16="http://schemas.microsoft.com/office/drawing/2014/main" id="{886EB366-80D9-1526-DD61-8A30B21BDCD3}"/>
              </a:ext>
            </a:extLst>
          </p:cNvPr>
          <p:cNvSpPr/>
          <p:nvPr/>
        </p:nvSpPr>
        <p:spPr>
          <a:xfrm>
            <a:off x="2002267" y="2532888"/>
            <a:ext cx="3944178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2049CA-FD2C-8451-4388-5D51A2CB4D5B}"/>
              </a:ext>
            </a:extLst>
          </p:cNvPr>
          <p:cNvSpPr txBox="1"/>
          <p:nvPr/>
        </p:nvSpPr>
        <p:spPr>
          <a:xfrm>
            <a:off x="379964" y="2624328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4F46E5"/>
                </a:solidFill>
                <a:latin typeface="Calibri"/>
              </a:rPr>
              <a:t>students</a:t>
            </a:r>
            <a:endParaRPr sz="13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2563C0-31C9-9ED5-A518-37D287D01793}"/>
              </a:ext>
            </a:extLst>
          </p:cNvPr>
          <p:cNvSpPr txBox="1"/>
          <p:nvPr/>
        </p:nvSpPr>
        <p:spPr>
          <a:xfrm>
            <a:off x="2093707" y="2624328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Ученики учителя (имя, уникальность по user_id)</a:t>
            </a:r>
          </a:p>
        </p:txBody>
      </p:sp>
      <p:sp>
        <p:nvSpPr>
          <p:cNvPr id="28" name="Rectangle 19">
            <a:extLst>
              <a:ext uri="{FF2B5EF4-FFF2-40B4-BE49-F238E27FC236}">
                <a16:creationId xmlns:a16="http://schemas.microsoft.com/office/drawing/2014/main" id="{847AAE90-1D8F-821D-A2E5-5FC9A1B3B8AC}"/>
              </a:ext>
            </a:extLst>
          </p:cNvPr>
          <p:cNvSpPr/>
          <p:nvPr/>
        </p:nvSpPr>
        <p:spPr>
          <a:xfrm>
            <a:off x="288524" y="3108960"/>
            <a:ext cx="1676712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0">
            <a:extLst>
              <a:ext uri="{FF2B5EF4-FFF2-40B4-BE49-F238E27FC236}">
                <a16:creationId xmlns:a16="http://schemas.microsoft.com/office/drawing/2014/main" id="{4E3AB4D1-2D84-8059-958D-49F46FA0B805}"/>
              </a:ext>
            </a:extLst>
          </p:cNvPr>
          <p:cNvSpPr/>
          <p:nvPr/>
        </p:nvSpPr>
        <p:spPr>
          <a:xfrm>
            <a:off x="2002267" y="3108960"/>
            <a:ext cx="3944178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49C6A4-90FC-6E7A-2A3B-ED7444B9164A}"/>
              </a:ext>
            </a:extLst>
          </p:cNvPr>
          <p:cNvSpPr txBox="1"/>
          <p:nvPr/>
        </p:nvSpPr>
        <p:spPr>
          <a:xfrm>
            <a:off x="379964" y="3200400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groups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90CFD3-2DD4-7AD1-77F5-716BF4BEDCAF}"/>
              </a:ext>
            </a:extLst>
          </p:cNvPr>
          <p:cNvSpPr txBox="1"/>
          <p:nvPr/>
        </p:nvSpPr>
        <p:spPr>
          <a:xfrm>
            <a:off x="2093707" y="3200400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Группы / классы учителя</a:t>
            </a:r>
          </a:p>
        </p:txBody>
      </p:sp>
      <p:sp>
        <p:nvSpPr>
          <p:cNvPr id="32" name="Rectangle 23">
            <a:extLst>
              <a:ext uri="{FF2B5EF4-FFF2-40B4-BE49-F238E27FC236}">
                <a16:creationId xmlns:a16="http://schemas.microsoft.com/office/drawing/2014/main" id="{2A90CD62-DF2A-84A4-DFDB-0F1F95D0A3B9}"/>
              </a:ext>
            </a:extLst>
          </p:cNvPr>
          <p:cNvSpPr/>
          <p:nvPr/>
        </p:nvSpPr>
        <p:spPr>
          <a:xfrm>
            <a:off x="288524" y="3685032"/>
            <a:ext cx="167671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24">
            <a:extLst>
              <a:ext uri="{FF2B5EF4-FFF2-40B4-BE49-F238E27FC236}">
                <a16:creationId xmlns:a16="http://schemas.microsoft.com/office/drawing/2014/main" id="{FF12A82E-2B11-3389-F8CB-07E0363C990A}"/>
              </a:ext>
            </a:extLst>
          </p:cNvPr>
          <p:cNvSpPr/>
          <p:nvPr/>
        </p:nvSpPr>
        <p:spPr>
          <a:xfrm>
            <a:off x="2002267" y="3685032"/>
            <a:ext cx="3944178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5C75E4-E8AC-6FCD-7AF9-A5C4F14ED605}"/>
              </a:ext>
            </a:extLst>
          </p:cNvPr>
          <p:cNvSpPr txBox="1"/>
          <p:nvPr/>
        </p:nvSpPr>
        <p:spPr>
          <a:xfrm>
            <a:off x="379964" y="3776472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 err="1">
                <a:solidFill>
                  <a:srgbClr val="4F46E5"/>
                </a:solidFill>
                <a:latin typeface="Calibri"/>
              </a:rPr>
              <a:t>student</a:t>
            </a:r>
            <a:r>
              <a:rPr sz="1300" b="1" i="0" dirty="0" err="1">
                <a:solidFill>
                  <a:srgbClr val="4F46E5"/>
                </a:solidFill>
                <a:latin typeface="Calibri"/>
              </a:rPr>
              <a:t>_groups</a:t>
            </a:r>
            <a:endParaRPr sz="1300"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3F60C3-575B-2CFE-87D4-511BCF37625E}"/>
              </a:ext>
            </a:extLst>
          </p:cNvPr>
          <p:cNvSpPr txBox="1"/>
          <p:nvPr/>
        </p:nvSpPr>
        <p:spPr>
          <a:xfrm>
            <a:off x="2093707" y="3776472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Связь многие-ко-многим: ученики ↔ группы</a:t>
            </a:r>
          </a:p>
        </p:txBody>
      </p:sp>
      <p:sp>
        <p:nvSpPr>
          <p:cNvPr id="36" name="Rectangle 27">
            <a:extLst>
              <a:ext uri="{FF2B5EF4-FFF2-40B4-BE49-F238E27FC236}">
                <a16:creationId xmlns:a16="http://schemas.microsoft.com/office/drawing/2014/main" id="{495A21F0-5EAC-B9D5-9BCD-93D74F53E878}"/>
              </a:ext>
            </a:extLst>
          </p:cNvPr>
          <p:cNvSpPr/>
          <p:nvPr/>
        </p:nvSpPr>
        <p:spPr>
          <a:xfrm>
            <a:off x="288524" y="4261104"/>
            <a:ext cx="1676712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28">
            <a:extLst>
              <a:ext uri="{FF2B5EF4-FFF2-40B4-BE49-F238E27FC236}">
                <a16:creationId xmlns:a16="http://schemas.microsoft.com/office/drawing/2014/main" id="{5D749225-E151-13B9-314E-046D3E85CD13}"/>
              </a:ext>
            </a:extLst>
          </p:cNvPr>
          <p:cNvSpPr/>
          <p:nvPr/>
        </p:nvSpPr>
        <p:spPr>
          <a:xfrm>
            <a:off x="2002267" y="4261104"/>
            <a:ext cx="3944178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17ADD5-9CE7-4036-CD35-0F40A088D157}"/>
              </a:ext>
            </a:extLst>
          </p:cNvPr>
          <p:cNvSpPr txBox="1"/>
          <p:nvPr/>
        </p:nvSpPr>
        <p:spPr>
          <a:xfrm>
            <a:off x="379964" y="4352544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folders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B3F42E-3A03-E1B3-8E14-7A54698B94BC}"/>
              </a:ext>
            </a:extLst>
          </p:cNvPr>
          <p:cNvSpPr txBox="1"/>
          <p:nvPr/>
        </p:nvSpPr>
        <p:spPr>
          <a:xfrm>
            <a:off x="2093707" y="4352544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Папки для организации работ</a:t>
            </a:r>
          </a:p>
        </p:txBody>
      </p:sp>
      <p:sp>
        <p:nvSpPr>
          <p:cNvPr id="40" name="Rectangle 31">
            <a:extLst>
              <a:ext uri="{FF2B5EF4-FFF2-40B4-BE49-F238E27FC236}">
                <a16:creationId xmlns:a16="http://schemas.microsoft.com/office/drawing/2014/main" id="{39AA9647-84E5-FBFA-28F8-0449860ADD4C}"/>
              </a:ext>
            </a:extLst>
          </p:cNvPr>
          <p:cNvSpPr/>
          <p:nvPr/>
        </p:nvSpPr>
        <p:spPr>
          <a:xfrm>
            <a:off x="288524" y="4837176"/>
            <a:ext cx="1676712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32">
            <a:extLst>
              <a:ext uri="{FF2B5EF4-FFF2-40B4-BE49-F238E27FC236}">
                <a16:creationId xmlns:a16="http://schemas.microsoft.com/office/drawing/2014/main" id="{8E4903FB-DD3F-7503-09FA-BD0E0301AF7A}"/>
              </a:ext>
            </a:extLst>
          </p:cNvPr>
          <p:cNvSpPr/>
          <p:nvPr/>
        </p:nvSpPr>
        <p:spPr>
          <a:xfrm>
            <a:off x="2002267" y="4837176"/>
            <a:ext cx="3944178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972CB4-A42F-52F3-F01F-8DA7FCC52C2E}"/>
              </a:ext>
            </a:extLst>
          </p:cNvPr>
          <p:cNvSpPr txBox="1"/>
          <p:nvPr/>
        </p:nvSpPr>
        <p:spPr>
          <a:xfrm>
            <a:off x="379964" y="4928616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functions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D5E3AC-3F0B-1D40-C425-B1BE5AAD3A4C}"/>
              </a:ext>
            </a:extLst>
          </p:cNvPr>
          <p:cNvSpPr txBox="1"/>
          <p:nvPr/>
        </p:nvSpPr>
        <p:spPr>
          <a:xfrm>
            <a:off x="2093707" y="4928616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Функции проверки (промпты, шаблоны)</a:t>
            </a:r>
          </a:p>
        </p:txBody>
      </p:sp>
      <p:sp>
        <p:nvSpPr>
          <p:cNvPr id="44" name="Rectangle 35">
            <a:extLst>
              <a:ext uri="{FF2B5EF4-FFF2-40B4-BE49-F238E27FC236}">
                <a16:creationId xmlns:a16="http://schemas.microsoft.com/office/drawing/2014/main" id="{C604C843-96AB-3274-C7BC-DBBF387104B8}"/>
              </a:ext>
            </a:extLst>
          </p:cNvPr>
          <p:cNvSpPr/>
          <p:nvPr/>
        </p:nvSpPr>
        <p:spPr>
          <a:xfrm>
            <a:off x="288524" y="5413248"/>
            <a:ext cx="1676712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36">
            <a:extLst>
              <a:ext uri="{FF2B5EF4-FFF2-40B4-BE49-F238E27FC236}">
                <a16:creationId xmlns:a16="http://schemas.microsoft.com/office/drawing/2014/main" id="{54A133A5-B288-12BF-4EC3-CF8ACB97B228}"/>
              </a:ext>
            </a:extLst>
          </p:cNvPr>
          <p:cNvSpPr/>
          <p:nvPr/>
        </p:nvSpPr>
        <p:spPr>
          <a:xfrm>
            <a:off x="2002267" y="5413248"/>
            <a:ext cx="3944178" cy="539496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732632E-2A6A-CF56-AE6C-19E351FA63B7}"/>
              </a:ext>
            </a:extLst>
          </p:cNvPr>
          <p:cNvSpPr txBox="1"/>
          <p:nvPr/>
        </p:nvSpPr>
        <p:spPr>
          <a:xfrm>
            <a:off x="379964" y="5504688"/>
            <a:ext cx="1576109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46E5"/>
                </a:solidFill>
                <a:latin typeface="Calibri"/>
              </a:rPr>
              <a:t>function_versions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42646C-D8FD-4835-145C-3E7529B9C200}"/>
              </a:ext>
            </a:extLst>
          </p:cNvPr>
          <p:cNvSpPr txBox="1"/>
          <p:nvPr/>
        </p:nvSpPr>
        <p:spPr>
          <a:xfrm>
            <a:off x="2093707" y="5504688"/>
            <a:ext cx="388190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B4B"/>
                </a:solidFill>
                <a:latin typeface="Calibri"/>
              </a:rPr>
              <a:t>История версий каждой 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970213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Calibri"/>
              </a:rPr>
              <a:t>Технологический</a:t>
            </a:r>
            <a:r>
              <a:rPr sz="2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Calibri"/>
              </a:rPr>
              <a:t>сте</a:t>
            </a:r>
            <a:r>
              <a:rPr lang="ru-RU" sz="2400" b="1" i="0" dirty="0">
                <a:solidFill>
                  <a:srgbClr val="FFFFFF"/>
                </a:solidFill>
                <a:latin typeface="Calibri"/>
              </a:rPr>
              <a:t>к</a:t>
            </a:r>
          </a:p>
          <a:p>
            <a:pPr algn="l"/>
            <a:endParaRPr sz="2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16152" y="1280160"/>
            <a:ext cx="1591056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9304" y="1344168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Технология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0" y="1280160"/>
            <a:ext cx="1499616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53512" y="1344168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Назначение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280160"/>
            <a:ext cx="6592824" cy="43891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344168"/>
            <a:ext cx="65013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Почему выбрано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16152" y="1764792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216152" y="1764792"/>
            <a:ext cx="50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181965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FastAPI 0.115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1764792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3512" y="1810512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Бэкенд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1764792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53712" y="1810512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Нативный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async + SSE,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автодокументация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Swagger, DI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через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Depends()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6152" y="2157984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216152" y="2157984"/>
            <a:ext cx="50800" cy="3657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07592" y="221284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46E5"/>
                </a:solidFill>
                <a:latin typeface="Calibri"/>
              </a:rPr>
              <a:t>Python 3.11+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80360" y="2157984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53512" y="2203704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Язык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157984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53712" y="2203704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Единственный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язык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с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нативной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поддержкой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PaddleOCR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, Tesseract и 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16152" y="2551176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216152" y="2551176"/>
            <a:ext cx="508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07592" y="260604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SQLAlchemy 2.0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" y="2551176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53512" y="2596896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ORM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551176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53712" y="2596896"/>
            <a:ext cx="6501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Полный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async API,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изоляция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SQL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от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бизнес-логики</a:t>
            </a:r>
            <a:endParaRPr sz="10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216152" y="2944368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216152" y="2944368"/>
            <a:ext cx="5080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07592" y="299923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Calibri"/>
              </a:rPr>
              <a:t>Supabase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2944368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53512" y="2990088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БД + Auth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2944368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53712" y="2990088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Управляемый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PostgreSQL +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готовая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JWT-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авторизация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,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бесплатный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хостинг</a:t>
            </a:r>
            <a:endParaRPr sz="10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216152" y="3337560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216152" y="3337560"/>
            <a:ext cx="508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307592" y="3392424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PaddleOCR 2.8.1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80360" y="3337560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53512" y="3383280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OCR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60" y="3337560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53712" y="3383280"/>
            <a:ext cx="6501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Наивысшая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точность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для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рукописи</a:t>
            </a:r>
            <a:endParaRPr sz="10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216152" y="3730752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216152" y="3730752"/>
            <a:ext cx="50800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307592" y="378561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Calibri"/>
              </a:rPr>
              <a:t>Tesseract 5.x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80360" y="3730752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953512" y="3776472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OCR резерв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3730752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53712" y="3776472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Компенсирует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слабость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PaddleOCR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на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печатном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тексте</a:t>
            </a:r>
            <a:endParaRPr sz="10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216152" y="4123944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216152" y="4123944"/>
            <a:ext cx="508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307592" y="417880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MarkItDown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4123944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953512" y="4169664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Документы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4123944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53712" y="4169664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Единый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API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для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PDF/DOCX/PPTX/TXT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от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Microsoft,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сохраняет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структуру</a:t>
            </a:r>
            <a:endParaRPr sz="10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216152" y="4517136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216152" y="4517136"/>
            <a:ext cx="50800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307592" y="4572000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  <a:latin typeface="Calibri"/>
              </a:rPr>
              <a:t>Ollama qwen2.5:7b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80360" y="4517136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953512" y="4562856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LLM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80560" y="4517136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53712" y="4562856"/>
            <a:ext cx="6501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Локальный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запуск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; 7B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оптимален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на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CPU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216152" y="4910328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216152" y="4910328"/>
            <a:ext cx="5080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307592" y="4965192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React 19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80360" y="4910328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953512" y="4956048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Фронтенд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80560" y="4910328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53712" y="4956048"/>
            <a:ext cx="6501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Стандарт отрасли, компонентный подход, наибольшая экосистема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216152" y="5303520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216152" y="5303520"/>
            <a:ext cx="50800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07592" y="5358384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  <a:latin typeface="Calibri"/>
              </a:rPr>
              <a:t>TypeScript ~6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880360" y="5303520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2953512" y="5349240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Типизация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480560" y="5303520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553712" y="5349240"/>
            <a:ext cx="6501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Обнаруживает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ошибки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типов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на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этапе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сборки</a:t>
            </a:r>
            <a:endParaRPr sz="10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216152" y="5696712"/>
            <a:ext cx="159105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216152" y="5696712"/>
            <a:ext cx="508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307592" y="5751576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Vite 8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880360" y="5696712"/>
            <a:ext cx="1499616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953512" y="5742432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Сборщик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480560" y="5696712"/>
            <a:ext cx="659282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553712" y="5742432"/>
            <a:ext cx="6501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000" dirty="0">
                <a:solidFill>
                  <a:srgbClr val="1E293B"/>
                </a:solidFill>
                <a:latin typeface="Calibri"/>
              </a:rPr>
              <a:t>Высокая скорость</a:t>
            </a:r>
            <a:r>
              <a:rPr lang="en-US" sz="1000" b="0" i="0" dirty="0">
                <a:solidFill>
                  <a:srgbClr val="1E293B"/>
                </a:solidFill>
                <a:latin typeface="Calibri"/>
              </a:rPr>
              <a:t>, Rolldown </a:t>
            </a:r>
            <a:r>
              <a:rPr lang="ru-RU" sz="1000" b="0" i="0" dirty="0">
                <a:solidFill>
                  <a:srgbClr val="1E293B"/>
                </a:solidFill>
                <a:latin typeface="Calibri"/>
              </a:rPr>
              <a:t>на </a:t>
            </a:r>
            <a:r>
              <a:rPr lang="en-US" sz="1000" b="0" i="0" dirty="0">
                <a:solidFill>
                  <a:srgbClr val="1E293B"/>
                </a:solidFill>
                <a:latin typeface="Calibri"/>
              </a:rPr>
              <a:t>Rust - </a:t>
            </a:r>
            <a:r>
              <a:rPr lang="ru-RU" sz="1000" b="0" i="0" dirty="0">
                <a:solidFill>
                  <a:srgbClr val="1E293B"/>
                </a:solidFill>
                <a:latin typeface="Calibri"/>
              </a:rPr>
              <a:t>быстрее </a:t>
            </a:r>
            <a:r>
              <a:rPr lang="en-US" sz="1000" b="0" i="0" dirty="0">
                <a:solidFill>
                  <a:srgbClr val="1E293B"/>
                </a:solidFill>
                <a:latin typeface="Calibri"/>
              </a:rPr>
              <a:t>Webpack</a:t>
            </a:r>
            <a:endParaRPr sz="10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216152" y="6089904"/>
            <a:ext cx="159105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216152" y="6089904"/>
            <a:ext cx="50800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1307592" y="6144768"/>
            <a:ext cx="14813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  <a:latin typeface="Calibri"/>
              </a:rPr>
              <a:t>Tailwind CSS v4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80360" y="6089904"/>
            <a:ext cx="1499616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953512" y="6135624"/>
            <a:ext cx="14081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Стили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480560" y="6089904"/>
            <a:ext cx="6592824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4553712" y="6135624"/>
            <a:ext cx="6501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E293B"/>
                </a:solidFill>
                <a:latin typeface="Calibri"/>
              </a:rPr>
              <a:t>стили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прямо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в JSX, v4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через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Vite-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плагин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без</a:t>
            </a:r>
            <a:r>
              <a:rPr sz="10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000" b="0" i="0" dirty="0" err="1">
                <a:solidFill>
                  <a:srgbClr val="1E293B"/>
                </a:solidFill>
                <a:latin typeface="Calibri"/>
              </a:rPr>
              <a:t>конфига</a:t>
            </a:r>
            <a:endParaRPr sz="1000" b="0" i="0" dirty="0">
              <a:solidFill>
                <a:srgbClr val="1E293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Паттерны проектирования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  <a:latin typeface="Calibri"/>
              </a:rPr>
              <a:t>Strategy + Repository + Dependency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98448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7472" y="1298448"/>
            <a:ext cx="3657600" cy="6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47472" y="1298448"/>
            <a:ext cx="365760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Стратегия (Strategy)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34747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ЗАЧЕМ: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Легко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добавить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новый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OCR-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движок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без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изменения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существующего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кода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КАК: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OCRStrategy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абстрактный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класс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PaddleStrategy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TesseractStrategy</a:t>
            </a:r>
            <a:r>
              <a:rPr lang="en-US" sz="1100" dirty="0">
                <a:solidFill>
                  <a:srgbClr val="64748B"/>
                </a:solidFill>
                <a:latin typeface="Calibri"/>
              </a:rPr>
              <a:t> 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реализации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HybridOCR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агрегирует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обе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(◆)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" y="4023360"/>
            <a:ext cx="3511296" cy="22128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" y="4096512"/>
            <a:ext cx="3401568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class OCRStrategy(ABC):
  @abstractmethod
  def recognize(self,
    image_path: str) -&gt; OcrResult: ...
  @abstractmethod
  def get_name(self) -&gt; str: 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298448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87952" y="1298448"/>
            <a:ext cx="3657600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87952" y="1298448"/>
            <a:ext cx="36576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Репозиторий (Repository)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20240"/>
            <a:ext cx="3474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748B"/>
                </a:solidFill>
                <a:latin typeface="Calibri"/>
              </a:rPr>
              <a:t>ЗАЧЕМ: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Сервисы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не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знают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про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SQL.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Легко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сменить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СУБД.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Код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тестируем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.
КАК: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CheckRepository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GroupRepository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,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FunctionRepository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и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другие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.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Единственное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место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с select/insert/update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1104" y="4023360"/>
            <a:ext cx="3511296" cy="22128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52544" y="4096512"/>
            <a:ext cx="3401568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A5B4FC"/>
                </a:solidFill>
                <a:latin typeface="Calibri"/>
              </a:rPr>
              <a:t>class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CheckRepository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:
  async def create(self, data) -&gt; Check:
    obj = Check(**data)
   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self.db.add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(obj)
    await </a:t>
            </a:r>
            <a:r>
              <a:rPr sz="1000" b="0" i="0" dirty="0" err="1">
                <a:solidFill>
                  <a:srgbClr val="A5B4FC"/>
                </a:solidFill>
                <a:latin typeface="Calibri"/>
              </a:rPr>
              <a:t>self.db.commit</a:t>
            </a:r>
            <a:r>
              <a:rPr sz="1000" b="0" i="0" dirty="0">
                <a:solidFill>
                  <a:srgbClr val="A5B4FC"/>
                </a:solidFill>
                <a:latin typeface="Calibri"/>
              </a:rPr>
              <a:t>()
    return obj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28432" y="1298448"/>
            <a:ext cx="365760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28432" y="1298448"/>
            <a:ext cx="3657600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28432" y="1298448"/>
            <a:ext cx="36576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13716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Инъекция зависимостей (DI)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920240"/>
            <a:ext cx="3474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ЗАЧЕМ:
Компоненты не создают
зависимости самостоятельно.
Упрощает тестирование.
КАК:
FastAPI Depends() создаёт сессию БД
и текущего пользователя
для каждого запроса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1584" y="4023360"/>
            <a:ext cx="3511296" cy="221284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93024" y="4096512"/>
            <a:ext cx="3401568" cy="2084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5B4FC"/>
                </a:solidFill>
                <a:latin typeface="Calibri"/>
              </a:rPr>
              <a:t>@router.get('/history')
async def history(
  db = Depends(get_db),
  user = Depends(get_current_user)
):
  return await CheckRepository(db)
           .get_by_user(user['user_id'])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0350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54864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UML-диаграммы проекта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273962" y="658368"/>
            <a:ext cx="11914990" cy="608979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204" y="659220"/>
            <a:ext cx="108021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 err="1">
                <a:solidFill>
                  <a:srgbClr val="4F46E5"/>
                </a:solidFill>
                <a:latin typeface="Calibri"/>
              </a:rPr>
              <a:t>Диаграмма</a:t>
            </a:r>
            <a:r>
              <a:rPr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4F46E5"/>
                </a:solidFill>
                <a:latin typeface="Calibri"/>
              </a:rPr>
              <a:t>вариантов</a:t>
            </a:r>
            <a:r>
              <a:rPr b="1" i="0" dirty="0">
                <a:solidFill>
                  <a:srgbClr val="4F46E5"/>
                </a:solidFill>
                <a:latin typeface="Calibri"/>
              </a:rPr>
              <a:t> </a:t>
            </a:r>
            <a:r>
              <a:rPr b="1" i="0" dirty="0" err="1">
                <a:solidFill>
                  <a:srgbClr val="4F46E5"/>
                </a:solidFill>
                <a:latin typeface="Calibri"/>
              </a:rPr>
              <a:t>использования</a:t>
            </a:r>
            <a:endParaRPr b="1" i="0" dirty="0">
              <a:solidFill>
                <a:srgbClr val="4F46E5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" y="658368"/>
            <a:ext cx="129336" cy="608979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5457" y="1179762"/>
            <a:ext cx="2912914" cy="822997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4854" y="1345335"/>
            <a:ext cx="998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1" dirty="0">
                <a:solidFill>
                  <a:srgbClr val="4F46E5"/>
                </a:solidFill>
                <a:latin typeface="Calibri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0767" y="1329650"/>
            <a:ext cx="199857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dirty="0">
                <a:solidFill>
                  <a:srgbClr val="1E293B"/>
                </a:solidFill>
                <a:latin typeface="Calibri"/>
              </a:rPr>
              <a:t>в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ариантов</a:t>
            </a:r>
            <a:r>
              <a:rPr lang="ru-RU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использования</a:t>
            </a:r>
            <a:endParaRPr sz="14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11403" y="3275982"/>
            <a:ext cx="2912914" cy="822997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2184" y="3416578"/>
            <a:ext cx="998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4F46E5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699" y="3541167"/>
            <a:ext cx="21165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400" dirty="0">
                <a:solidFill>
                  <a:srgbClr val="1E293B"/>
                </a:solidFill>
                <a:latin typeface="Calibri"/>
              </a:rPr>
              <a:t>а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ктор</a:t>
            </a:r>
            <a:r>
              <a:rPr lang="ru-RU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(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преподаватель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2412" y="2230968"/>
            <a:ext cx="2912914" cy="822997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4080" y="2362445"/>
            <a:ext cx="9987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 dirty="0">
                <a:solidFill>
                  <a:srgbClr val="4F46E5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9476" y="2483465"/>
            <a:ext cx="15812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 err="1">
                <a:solidFill>
                  <a:srgbClr val="1E293B"/>
                </a:solidFill>
                <a:latin typeface="Calibri"/>
              </a:rPr>
              <a:t>разделов</a:t>
            </a:r>
            <a:endParaRPr sz="1400" b="0" i="0" dirty="0">
              <a:solidFill>
                <a:srgbClr val="1E293B"/>
              </a:solidFill>
              <a:latin typeface="Calibri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ADF22E81-354A-DB38-2DDF-6A5EECD08F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6" t="2272" r="-212"/>
          <a:stretch>
            <a:fillRect/>
          </a:stretch>
        </p:blipFill>
        <p:spPr>
          <a:xfrm>
            <a:off x="3429000" y="972983"/>
            <a:ext cx="8745892" cy="557267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-1" y="0"/>
            <a:ext cx="1218882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2ACDE3-A956-A929-9F09-39141B7DA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353" y="491550"/>
            <a:ext cx="9828860" cy="623744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7160" y="91440"/>
            <a:ext cx="11495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rgbClr val="7C3AED"/>
                </a:solidFill>
                <a:latin typeface="Calibri"/>
              </a:rPr>
              <a:t>Диаграмма</a:t>
            </a:r>
            <a:r>
              <a:rPr sz="2000" b="1" i="0" dirty="0">
                <a:solidFill>
                  <a:srgbClr val="7C3AED"/>
                </a:solidFill>
                <a:latin typeface="Calibri"/>
              </a:rPr>
              <a:t> </a:t>
            </a:r>
            <a:r>
              <a:rPr sz="2000" b="1" i="0" dirty="0" err="1">
                <a:solidFill>
                  <a:srgbClr val="7C3AED"/>
                </a:solidFill>
                <a:latin typeface="Calibri"/>
              </a:rPr>
              <a:t>классов</a:t>
            </a:r>
            <a:endParaRPr sz="2000" b="1" i="0" dirty="0">
              <a:solidFill>
                <a:srgbClr val="7C3AED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37634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634" y="626519"/>
            <a:ext cx="11594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93B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OCRStrategy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lang="ru-RU" sz="1400" dirty="0">
                <a:solidFill>
                  <a:srgbClr val="1E293B"/>
                </a:solidFill>
                <a:latin typeface="Calibri"/>
              </a:rPr>
              <a:t>-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абстрактный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класс</a:t>
            </a:r>
            <a:endParaRPr lang="ru-RU" sz="1400" b="0" i="0" dirty="0">
              <a:solidFill>
                <a:srgbClr val="1E293B"/>
              </a:solidFill>
              <a:latin typeface="Calibri"/>
            </a:endParaRPr>
          </a:p>
          <a:p>
            <a:pPr algn="l"/>
            <a:r>
              <a:rPr sz="1400" b="0" i="0" dirty="0">
                <a:solidFill>
                  <a:srgbClr val="1E293B"/>
                </a:solidFill>
                <a:latin typeface="Calibri"/>
              </a:rPr>
              <a:t> (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контракт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12" y="1365183"/>
            <a:ext cx="115942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E293B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PaddleStrategy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,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TesseractStrategy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–</a:t>
            </a:r>
          </a:p>
          <a:p>
            <a:pPr algn="l"/>
            <a:r>
              <a:rPr lang="ru-RU" sz="1400" dirty="0">
                <a:solidFill>
                  <a:srgbClr val="1E293B"/>
                </a:solidFill>
                <a:latin typeface="Calibri"/>
              </a:rPr>
              <a:t>     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реализации</a:t>
            </a:r>
            <a:endParaRPr sz="140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130" y="2167116"/>
            <a:ext cx="2492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HybridOCR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◆→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OCRStrategy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</a:t>
            </a:r>
            <a:endParaRPr lang="ru-RU" sz="1400" b="0" i="0" dirty="0">
              <a:solidFill>
                <a:srgbClr val="1E293B"/>
              </a:solidFill>
              <a:latin typeface="Calibri"/>
            </a:endParaRPr>
          </a:p>
          <a:p>
            <a:pPr algn="l"/>
            <a:r>
              <a:rPr lang="ru-RU" sz="1400" dirty="0">
                <a:solidFill>
                  <a:srgbClr val="1E293B"/>
                </a:solidFill>
                <a:latin typeface="Calibri"/>
              </a:rPr>
              <a:t>     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(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композиция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30" y="2753360"/>
            <a:ext cx="2492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E293B"/>
                </a:solidFill>
                <a:latin typeface="Calibri"/>
              </a:rPr>
              <a:t>▸ 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CheckService</a:t>
            </a:r>
            <a:r>
              <a:rPr sz="1400" b="0" i="0" dirty="0">
                <a:solidFill>
                  <a:srgbClr val="1E293B"/>
                </a:solidFill>
                <a:latin typeface="Calibri"/>
              </a:rPr>
              <a:t> → </a:t>
            </a:r>
            <a:r>
              <a:rPr sz="1400" b="0" i="0" dirty="0" err="1">
                <a:solidFill>
                  <a:srgbClr val="1E293B"/>
                </a:solidFill>
                <a:latin typeface="Calibri"/>
              </a:rPr>
              <a:t>LLMService</a:t>
            </a:r>
            <a:r>
              <a:rPr lang="ru-RU" sz="1400" b="0" i="0" dirty="0">
                <a:solidFill>
                  <a:srgbClr val="1E293B"/>
                </a:solidFill>
                <a:latin typeface="Calibri"/>
              </a:rPr>
              <a:t>,</a:t>
            </a:r>
            <a:r>
              <a:rPr lang="ru-RU" sz="1400" dirty="0">
                <a:solidFill>
                  <a:srgbClr val="1E293B"/>
                </a:solidFill>
                <a:latin typeface="Calibri"/>
              </a:rPr>
              <a:t> </a:t>
            </a:r>
            <a:r>
              <a:rPr lang="en-US" sz="1400" b="0" i="0" dirty="0" err="1">
                <a:solidFill>
                  <a:srgbClr val="1E293B"/>
                </a:solidFill>
                <a:latin typeface="Calibri"/>
              </a:rPr>
              <a:t>FunctionRepo</a:t>
            </a:r>
            <a:endParaRPr lang="en-US" sz="1400" b="0" i="0" dirty="0">
              <a:solidFill>
                <a:srgbClr val="1E293B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3822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Структура проекта: монорепозиторий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E0E7FF"/>
                </a:solidFill>
                <a:latin typeface="Calibri"/>
              </a:rPr>
              <a:t>Две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независимые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части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в 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одном</a:t>
            </a:r>
            <a:r>
              <a:rPr sz="1300" b="0" i="0" dirty="0">
                <a:solidFill>
                  <a:srgbClr val="E0E7FF"/>
                </a:solidFill>
                <a:latin typeface="Calibri"/>
              </a:rPr>
              <a:t> git-</a:t>
            </a:r>
            <a:r>
              <a:rPr sz="1300" b="0" i="0" dirty="0" err="1">
                <a:solidFill>
                  <a:srgbClr val="E0E7FF"/>
                </a:solidFill>
                <a:latin typeface="Calibri"/>
              </a:rPr>
              <a:t>репозитории</a:t>
            </a:r>
            <a:endParaRPr sz="13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4754880" cy="53035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46E5"/>
                </a:solidFill>
                <a:latin typeface="Calibri"/>
              </a:rPr>
              <a:t>russian-handwriting-checker-new/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</a:rPr>
              <a:t>├── frontend/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293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766E"/>
                </a:solidFill>
                <a:latin typeface="Calibri"/>
              </a:rPr>
              <a:t>│   ├── src/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854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├── pages/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4414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├── components/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6974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├── context/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535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├── api.ts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0954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│   └── types.ts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46557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└── package.json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216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Calibri"/>
              </a:rPr>
              <a:t>├── python-service/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977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C3AED"/>
                </a:solidFill>
                <a:latin typeface="Calibri"/>
              </a:rPr>
              <a:t>│   └── src/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33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api/routes/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48970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services/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4573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repositories/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017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models/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285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├── strategies/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5138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│       └── converters/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698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Calibri"/>
              </a:rPr>
              <a:t>├── docker-compose.yml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0258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  <a:latin typeface="Calibri"/>
              </a:rPr>
              <a:t>└── .env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1298448"/>
            <a:ext cx="6610004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94960" y="1298448"/>
            <a:ext cx="6610004" cy="635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394960" y="1298448"/>
            <a:ext cx="111718" cy="12618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541264" y="1371600"/>
            <a:ext cx="62003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frontend/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1755648"/>
            <a:ext cx="620037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React + TypeScript + Vite
Только UI, нет бизнес-логики
Статика, собирается в dist/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60" y="2688336"/>
            <a:ext cx="6610004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394960" y="2688336"/>
            <a:ext cx="6610004" cy="6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94960" y="2688336"/>
            <a:ext cx="111718" cy="12618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541264" y="2761488"/>
            <a:ext cx="62003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Calibri"/>
              </a:rPr>
              <a:t>python-service/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1264" y="3145536"/>
            <a:ext cx="620037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4748B"/>
                </a:solidFill>
                <a:latin typeface="Calibri"/>
              </a:rPr>
              <a:t>FastAPI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+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SQLAlchemy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lang="en-US" sz="1100" b="0" i="0" dirty="0">
                <a:solidFill>
                  <a:srgbClr val="64748B"/>
                </a:solidFill>
                <a:latin typeface="Calibri"/>
              </a:rPr>
              <a:t>O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CR + LLM +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авторизация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Вся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бизнес-логика</a:t>
            </a:r>
            <a:r>
              <a:rPr sz="110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4748B"/>
                </a:solidFill>
                <a:latin typeface="Calibri"/>
              </a:rPr>
              <a:t>здесь</a:t>
            </a:r>
            <a:endParaRPr sz="1100" b="0" i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384951" y="4160520"/>
            <a:ext cx="6610004" cy="12618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84951" y="4160520"/>
            <a:ext cx="6610004" cy="635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5384951" y="4160520"/>
            <a:ext cx="111718" cy="12618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531255" y="4233672"/>
            <a:ext cx="62003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Calibri"/>
              </a:rPr>
              <a:t>.env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1255" y="4617720"/>
            <a:ext cx="620037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DATABASE_URL, Supabase keys
Ollama URL и модель
Безопасно: не входит в git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791456"/>
            <a:ext cx="12188952" cy="2066544"/>
          </a:xfrm>
          <a:prstGeom prst="rect">
            <a:avLst/>
          </a:prstGeom>
          <a:solidFill>
            <a:srgbClr val="382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Результаты работы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05840"/>
            <a:ext cx="9144000" cy="2540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261872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435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Гибридный OCR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544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PaddleOCR + Tesseract, автовыбор лучшего результата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70432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261872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2435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Документы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55448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MarkItDown: PDF, DOCX, PPTX, TXT с сохранением структуры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11680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59" y="2084832"/>
            <a:ext cx="307655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5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типов</a:t>
            </a:r>
            <a:r>
              <a:rPr lang="ru-RU" sz="13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проверки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51560" y="23957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E0E7FF"/>
                </a:solidFill>
                <a:latin typeface="Calibri"/>
              </a:rPr>
              <a:t>Орфография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, ОГЭ 9.3, ЕГЭ,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итоговое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сочинение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свободная</a:t>
            </a:r>
            <a:endParaRPr sz="11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09360" y="2011680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0848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Стриминг SSE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395728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Ответ ИИ появляется в реальном времени, не надо ждать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52928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2944368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59" y="2926080"/>
            <a:ext cx="236634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JWT-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авторизация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51560" y="3236976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  <a:latin typeface="Calibri"/>
              </a:rPr>
              <a:t>Supabase Auth, изоляция данных по user_id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852928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0" y="2944368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👨‍🎓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926080"/>
            <a:ext cx="195752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Calibri"/>
              </a:rPr>
              <a:t>Управление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данными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58000" y="3236976"/>
            <a:ext cx="489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E0E7FF"/>
                </a:solidFill>
                <a:latin typeface="Calibri"/>
              </a:rPr>
              <a:t>Ученики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группы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папки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история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lang="ru-RU" sz="1100" dirty="0">
                <a:solidFill>
                  <a:srgbClr val="E0E7FF"/>
                </a:solidFill>
                <a:latin typeface="Calibri"/>
              </a:rPr>
              <a:t>, фильтрация</a:t>
            </a:r>
            <a:endParaRPr sz="11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3694176"/>
            <a:ext cx="5577840" cy="713232"/>
          </a:xfrm>
          <a:prstGeom prst="rect">
            <a:avLst/>
          </a:prstGeom>
          <a:solidFill>
            <a:srgbClr val="3B3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785616"/>
            <a:ext cx="411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E293B"/>
                </a:solidFill>
                <a:latin typeface="Calibri"/>
              </a:rP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767328"/>
            <a:ext cx="2148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  <a:latin typeface="Calibri"/>
              </a:rPr>
              <a:t>Галерея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функций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" y="4078224"/>
            <a:ext cx="4892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E0E7FF"/>
                </a:solidFill>
                <a:latin typeface="Calibri"/>
              </a:rPr>
              <a:t>Публикация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копирование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,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версионирование</a:t>
            </a:r>
            <a:r>
              <a:rPr sz="1100" b="0" i="0" dirty="0">
                <a:solidFill>
                  <a:srgbClr val="E0E7FF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E0E7FF"/>
                </a:solidFill>
                <a:latin typeface="Calibri"/>
              </a:rPr>
              <a:t>промптов</a:t>
            </a:r>
            <a:r>
              <a:rPr lang="en-US" sz="1100" dirty="0">
                <a:solidFill>
                  <a:srgbClr val="E0E7FF"/>
                </a:solidFill>
                <a:latin typeface="Calibri"/>
              </a:rPr>
              <a:t>,</a:t>
            </a:r>
            <a:r>
              <a:rPr lang="ru-RU" sz="1100" dirty="0">
                <a:solidFill>
                  <a:srgbClr val="E0E7FF"/>
                </a:solidFill>
                <a:latin typeface="Calibri"/>
              </a:rPr>
              <a:t> удаление версий</a:t>
            </a:r>
            <a:endParaRPr sz="1100" b="0" i="0" dirty="0">
              <a:solidFill>
                <a:srgbClr val="E0E7FF"/>
              </a:solidFill>
              <a:latin typeface="Calibr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517844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 err="1">
                <a:solidFill>
                  <a:srgbClr val="C7D2FE"/>
                </a:solidFill>
                <a:latin typeface="Calibri"/>
              </a:rPr>
              <a:t>Спасибо</a:t>
            </a:r>
            <a:r>
              <a:rPr sz="2200" b="1" i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C7D2FE"/>
                </a:solidFill>
                <a:latin typeface="Calibri"/>
              </a:rPr>
              <a:t>за</a:t>
            </a:r>
            <a:r>
              <a:rPr sz="2200" b="1" i="0" dirty="0">
                <a:solidFill>
                  <a:srgbClr val="C7D2FE"/>
                </a:solidFill>
                <a:latin typeface="Calibri"/>
              </a:rPr>
              <a:t> </a:t>
            </a:r>
            <a:r>
              <a:rPr sz="2200" b="1" i="0" dirty="0" err="1">
                <a:solidFill>
                  <a:srgbClr val="C7D2FE"/>
                </a:solidFill>
                <a:latin typeface="Calibri"/>
              </a:rPr>
              <a:t>внимание</a:t>
            </a:r>
            <a:r>
              <a:rPr sz="2200" b="1" i="0" dirty="0">
                <a:solidFill>
                  <a:srgbClr val="C7D2FE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1754</TotalTime>
  <Words>3136</Words>
  <Application>Microsoft Office PowerPoint</Application>
  <PresentationFormat>Произвольный</PresentationFormat>
  <Paragraphs>488</Paragraphs>
  <Slides>22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14</cp:revision>
  <dcterms:created xsi:type="dcterms:W3CDTF">2013-01-27T09:14:16Z</dcterms:created>
  <dcterms:modified xsi:type="dcterms:W3CDTF">2026-05-15T00:41:21Z</dcterms:modified>
  <cp:category/>
</cp:coreProperties>
</file>