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7" r:id="rId17"/>
    <p:sldId id="271" r:id="rId18"/>
    <p:sldId id="272" r:id="rId19"/>
    <p:sldId id="273" r:id="rId20"/>
    <p:sldId id="276" r:id="rId21"/>
    <p:sldId id="274" r:id="rId22"/>
    <p:sldId id="275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8" d="100"/>
          <a:sy n="88" d="100"/>
        </p:scale>
        <p:origin x="224" y="1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13870C-EB3B-4BEF-A41D-BA5B6A204416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205D05-FEBD-4ADB-A485-F121C0A06D5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5712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205D05-FEBD-4ADB-A485-F121C0A06D52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9819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205D05-FEBD-4ADB-A485-F121C0A06D52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92995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846320"/>
            <a:ext cx="12188952" cy="2011680"/>
          </a:xfrm>
          <a:prstGeom prst="rect">
            <a:avLst/>
          </a:prstGeom>
          <a:solidFill>
            <a:srgbClr val="382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РусЯзык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0E7FF"/>
                </a:solidFill>
                <a:latin typeface="Calibri"/>
              </a:rPr>
              <a:t>Веб-приложение для автоматической проверки письменных работ учеников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0E7FF"/>
                </a:solidFill>
                <a:latin typeface="Calibri"/>
              </a:rPr>
              <a:t>с использованием OCR и искусственного интеллекта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91440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>
                <a:solidFill>
                  <a:srgbClr val="C7D2FE"/>
                </a:solidFill>
                <a:latin typeface="Calibri"/>
              </a:rPr>
              <a:t>Дипломный проект</a:t>
            </a:r>
          </a:p>
          <a:p>
            <a:pPr algn="l">
              <a:lnSpc>
                <a:spcPts val="2200"/>
              </a:lnSpc>
            </a:pPr>
            <a:r>
              <a:rPr sz="1500" b="0">
                <a:solidFill>
                  <a:srgbClr val="C7D2FE"/>
                </a:solidFill>
                <a:latin typeface="Calibri"/>
              </a:rPr>
              <a:t>Специальность: Разработка программного обеспечения</a:t>
            </a:r>
          </a:p>
          <a:p>
            <a:pPr algn="l">
              <a:lnSpc>
                <a:spcPts val="2200"/>
              </a:lnSpc>
            </a:pPr>
            <a:r>
              <a:rPr sz="1500" b="0">
                <a:solidFill>
                  <a:srgbClr val="C7D2FE"/>
                </a:solidFill>
                <a:latin typeface="Calibri"/>
              </a:rPr>
              <a:t>2026 год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29200"/>
            <a:ext cx="2560320" cy="1463040"/>
          </a:xfrm>
          <a:prstGeom prst="rect">
            <a:avLst/>
          </a:prstGeom>
          <a:solidFill>
            <a:srgbClr val="382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5148072"/>
            <a:ext cx="502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1E293B"/>
                </a:solidFill>
              </a:rPr>
              <a:t>✏️</a:t>
            </a:r>
            <a:endParaRPr sz="28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43000" y="5148072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OCR
рукописей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5029200"/>
            <a:ext cx="2560320" cy="1463040"/>
          </a:xfrm>
          <a:prstGeom prst="rect">
            <a:avLst/>
          </a:prstGeom>
          <a:solidFill>
            <a:srgbClr val="382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29000" y="51206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E293B"/>
                </a:solidFill>
                <a:latin typeface="Calibri"/>
              </a:rPr>
              <a:t>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5148072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ИИ
проверка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5029200"/>
            <a:ext cx="2560320" cy="1463040"/>
          </a:xfrm>
          <a:prstGeom prst="rect">
            <a:avLst/>
          </a:prstGeom>
          <a:solidFill>
            <a:srgbClr val="382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51206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E293B"/>
                </a:solidFill>
                <a:latin typeface="Calibri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5148072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ОГЭ / ЕГЭ
критерии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5029200"/>
            <a:ext cx="2560320" cy="1463040"/>
          </a:xfrm>
          <a:prstGeom prst="rect">
            <a:avLst/>
          </a:prstGeom>
          <a:solidFill>
            <a:srgbClr val="382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98280" y="51206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E293B"/>
                </a:solidFill>
                <a:latin typeface="Calibri"/>
              </a:rPr>
              <a:t>👨‍🏫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5148072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Управление
учениками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Постановка проблемы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868680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 err="1">
                <a:solidFill>
                  <a:srgbClr val="4F46E5"/>
                </a:solidFill>
                <a:latin typeface="Calibri"/>
              </a:rPr>
              <a:t>Учитель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русского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языка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тратит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10–15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минут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на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проверку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одной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работы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.
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При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классе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из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30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учеников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—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это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5–7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часов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только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на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одну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волну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работ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40280"/>
            <a:ext cx="26517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2240280"/>
            <a:ext cx="2651760" cy="76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E293B"/>
                </a:solidFill>
                <a:latin typeface="Calibri"/>
              </a:rPr>
              <a:t>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F46E5"/>
                </a:solidFill>
                <a:latin typeface="Calibri"/>
              </a:rPr>
              <a:t>Прочитать
рукописный
почерк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240280"/>
            <a:ext cx="26517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83280" y="2240280"/>
            <a:ext cx="2651760" cy="76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23774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E293B"/>
                </a:solidFill>
                <a:latin typeface="Calibri"/>
              </a:rPr>
              <a:t>✏️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97180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C3AED"/>
                </a:solidFill>
                <a:latin typeface="Calibri"/>
              </a:rPr>
              <a:t>Найти каждую
ошибку и
объяснить её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240280"/>
            <a:ext cx="26517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2240280"/>
            <a:ext cx="2651760" cy="76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E293B"/>
                </a:solidFill>
                <a:latin typeface="Calibri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7180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766E"/>
                </a:solidFill>
                <a:latin typeface="Calibri"/>
              </a:rPr>
              <a:t>Оценить по
критериям
ОГЭ / ЕГЭ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2240280"/>
            <a:ext cx="26517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235440" y="2240280"/>
            <a:ext cx="2651760" cy="76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26880" y="23774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E293B"/>
                </a:solidFill>
                <a:latin typeface="Calibri"/>
              </a:rPr>
              <a:t>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971800"/>
            <a:ext cx="24688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400" b="1" i="0" dirty="0">
                <a:solidFill>
                  <a:srgbClr val="D97706"/>
                </a:solidFill>
                <a:latin typeface="Calibri"/>
              </a:rPr>
              <a:t>Внешние и человеческие факторы могут замедлять работу</a:t>
            </a:r>
            <a:endParaRPr sz="1400" b="1" i="0" dirty="0">
              <a:solidFill>
                <a:srgbClr val="D97706"/>
              </a:solidFill>
              <a:latin typeface="Calibr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0" y="5394960"/>
            <a:ext cx="12188952" cy="146304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553212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Цель проекта: автоматизировать рутинную часть проверки, чтобы учитель мог
сосредоточиться на живом взаимодействии с учеником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Цель и задачи проекта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69492"/>
            <a:ext cx="11247120" cy="749808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69492"/>
            <a:ext cx="76200" cy="7498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3609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F46E5"/>
                </a:solidFill>
                <a:latin typeface="Calibri"/>
              </a:rPr>
              <a:t>ЦЕЛЬ: разработать веб-приложение для автоматической проверки рукописных и печатных работ учеников по русскому языку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" y="2615184"/>
            <a:ext cx="356616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93192" y="2615184"/>
            <a:ext cx="3566160" cy="76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93192" y="2615184"/>
            <a:ext cx="54864" cy="138988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2706624"/>
            <a:ext cx="3364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F46E5"/>
                </a:solidFill>
                <a:latin typeface="Calibri"/>
              </a:rPr>
              <a:t>Распознавание текста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63824"/>
            <a:ext cx="33649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Рукописные фото → HybridOCR
PDF/DOCX/PPTX → MarkItDown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2615184"/>
            <a:ext cx="356616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60520" y="2615184"/>
            <a:ext cx="3566160" cy="76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615184"/>
            <a:ext cx="54864" cy="13898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2706624"/>
            <a:ext cx="3364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  <a:latin typeface="Calibri"/>
              </a:rPr>
              <a:t>Проверка по критериям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163824"/>
            <a:ext cx="33649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ОГЭ, ЕГЭ, итоговое сочинение,
орфография, свободная проверка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7848" y="2615184"/>
            <a:ext cx="356616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27848" y="2615184"/>
            <a:ext cx="3566160" cy="76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27848" y="2615184"/>
            <a:ext cx="54864" cy="138988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65008" y="2706624"/>
            <a:ext cx="3364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  <a:latin typeface="Calibri"/>
              </a:rPr>
              <a:t>Стриминг в реальном времени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3163824"/>
            <a:ext cx="33649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Ответ ИИ появляется
по мере генерации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3192" y="4169664"/>
            <a:ext cx="356616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93192" y="4169664"/>
            <a:ext cx="3566160" cy="76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93192" y="4169664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30352" y="4261104"/>
            <a:ext cx="3364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97706"/>
                </a:solidFill>
                <a:latin typeface="Calibri"/>
              </a:rPr>
              <a:t>История и статистика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4718304"/>
            <a:ext cx="33649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Хранение всех проверок,
поиск и фильтрация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4169664"/>
            <a:ext cx="356616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60520" y="4169664"/>
            <a:ext cx="3566160" cy="76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60520" y="416966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97680" y="4261104"/>
            <a:ext cx="3364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Управление учениками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4718304"/>
            <a:ext cx="33649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База учеников, группы (классы),
привязка работ к ученику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7848" y="4169664"/>
            <a:ext cx="356616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927848" y="4169664"/>
            <a:ext cx="3566160" cy="76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927848" y="4169664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65008" y="4261104"/>
            <a:ext cx="3364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Calibri"/>
              </a:rPr>
              <a:t>Галерея функций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5008" y="4718304"/>
            <a:ext cx="33649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Создать, опубликовать,
скопировать, версионировать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Анализ конкурентов</a:t>
            </a:r>
          </a:p>
        </p:txBody>
      </p:sp>
      <p:sp>
        <p:nvSpPr>
          <p:cNvPr id="75" name="Rectangle 3">
            <a:extLst>
              <a:ext uri="{FF2B5EF4-FFF2-40B4-BE49-F238E27FC236}">
                <a16:creationId xmlns:a16="http://schemas.microsoft.com/office/drawing/2014/main" id="{3F5F0857-2DBF-2E65-D40E-B7291D101ADC}"/>
              </a:ext>
            </a:extLst>
          </p:cNvPr>
          <p:cNvSpPr/>
          <p:nvPr/>
        </p:nvSpPr>
        <p:spPr>
          <a:xfrm>
            <a:off x="682172" y="1421999"/>
            <a:ext cx="2514600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0850586-7BE3-2CF6-30A4-A9D170499A0D}"/>
              </a:ext>
            </a:extLst>
          </p:cNvPr>
          <p:cNvSpPr txBox="1"/>
          <p:nvPr/>
        </p:nvSpPr>
        <p:spPr>
          <a:xfrm>
            <a:off x="755324" y="1458575"/>
            <a:ext cx="24231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Решение</a:t>
            </a:r>
          </a:p>
        </p:txBody>
      </p:sp>
      <p:sp>
        <p:nvSpPr>
          <p:cNvPr id="77" name="Rectangle 5">
            <a:extLst>
              <a:ext uri="{FF2B5EF4-FFF2-40B4-BE49-F238E27FC236}">
                <a16:creationId xmlns:a16="http://schemas.microsoft.com/office/drawing/2014/main" id="{486999DB-C9EC-3DCE-1D1D-8BE7F681D5FE}"/>
              </a:ext>
            </a:extLst>
          </p:cNvPr>
          <p:cNvSpPr/>
          <p:nvPr/>
        </p:nvSpPr>
        <p:spPr>
          <a:xfrm>
            <a:off x="3288212" y="1421999"/>
            <a:ext cx="1874520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D03C53-AAE6-17EE-831A-B0AA7A7788F6}"/>
              </a:ext>
            </a:extLst>
          </p:cNvPr>
          <p:cNvSpPr txBox="1"/>
          <p:nvPr/>
        </p:nvSpPr>
        <p:spPr>
          <a:xfrm>
            <a:off x="3361364" y="1458575"/>
            <a:ext cx="1783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Распознавание
рукописей</a:t>
            </a:r>
          </a:p>
        </p:txBody>
      </p:sp>
      <p:sp>
        <p:nvSpPr>
          <p:cNvPr id="79" name="Rectangle 7">
            <a:extLst>
              <a:ext uri="{FF2B5EF4-FFF2-40B4-BE49-F238E27FC236}">
                <a16:creationId xmlns:a16="http://schemas.microsoft.com/office/drawing/2014/main" id="{63DBAF3F-CB5A-58A7-0CEE-6C7C48B4DD9D}"/>
              </a:ext>
            </a:extLst>
          </p:cNvPr>
          <p:cNvSpPr/>
          <p:nvPr/>
        </p:nvSpPr>
        <p:spPr>
          <a:xfrm>
            <a:off x="5254172" y="1421999"/>
            <a:ext cx="1874520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A311BA7-FC7E-93FE-1A72-A2016A574305}"/>
              </a:ext>
            </a:extLst>
          </p:cNvPr>
          <p:cNvSpPr txBox="1"/>
          <p:nvPr/>
        </p:nvSpPr>
        <p:spPr>
          <a:xfrm>
            <a:off x="5327324" y="1458575"/>
            <a:ext cx="1783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Критерии
ОГЭ/ЕГЭ</a:t>
            </a:r>
          </a:p>
        </p:txBody>
      </p:sp>
      <p:sp>
        <p:nvSpPr>
          <p:cNvPr id="81" name="Rectangle 9">
            <a:extLst>
              <a:ext uri="{FF2B5EF4-FFF2-40B4-BE49-F238E27FC236}">
                <a16:creationId xmlns:a16="http://schemas.microsoft.com/office/drawing/2014/main" id="{4AC7408F-AC6F-9EDF-BF3F-D566BA93A6F4}"/>
              </a:ext>
            </a:extLst>
          </p:cNvPr>
          <p:cNvSpPr/>
          <p:nvPr/>
        </p:nvSpPr>
        <p:spPr>
          <a:xfrm>
            <a:off x="7220132" y="1421999"/>
            <a:ext cx="1874520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D3BC5CA-0E89-B5DF-7700-76588E1B559B}"/>
              </a:ext>
            </a:extLst>
          </p:cNvPr>
          <p:cNvSpPr txBox="1"/>
          <p:nvPr/>
        </p:nvSpPr>
        <p:spPr>
          <a:xfrm>
            <a:off x="7293284" y="1458575"/>
            <a:ext cx="1783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История
и ученики</a:t>
            </a:r>
          </a:p>
        </p:txBody>
      </p:sp>
      <p:sp>
        <p:nvSpPr>
          <p:cNvPr id="83" name="Rectangle 11">
            <a:extLst>
              <a:ext uri="{FF2B5EF4-FFF2-40B4-BE49-F238E27FC236}">
                <a16:creationId xmlns:a16="http://schemas.microsoft.com/office/drawing/2014/main" id="{51E041EF-C653-0DB0-4128-F019C819424C}"/>
              </a:ext>
            </a:extLst>
          </p:cNvPr>
          <p:cNvSpPr/>
          <p:nvPr/>
        </p:nvSpPr>
        <p:spPr>
          <a:xfrm>
            <a:off x="9186092" y="1421999"/>
            <a:ext cx="1874520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85BB1EA-8503-EC67-EED4-E234B9478F8D}"/>
              </a:ext>
            </a:extLst>
          </p:cNvPr>
          <p:cNvSpPr txBox="1"/>
          <p:nvPr/>
        </p:nvSpPr>
        <p:spPr>
          <a:xfrm>
            <a:off x="9259244" y="1458575"/>
            <a:ext cx="1783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Свои
функции</a:t>
            </a:r>
          </a:p>
        </p:txBody>
      </p:sp>
      <p:sp>
        <p:nvSpPr>
          <p:cNvPr id="85" name="Rectangle 13">
            <a:extLst>
              <a:ext uri="{FF2B5EF4-FFF2-40B4-BE49-F238E27FC236}">
                <a16:creationId xmlns:a16="http://schemas.microsoft.com/office/drawing/2014/main" id="{ABC5D2D7-CB16-E215-023D-F887F9C418CF}"/>
              </a:ext>
            </a:extLst>
          </p:cNvPr>
          <p:cNvSpPr/>
          <p:nvPr/>
        </p:nvSpPr>
        <p:spPr>
          <a:xfrm>
            <a:off x="682172" y="2107799"/>
            <a:ext cx="2514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DC6D7B9-573F-E055-E22B-32B85CC4B1AA}"/>
              </a:ext>
            </a:extLst>
          </p:cNvPr>
          <p:cNvSpPr txBox="1"/>
          <p:nvPr/>
        </p:nvSpPr>
        <p:spPr>
          <a:xfrm>
            <a:off x="773612" y="2244959"/>
            <a:ext cx="24231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1E1B4B"/>
                </a:solidFill>
                <a:latin typeface="Calibri"/>
              </a:rPr>
              <a:t>Яндекс.Спеллер</a:t>
            </a:r>
          </a:p>
        </p:txBody>
      </p:sp>
      <p:sp>
        <p:nvSpPr>
          <p:cNvPr id="87" name="Rectangle 15">
            <a:extLst>
              <a:ext uri="{FF2B5EF4-FFF2-40B4-BE49-F238E27FC236}">
                <a16:creationId xmlns:a16="http://schemas.microsoft.com/office/drawing/2014/main" id="{E23C34D6-2464-7CDB-AAFE-BA566D1DC8F1}"/>
              </a:ext>
            </a:extLst>
          </p:cNvPr>
          <p:cNvSpPr/>
          <p:nvPr/>
        </p:nvSpPr>
        <p:spPr>
          <a:xfrm>
            <a:off x="3288212" y="2107799"/>
            <a:ext cx="18745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973FBB8-C835-11D1-31D4-EE5DB269C11A}"/>
              </a:ext>
            </a:extLst>
          </p:cNvPr>
          <p:cNvSpPr txBox="1"/>
          <p:nvPr/>
        </p:nvSpPr>
        <p:spPr>
          <a:xfrm>
            <a:off x="3379652" y="224495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89" name="Rectangle 17">
            <a:extLst>
              <a:ext uri="{FF2B5EF4-FFF2-40B4-BE49-F238E27FC236}">
                <a16:creationId xmlns:a16="http://schemas.microsoft.com/office/drawing/2014/main" id="{BD7F0FF3-7CC1-231B-78A9-2779B069FA31}"/>
              </a:ext>
            </a:extLst>
          </p:cNvPr>
          <p:cNvSpPr/>
          <p:nvPr/>
        </p:nvSpPr>
        <p:spPr>
          <a:xfrm>
            <a:off x="5254172" y="2107799"/>
            <a:ext cx="18745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DEA891B-5404-86E1-082F-2167594CCF06}"/>
              </a:ext>
            </a:extLst>
          </p:cNvPr>
          <p:cNvSpPr txBox="1"/>
          <p:nvPr/>
        </p:nvSpPr>
        <p:spPr>
          <a:xfrm>
            <a:off x="5345612" y="224495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91" name="Rectangle 19">
            <a:extLst>
              <a:ext uri="{FF2B5EF4-FFF2-40B4-BE49-F238E27FC236}">
                <a16:creationId xmlns:a16="http://schemas.microsoft.com/office/drawing/2014/main" id="{2E1311BA-E20F-7F49-1767-393668A181EB}"/>
              </a:ext>
            </a:extLst>
          </p:cNvPr>
          <p:cNvSpPr/>
          <p:nvPr/>
        </p:nvSpPr>
        <p:spPr>
          <a:xfrm>
            <a:off x="7220132" y="2107799"/>
            <a:ext cx="18745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C5765B-9F8E-2C29-40DD-ED383A9BE2FE}"/>
              </a:ext>
            </a:extLst>
          </p:cNvPr>
          <p:cNvSpPr txBox="1"/>
          <p:nvPr/>
        </p:nvSpPr>
        <p:spPr>
          <a:xfrm>
            <a:off x="7311572" y="224495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93" name="Rectangle 21">
            <a:extLst>
              <a:ext uri="{FF2B5EF4-FFF2-40B4-BE49-F238E27FC236}">
                <a16:creationId xmlns:a16="http://schemas.microsoft.com/office/drawing/2014/main" id="{D27E89C4-2EEB-681A-9A34-E6127059C10F}"/>
              </a:ext>
            </a:extLst>
          </p:cNvPr>
          <p:cNvSpPr/>
          <p:nvPr/>
        </p:nvSpPr>
        <p:spPr>
          <a:xfrm>
            <a:off x="9186092" y="2107799"/>
            <a:ext cx="18745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4B2B0A9-3A65-13B9-6CE8-5DD2E55777C8}"/>
              </a:ext>
            </a:extLst>
          </p:cNvPr>
          <p:cNvSpPr txBox="1"/>
          <p:nvPr/>
        </p:nvSpPr>
        <p:spPr>
          <a:xfrm>
            <a:off x="9277532" y="224495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95" name="Rectangle 23">
            <a:extLst>
              <a:ext uri="{FF2B5EF4-FFF2-40B4-BE49-F238E27FC236}">
                <a16:creationId xmlns:a16="http://schemas.microsoft.com/office/drawing/2014/main" id="{02824801-489F-8E8D-548F-23C7DEB238F9}"/>
              </a:ext>
            </a:extLst>
          </p:cNvPr>
          <p:cNvSpPr/>
          <p:nvPr/>
        </p:nvSpPr>
        <p:spPr>
          <a:xfrm>
            <a:off x="682172" y="2885039"/>
            <a:ext cx="251460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45A167E-6456-026F-E100-D1C58A83832F}"/>
              </a:ext>
            </a:extLst>
          </p:cNvPr>
          <p:cNvSpPr txBox="1"/>
          <p:nvPr/>
        </p:nvSpPr>
        <p:spPr>
          <a:xfrm>
            <a:off x="773612" y="3022199"/>
            <a:ext cx="24231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1E1B4B"/>
                </a:solidFill>
                <a:latin typeface="Calibri"/>
              </a:rPr>
              <a:t>Грамота.ру</a:t>
            </a:r>
          </a:p>
        </p:txBody>
      </p:sp>
      <p:sp>
        <p:nvSpPr>
          <p:cNvPr id="97" name="Rectangle 25">
            <a:extLst>
              <a:ext uri="{FF2B5EF4-FFF2-40B4-BE49-F238E27FC236}">
                <a16:creationId xmlns:a16="http://schemas.microsoft.com/office/drawing/2014/main" id="{048E0EC0-C024-434D-627A-17A7BF64B7BC}"/>
              </a:ext>
            </a:extLst>
          </p:cNvPr>
          <p:cNvSpPr/>
          <p:nvPr/>
        </p:nvSpPr>
        <p:spPr>
          <a:xfrm>
            <a:off x="3288212" y="2885039"/>
            <a:ext cx="187452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92644CD-588F-33C9-B72D-2BD7110DEB86}"/>
              </a:ext>
            </a:extLst>
          </p:cNvPr>
          <p:cNvSpPr txBox="1"/>
          <p:nvPr/>
        </p:nvSpPr>
        <p:spPr>
          <a:xfrm>
            <a:off x="3379652" y="302219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99" name="Rectangle 27">
            <a:extLst>
              <a:ext uri="{FF2B5EF4-FFF2-40B4-BE49-F238E27FC236}">
                <a16:creationId xmlns:a16="http://schemas.microsoft.com/office/drawing/2014/main" id="{505151C8-11E8-239C-B6BC-FEAB4C2DF98B}"/>
              </a:ext>
            </a:extLst>
          </p:cNvPr>
          <p:cNvSpPr/>
          <p:nvPr/>
        </p:nvSpPr>
        <p:spPr>
          <a:xfrm>
            <a:off x="5254172" y="2885039"/>
            <a:ext cx="187452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343FD7-78D3-9508-C5CE-4FFFF7E1CA61}"/>
              </a:ext>
            </a:extLst>
          </p:cNvPr>
          <p:cNvSpPr txBox="1"/>
          <p:nvPr/>
        </p:nvSpPr>
        <p:spPr>
          <a:xfrm>
            <a:off x="5345612" y="302219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101" name="Rectangle 29">
            <a:extLst>
              <a:ext uri="{FF2B5EF4-FFF2-40B4-BE49-F238E27FC236}">
                <a16:creationId xmlns:a16="http://schemas.microsoft.com/office/drawing/2014/main" id="{0210338B-A54A-8E77-749E-C74924810D04}"/>
              </a:ext>
            </a:extLst>
          </p:cNvPr>
          <p:cNvSpPr/>
          <p:nvPr/>
        </p:nvSpPr>
        <p:spPr>
          <a:xfrm>
            <a:off x="7220132" y="2885039"/>
            <a:ext cx="187452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DEA4F14-EB6F-66B1-D089-27C31D1D9A3D}"/>
              </a:ext>
            </a:extLst>
          </p:cNvPr>
          <p:cNvSpPr txBox="1"/>
          <p:nvPr/>
        </p:nvSpPr>
        <p:spPr>
          <a:xfrm>
            <a:off x="7311572" y="302219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103" name="Rectangle 31">
            <a:extLst>
              <a:ext uri="{FF2B5EF4-FFF2-40B4-BE49-F238E27FC236}">
                <a16:creationId xmlns:a16="http://schemas.microsoft.com/office/drawing/2014/main" id="{7FDFFF92-26C7-C1C6-BBF5-B260BB30A989}"/>
              </a:ext>
            </a:extLst>
          </p:cNvPr>
          <p:cNvSpPr/>
          <p:nvPr/>
        </p:nvSpPr>
        <p:spPr>
          <a:xfrm>
            <a:off x="9186092" y="2885039"/>
            <a:ext cx="187452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4750EDC-A43F-ADF7-4F3A-317F8890E247}"/>
              </a:ext>
            </a:extLst>
          </p:cNvPr>
          <p:cNvSpPr txBox="1"/>
          <p:nvPr/>
        </p:nvSpPr>
        <p:spPr>
          <a:xfrm>
            <a:off x="9277532" y="302219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105" name="Rectangle 33">
            <a:extLst>
              <a:ext uri="{FF2B5EF4-FFF2-40B4-BE49-F238E27FC236}">
                <a16:creationId xmlns:a16="http://schemas.microsoft.com/office/drawing/2014/main" id="{95D8F8C2-20AA-0B18-143C-25C4B699E6FD}"/>
              </a:ext>
            </a:extLst>
          </p:cNvPr>
          <p:cNvSpPr/>
          <p:nvPr/>
        </p:nvSpPr>
        <p:spPr>
          <a:xfrm>
            <a:off x="682172" y="3662279"/>
            <a:ext cx="2514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F4AF1E4-3A6B-1D67-4D31-A2A5E65C511D}"/>
              </a:ext>
            </a:extLst>
          </p:cNvPr>
          <p:cNvSpPr txBox="1"/>
          <p:nvPr/>
        </p:nvSpPr>
        <p:spPr>
          <a:xfrm>
            <a:off x="773612" y="3799439"/>
            <a:ext cx="24231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500" dirty="0">
                <a:solidFill>
                  <a:srgbClr val="1E1B4B"/>
                </a:solidFill>
                <a:latin typeface="Calibri"/>
              </a:rPr>
              <a:t>Repet.ai</a:t>
            </a:r>
            <a:endParaRPr sz="1500" b="0" i="0" dirty="0">
              <a:solidFill>
                <a:srgbClr val="1E1B4B"/>
              </a:solidFill>
              <a:latin typeface="Calibri"/>
            </a:endParaRPr>
          </a:p>
        </p:txBody>
      </p:sp>
      <p:sp>
        <p:nvSpPr>
          <p:cNvPr id="107" name="Rectangle 35">
            <a:extLst>
              <a:ext uri="{FF2B5EF4-FFF2-40B4-BE49-F238E27FC236}">
                <a16:creationId xmlns:a16="http://schemas.microsoft.com/office/drawing/2014/main" id="{A994BEDD-1CB3-A4CC-ACF2-6558BB585C78}"/>
              </a:ext>
            </a:extLst>
          </p:cNvPr>
          <p:cNvSpPr/>
          <p:nvPr/>
        </p:nvSpPr>
        <p:spPr>
          <a:xfrm>
            <a:off x="3288212" y="3662279"/>
            <a:ext cx="18745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37">
            <a:extLst>
              <a:ext uri="{FF2B5EF4-FFF2-40B4-BE49-F238E27FC236}">
                <a16:creationId xmlns:a16="http://schemas.microsoft.com/office/drawing/2014/main" id="{DE5202B9-14E1-4FBB-4DAF-C2DD39ABD86D}"/>
              </a:ext>
            </a:extLst>
          </p:cNvPr>
          <p:cNvSpPr/>
          <p:nvPr/>
        </p:nvSpPr>
        <p:spPr>
          <a:xfrm>
            <a:off x="5254172" y="3662279"/>
            <a:ext cx="18745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39">
            <a:extLst>
              <a:ext uri="{FF2B5EF4-FFF2-40B4-BE49-F238E27FC236}">
                <a16:creationId xmlns:a16="http://schemas.microsoft.com/office/drawing/2014/main" id="{24B383D9-3917-BA9A-18AB-5424388BA750}"/>
              </a:ext>
            </a:extLst>
          </p:cNvPr>
          <p:cNvSpPr/>
          <p:nvPr/>
        </p:nvSpPr>
        <p:spPr>
          <a:xfrm>
            <a:off x="7220132" y="3662279"/>
            <a:ext cx="18745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D9B0BFBC-47DF-5D9E-0DA9-465DBDCC319E}"/>
              </a:ext>
            </a:extLst>
          </p:cNvPr>
          <p:cNvSpPr txBox="1"/>
          <p:nvPr/>
        </p:nvSpPr>
        <p:spPr>
          <a:xfrm>
            <a:off x="7311572" y="379943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111" name="Rectangle 41">
            <a:extLst>
              <a:ext uri="{FF2B5EF4-FFF2-40B4-BE49-F238E27FC236}">
                <a16:creationId xmlns:a16="http://schemas.microsoft.com/office/drawing/2014/main" id="{FE4FB0C8-25D0-7B7D-0FC4-9E2157488B30}"/>
              </a:ext>
            </a:extLst>
          </p:cNvPr>
          <p:cNvSpPr/>
          <p:nvPr/>
        </p:nvSpPr>
        <p:spPr>
          <a:xfrm>
            <a:off x="9186092" y="3662279"/>
            <a:ext cx="18745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4921F01-E930-A9CD-D194-9252697F4113}"/>
              </a:ext>
            </a:extLst>
          </p:cNvPr>
          <p:cNvSpPr txBox="1"/>
          <p:nvPr/>
        </p:nvSpPr>
        <p:spPr>
          <a:xfrm>
            <a:off x="9277532" y="379943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113" name="Rectangle 43">
            <a:extLst>
              <a:ext uri="{FF2B5EF4-FFF2-40B4-BE49-F238E27FC236}">
                <a16:creationId xmlns:a16="http://schemas.microsoft.com/office/drawing/2014/main" id="{16C077C9-7DD5-CCCA-C88F-FC4AE2CB612F}"/>
              </a:ext>
            </a:extLst>
          </p:cNvPr>
          <p:cNvSpPr/>
          <p:nvPr/>
        </p:nvSpPr>
        <p:spPr>
          <a:xfrm>
            <a:off x="682172" y="4439519"/>
            <a:ext cx="251460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9384794-3054-566E-863E-25ED1BC0A8B3}"/>
              </a:ext>
            </a:extLst>
          </p:cNvPr>
          <p:cNvSpPr txBox="1"/>
          <p:nvPr/>
        </p:nvSpPr>
        <p:spPr>
          <a:xfrm>
            <a:off x="773612" y="4576679"/>
            <a:ext cx="24231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 dirty="0">
                <a:solidFill>
                  <a:srgbClr val="1E1B4B"/>
                </a:solidFill>
                <a:latin typeface="Calibri"/>
              </a:rPr>
              <a:t>ChatGPT</a:t>
            </a:r>
            <a:endParaRPr lang="ru-RU" sz="1500" b="0" i="0" dirty="0">
              <a:solidFill>
                <a:srgbClr val="1E1B4B"/>
              </a:solidFill>
              <a:latin typeface="Calibri"/>
            </a:endParaRPr>
          </a:p>
        </p:txBody>
      </p:sp>
      <p:sp>
        <p:nvSpPr>
          <p:cNvPr id="115" name="Rectangle 45">
            <a:extLst>
              <a:ext uri="{FF2B5EF4-FFF2-40B4-BE49-F238E27FC236}">
                <a16:creationId xmlns:a16="http://schemas.microsoft.com/office/drawing/2014/main" id="{CD39189D-5613-33C5-BBE0-C0F82D2243AD}"/>
              </a:ext>
            </a:extLst>
          </p:cNvPr>
          <p:cNvSpPr/>
          <p:nvPr/>
        </p:nvSpPr>
        <p:spPr>
          <a:xfrm>
            <a:off x="3288212" y="4439519"/>
            <a:ext cx="187452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47">
            <a:extLst>
              <a:ext uri="{FF2B5EF4-FFF2-40B4-BE49-F238E27FC236}">
                <a16:creationId xmlns:a16="http://schemas.microsoft.com/office/drawing/2014/main" id="{11BF58B7-2D7E-7A13-AA8A-ACEC7561060E}"/>
              </a:ext>
            </a:extLst>
          </p:cNvPr>
          <p:cNvSpPr/>
          <p:nvPr/>
        </p:nvSpPr>
        <p:spPr>
          <a:xfrm>
            <a:off x="5254172" y="4439519"/>
            <a:ext cx="187452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7F0402F-E3B8-AB71-EE66-54CEC07B07B8}"/>
              </a:ext>
            </a:extLst>
          </p:cNvPr>
          <p:cNvSpPr txBox="1"/>
          <p:nvPr/>
        </p:nvSpPr>
        <p:spPr>
          <a:xfrm>
            <a:off x="5345612" y="457667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 err="1">
                <a:solidFill>
                  <a:srgbClr val="D97706"/>
                </a:solidFill>
                <a:latin typeface="Calibri"/>
              </a:rPr>
              <a:t>частично</a:t>
            </a:r>
            <a:endParaRPr sz="1800" b="0" i="0" dirty="0">
              <a:solidFill>
                <a:srgbClr val="D97706"/>
              </a:solidFill>
              <a:latin typeface="Calibri"/>
            </a:endParaRPr>
          </a:p>
        </p:txBody>
      </p:sp>
      <p:sp>
        <p:nvSpPr>
          <p:cNvPr id="118" name="Rectangle 49">
            <a:extLst>
              <a:ext uri="{FF2B5EF4-FFF2-40B4-BE49-F238E27FC236}">
                <a16:creationId xmlns:a16="http://schemas.microsoft.com/office/drawing/2014/main" id="{B761C886-164D-C4CC-8D8A-012E5A06DE07}"/>
              </a:ext>
            </a:extLst>
          </p:cNvPr>
          <p:cNvSpPr/>
          <p:nvPr/>
        </p:nvSpPr>
        <p:spPr>
          <a:xfrm>
            <a:off x="7220132" y="4439519"/>
            <a:ext cx="187452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51">
            <a:extLst>
              <a:ext uri="{FF2B5EF4-FFF2-40B4-BE49-F238E27FC236}">
                <a16:creationId xmlns:a16="http://schemas.microsoft.com/office/drawing/2014/main" id="{3198E8C6-CFEE-1502-F70E-BE26996222C5}"/>
              </a:ext>
            </a:extLst>
          </p:cNvPr>
          <p:cNvSpPr/>
          <p:nvPr/>
        </p:nvSpPr>
        <p:spPr>
          <a:xfrm>
            <a:off x="9186092" y="4439519"/>
            <a:ext cx="187452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53">
            <a:extLst>
              <a:ext uri="{FF2B5EF4-FFF2-40B4-BE49-F238E27FC236}">
                <a16:creationId xmlns:a16="http://schemas.microsoft.com/office/drawing/2014/main" id="{2933536D-E313-7D0D-CB5F-F5D3B1FA92DA}"/>
              </a:ext>
            </a:extLst>
          </p:cNvPr>
          <p:cNvSpPr/>
          <p:nvPr/>
        </p:nvSpPr>
        <p:spPr>
          <a:xfrm>
            <a:off x="682172" y="5216759"/>
            <a:ext cx="2514600" cy="713232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C4CF8DD2-D1DB-E54C-A07F-1F1BF9AEC8CA}"/>
              </a:ext>
            </a:extLst>
          </p:cNvPr>
          <p:cNvSpPr txBox="1"/>
          <p:nvPr/>
        </p:nvSpPr>
        <p:spPr>
          <a:xfrm>
            <a:off x="773612" y="5353919"/>
            <a:ext cx="24231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4F46E5"/>
                </a:solidFill>
                <a:latin typeface="Calibri"/>
              </a:rPr>
              <a:t>РусЯзык AI ★</a:t>
            </a:r>
          </a:p>
        </p:txBody>
      </p:sp>
      <p:sp>
        <p:nvSpPr>
          <p:cNvPr id="123" name="Rectangle 55">
            <a:extLst>
              <a:ext uri="{FF2B5EF4-FFF2-40B4-BE49-F238E27FC236}">
                <a16:creationId xmlns:a16="http://schemas.microsoft.com/office/drawing/2014/main" id="{3973CC8A-055F-DB2D-9311-1956FEF6CF98}"/>
              </a:ext>
            </a:extLst>
          </p:cNvPr>
          <p:cNvSpPr/>
          <p:nvPr/>
        </p:nvSpPr>
        <p:spPr>
          <a:xfrm>
            <a:off x="3288212" y="5216759"/>
            <a:ext cx="1874520" cy="713232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4E053D9C-ED81-DD95-72E6-88C8FE1B26E3}"/>
              </a:ext>
            </a:extLst>
          </p:cNvPr>
          <p:cNvSpPr txBox="1"/>
          <p:nvPr/>
        </p:nvSpPr>
        <p:spPr>
          <a:xfrm>
            <a:off x="3379652" y="535391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25" name="Rectangle 57">
            <a:extLst>
              <a:ext uri="{FF2B5EF4-FFF2-40B4-BE49-F238E27FC236}">
                <a16:creationId xmlns:a16="http://schemas.microsoft.com/office/drawing/2014/main" id="{2BD39D47-5625-F169-EE20-EDFB80A60C79}"/>
              </a:ext>
            </a:extLst>
          </p:cNvPr>
          <p:cNvSpPr/>
          <p:nvPr/>
        </p:nvSpPr>
        <p:spPr>
          <a:xfrm>
            <a:off x="5254172" y="5216759"/>
            <a:ext cx="1874520" cy="713232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0C267E7A-2DDB-4911-A49A-4F9FE92E7C65}"/>
              </a:ext>
            </a:extLst>
          </p:cNvPr>
          <p:cNvSpPr txBox="1"/>
          <p:nvPr/>
        </p:nvSpPr>
        <p:spPr>
          <a:xfrm>
            <a:off x="5345612" y="535391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27" name="Rectangle 59">
            <a:extLst>
              <a:ext uri="{FF2B5EF4-FFF2-40B4-BE49-F238E27FC236}">
                <a16:creationId xmlns:a16="http://schemas.microsoft.com/office/drawing/2014/main" id="{88E22A06-9786-171F-EEA0-388AF1D0B5B0}"/>
              </a:ext>
            </a:extLst>
          </p:cNvPr>
          <p:cNvSpPr/>
          <p:nvPr/>
        </p:nvSpPr>
        <p:spPr>
          <a:xfrm>
            <a:off x="7220132" y="5216759"/>
            <a:ext cx="1874520" cy="713232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3302E0F-7B27-503A-F71A-E9530E471D19}"/>
              </a:ext>
            </a:extLst>
          </p:cNvPr>
          <p:cNvSpPr txBox="1"/>
          <p:nvPr/>
        </p:nvSpPr>
        <p:spPr>
          <a:xfrm>
            <a:off x="7311572" y="535391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29" name="Rectangle 61">
            <a:extLst>
              <a:ext uri="{FF2B5EF4-FFF2-40B4-BE49-F238E27FC236}">
                <a16:creationId xmlns:a16="http://schemas.microsoft.com/office/drawing/2014/main" id="{3566E971-A2E6-0F43-EB32-2E1C468B7BDC}"/>
              </a:ext>
            </a:extLst>
          </p:cNvPr>
          <p:cNvSpPr/>
          <p:nvPr/>
        </p:nvSpPr>
        <p:spPr>
          <a:xfrm>
            <a:off x="9186092" y="5216759"/>
            <a:ext cx="1874520" cy="713232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D3BCC896-7CAE-A930-E14B-7530BB104AF4}"/>
              </a:ext>
            </a:extLst>
          </p:cNvPr>
          <p:cNvSpPr txBox="1"/>
          <p:nvPr/>
        </p:nvSpPr>
        <p:spPr>
          <a:xfrm>
            <a:off x="9277532" y="535391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2722D4E-BB19-CEF8-C72E-EC70877A4053}"/>
              </a:ext>
            </a:extLst>
          </p:cNvPr>
          <p:cNvSpPr txBox="1"/>
          <p:nvPr/>
        </p:nvSpPr>
        <p:spPr>
          <a:xfrm>
            <a:off x="3379652" y="3790295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D0A5D2C-AD40-89AD-F605-C8568416B1C3}"/>
              </a:ext>
            </a:extLst>
          </p:cNvPr>
          <p:cNvSpPr txBox="1"/>
          <p:nvPr/>
        </p:nvSpPr>
        <p:spPr>
          <a:xfrm>
            <a:off x="5299892" y="379943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DD0A8472-EDD1-9566-E50F-19756806B5D3}"/>
              </a:ext>
            </a:extLst>
          </p:cNvPr>
          <p:cNvSpPr txBox="1"/>
          <p:nvPr/>
        </p:nvSpPr>
        <p:spPr>
          <a:xfrm>
            <a:off x="7293284" y="4567535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 err="1">
                <a:solidFill>
                  <a:srgbClr val="D97706"/>
                </a:solidFill>
                <a:latin typeface="Calibri"/>
              </a:rPr>
              <a:t>частично</a:t>
            </a:r>
            <a:endParaRPr sz="1800" b="0" i="0" dirty="0">
              <a:solidFill>
                <a:srgbClr val="D97706"/>
              </a:solidFill>
              <a:latin typeface="Calibri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CABF6BBB-40E8-4104-0387-DED853065B87}"/>
              </a:ext>
            </a:extLst>
          </p:cNvPr>
          <p:cNvSpPr txBox="1"/>
          <p:nvPr/>
        </p:nvSpPr>
        <p:spPr>
          <a:xfrm>
            <a:off x="3333932" y="4560825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BC9211B6-EBB6-DA22-4070-3F02156E0947}"/>
              </a:ext>
            </a:extLst>
          </p:cNvPr>
          <p:cNvSpPr txBox="1"/>
          <p:nvPr/>
        </p:nvSpPr>
        <p:spPr>
          <a:xfrm>
            <a:off x="9186092" y="4560825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 err="1">
                <a:solidFill>
                  <a:srgbClr val="D97706"/>
                </a:solidFill>
                <a:latin typeface="Calibri"/>
              </a:rPr>
              <a:t>частично</a:t>
            </a:r>
            <a:endParaRPr sz="1800" b="0" i="0" dirty="0">
              <a:solidFill>
                <a:srgbClr val="D9770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Функциональность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Полный набор инструментов учителя в одном месте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1938528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10896" y="1938528"/>
            <a:ext cx="2697480" cy="76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0624" y="2048256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E293B"/>
                </a:solidFill>
                <a:latin typeface="Calibri"/>
              </a:rPr>
              <a:t>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075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Загрузка файлов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505456"/>
            <a:ext cx="2468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Фото, PDF, DOCX, PPTX, TXT —
любой формат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9544" y="1938528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9544" y="1938528"/>
            <a:ext cx="2697480" cy="76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19272" y="2048256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E293B"/>
                </a:solidFill>
                <a:latin typeface="Calibri"/>
              </a:rPr>
              <a:t>✍️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3904" y="2075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Редактор текста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505456"/>
            <a:ext cx="2468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Tiptap: отредактировать
распознанный текст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8192" y="1938528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08192" y="1938528"/>
            <a:ext cx="2697480" cy="76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0" y="2048256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E293B"/>
                </a:solidFill>
                <a:latin typeface="Calibri"/>
              </a:rP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2552" y="2075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  <a:latin typeface="Calibri"/>
              </a:rPr>
              <a:t>ИИ-проверка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2505456"/>
            <a:ext cx="2468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Стриминг результата —
появляется в реальном времени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1938528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06840" y="1938528"/>
            <a:ext cx="2697480" cy="76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16568" y="2048256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E293B"/>
                </a:solidFill>
                <a:latin typeface="Calibri"/>
              </a:rPr>
              <a:t>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075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Сохранение работ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505456"/>
            <a:ext cx="2468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Привязка к ученику, папке,
дате и оценке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" y="3657600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10896" y="3657600"/>
            <a:ext cx="2697480" cy="76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0624" y="376732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E293B"/>
                </a:solidFill>
                <a:latin typeface="Calibri"/>
              </a:rPr>
              <a:t>👨‍🎓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" y="3794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База учеников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" y="4224528"/>
            <a:ext cx="2468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Список, группы, статистика
по каждому ученику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9544" y="3657600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9544" y="3657600"/>
            <a:ext cx="2697480" cy="76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19272" y="376732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E293B"/>
                </a:solidFill>
                <a:latin typeface="Calibri"/>
              </a:rPr>
              <a:t>⚙️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03904" y="3794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/>
              </a:rPr>
              <a:t>Функции проверки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6704" y="4224528"/>
            <a:ext cx="2468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Создать, опубликовать
в галерею, копировать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08192" y="3657600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108192" y="3657600"/>
            <a:ext cx="2697480" cy="76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17920" y="376732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E293B"/>
                </a:solidFill>
                <a:latin typeface="Calibri"/>
              </a:rPr>
              <a:t>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2552" y="3794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Папки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2" y="4224528"/>
            <a:ext cx="2468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Организовать работы
по темам или классам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06840" y="3657600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9006840" y="3657600"/>
            <a:ext cx="2697480" cy="76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16568" y="376732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E293B"/>
                </a:solidFill>
                <a:latin typeface="Calibri"/>
              </a:rPr>
              <a:t>🖨️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3794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Печать отчёта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4224528"/>
            <a:ext cx="2468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HTML-отчёт прямо
из браузера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Типы проверки: встроенные функции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E0E7FF"/>
                </a:solidFill>
                <a:latin typeface="Calibri"/>
              </a:rPr>
              <a:t>5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функций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готовы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сразу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после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запуска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системы</a:t>
            </a:r>
            <a:endParaRPr sz="1300" b="0" i="0" dirty="0">
              <a:solidFill>
                <a:srgbClr val="E0E7FF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1214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121408" cy="1016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121408" cy="13716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54480"/>
            <a:ext cx="19385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Орфография
и пунктуация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880360"/>
            <a:ext cx="193852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Ошибки с объяснением
Оценка 0–5
Общий комментарий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07208" y="1371600"/>
            <a:ext cx="21214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07208" y="1371600"/>
            <a:ext cx="2121408" cy="10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07208" y="1371600"/>
            <a:ext cx="2121408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16936" y="1554480"/>
            <a:ext cx="19385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Сочинение
ОГЭ 9.3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6936" y="2880360"/>
            <a:ext cx="193852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8 критериев:
СК1–СК4 (содержание)
ГК1–ГК4 (грамотность)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57216" y="1371600"/>
            <a:ext cx="21214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157216" y="1371600"/>
            <a:ext cx="2121408" cy="101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157216" y="1371600"/>
            <a:ext cx="2121408" cy="1371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66944" y="1554480"/>
            <a:ext cx="19385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Сочинение
ЕГЭ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6944" y="2880360"/>
            <a:ext cx="193852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12 критериев К1–К12
по нормам ФИПИ
Сумма баллов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07224" y="1371600"/>
            <a:ext cx="21214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507224" y="1371600"/>
            <a:ext cx="2121408" cy="101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507224" y="1371600"/>
            <a:ext cx="2121408" cy="1371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16952" y="1554480"/>
            <a:ext cx="19385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Итоговое
сочинение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16952" y="2880360"/>
            <a:ext cx="193852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5 критериев К1–К5
Зачёт / незачёт
Допуск к ЕГЭ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57232" y="1371600"/>
            <a:ext cx="21214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857232" y="1371600"/>
            <a:ext cx="2121408" cy="101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857232" y="1371600"/>
            <a:ext cx="2121408" cy="1371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66960" y="1554480"/>
            <a:ext cx="19385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Свободная
проверка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2880360"/>
            <a:ext cx="193852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Учитель сам
формулирует задание
ИИ его выполняет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852160"/>
            <a:ext cx="11247120" cy="685800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59436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F46E5"/>
                </a:solidFill>
                <a:latin typeface="Calibri"/>
              </a:rPr>
              <a:t>✚  Пользователь может создать собственную функцию, опубликовать в галерею и поделиться с другими учителями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Архитектура системы: трёхуровневая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Разделение ответственности: Routes → Services → Repositories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265176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2651760" cy="65836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298448"/>
            <a:ext cx="50800" cy="50749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3776" y="1389888"/>
            <a:ext cx="24505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ROUTES
(Маршруты)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7568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Принимает HTTP-запрос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60320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Валидирует (Pydantic)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044952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Делегирует сервису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29584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Возвращает JSON / SSE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014216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449884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94A3B8"/>
                </a:solidFill>
                <a:latin typeface="Calibri"/>
              </a:rPr>
              <a:t>auth  /  check  /  upload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983480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functions  /  groups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68112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pupils  /  folders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81753" y="3575304"/>
            <a:ext cx="2011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4F46E5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298448"/>
            <a:ext cx="265176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0" y="1298448"/>
            <a:ext cx="2651760" cy="65836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0" y="1298448"/>
            <a:ext cx="50800" cy="50749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28416" y="1389888"/>
            <a:ext cx="24505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SERVICES
(Бизнес-логика)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207568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CheckService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2560320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  промпт + парсинг 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044952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LLMService — стриминг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3529584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DocumentConverter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4014216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  OCR или MarkItDown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449884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HybridOCR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4983480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  PaddleOCR + Tesseract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33872" y="3584448"/>
            <a:ext cx="2011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4F46E5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1298448"/>
            <a:ext cx="265176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035040" y="1298448"/>
            <a:ext cx="2651760" cy="6583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035040" y="1298448"/>
            <a:ext cx="50800" cy="5074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63056" y="1389888"/>
            <a:ext cx="24505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REPOSITORIES
(Доступ к данным)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207568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CheckRepository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2560320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FunctionRepository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044952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GroupRepository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3529584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PupilRepository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4014216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FolderRepository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449884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72200" y="4983480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SQL скрыт от логики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15400" y="1298448"/>
            <a:ext cx="3063240" cy="411480"/>
          </a:xfrm>
          <a:prstGeom prst="rect">
            <a:avLst/>
          </a:prstGeom>
          <a:solidFill>
            <a:srgbClr val="382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025128" y="1344168"/>
            <a:ext cx="29260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ИНФРАСТРУКТУРА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15400" y="1801368"/>
            <a:ext cx="3063240" cy="1078992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915400" y="1801368"/>
            <a:ext cx="63500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043416" y="189280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🔐  Supabase Auth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43416" y="2304288"/>
            <a:ext cx="2880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JWT-авторизация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15400" y="2944368"/>
            <a:ext cx="3063240" cy="1078992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8915400" y="2944368"/>
            <a:ext cx="63500" cy="10789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043416" y="303580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🗄  PostgreSQL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43416" y="3447288"/>
            <a:ext cx="2880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Supabase + SQLite (dev)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15400" y="4087368"/>
            <a:ext cx="3063240" cy="1078992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915400" y="4087368"/>
            <a:ext cx="63500" cy="10789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043416" y="417880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  <a:latin typeface="Calibri"/>
              </a:rPr>
              <a:t>🤖  Ollama qwen2.5:7b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3416" y="4590288"/>
            <a:ext cx="2880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Локальный LLM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15400" y="5230368"/>
            <a:ext cx="3063240" cy="1078992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8915400" y="5230368"/>
            <a:ext cx="63500" cy="10789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043416" y="532180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🐳  Docker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43416" y="5733288"/>
            <a:ext cx="2880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docker-compose 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Обработка файлов: алгоритм DocumentConverter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Два пути + fallback — единый интерфейс для любого формата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194560" cy="7498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2011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📂  Загруженный
файл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14884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Calibri"/>
              </a:rPr>
              <a:t>↓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87168"/>
            <a:ext cx="2194560" cy="658368"/>
          </a:xfrm>
          <a:prstGeom prst="rect">
            <a:avLst/>
          </a:prstGeom>
          <a:solidFill>
            <a:srgbClr val="382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57860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DocumentConverter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633472"/>
            <a:ext cx="27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371600"/>
            <a:ext cx="3474720" cy="658368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1463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🖼  Изображение: .jpg  .png  .bmp  .tiff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04825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Calibri"/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2395728"/>
            <a:ext cx="3474720" cy="658368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46120" y="24871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75285"/>
                </a:solidFill>
                <a:latin typeface="Calibri"/>
              </a:rPr>
              <a:t>HybridOCR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308152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Calibri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3456431"/>
            <a:ext cx="1691640" cy="777240"/>
          </a:xfrm>
          <a:prstGeom prst="rect">
            <a:avLst/>
          </a:prstGeom>
          <a:solidFill>
            <a:srgbClr val="BAE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00400" y="3529584"/>
            <a:ext cx="1508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75285"/>
                </a:solidFill>
                <a:latin typeface="Calibri"/>
              </a:rPr>
              <a:t>PaddleOCR
2.8.1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0" y="3456431"/>
            <a:ext cx="1691640" cy="777240"/>
          </a:xfrm>
          <a:prstGeom prst="rect">
            <a:avLst/>
          </a:prstGeom>
          <a:solidFill>
            <a:srgbClr val="BAE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0" y="3529584"/>
            <a:ext cx="1508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6457A"/>
                </a:solidFill>
                <a:latin typeface="Calibri"/>
              </a:rPr>
              <a:t>Tesseract
5.x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42519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Calibri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4617720"/>
            <a:ext cx="3474720" cy="56692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46120" y="470916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59669"/>
                </a:solidFill>
                <a:latin typeface="Calibri"/>
              </a:rPr>
              <a:t>score = 0.7×conf + 0.3×text_quality → лучший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3720" y="1371600"/>
            <a:ext cx="3840480" cy="658368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040880" y="146304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📄  Документ: .pdf  .docx  .pptx  .txt  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204825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Calibri"/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03720" y="2395728"/>
            <a:ext cx="3840480" cy="6583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40880" y="2487168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59669"/>
                </a:solidFill>
                <a:latin typeface="Calibri"/>
              </a:rPr>
              <a:t>MarkItDown (Microsoft)
ПDF/DOCX/PPTX → Markdown-текст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08152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Calibri"/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03720" y="3456431"/>
            <a:ext cx="3840480" cy="6583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903720" y="3456431"/>
            <a:ext cx="3840480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40880" y="354787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✓  Текст извлечён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365760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418795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Calibri"/>
              </a:rPr>
              <a:t>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03720" y="4553712"/>
            <a:ext cx="3840480" cy="658368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903720" y="4553712"/>
            <a:ext cx="3840480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040880" y="464515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Fallback → HybridOCR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349240"/>
            <a:ext cx="11247120" cy="6583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57200" y="5349240"/>
            <a:ext cx="6350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" y="5458968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✓  Извлечённый текст → передаётся в языковую модель (LLM) для проверки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Стриминг ответа ИИ в реальном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Server-Sent Events (SSE) — пользователь видит каждый токен сразу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121408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121408" cy="6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75488" y="1499616"/>
            <a:ext cx="347472" cy="3474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Нажата
кнопка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938528"/>
            <a:ext cx="1920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POST /api/check/stream
{text, function_id}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2304" y="246888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8336" y="1371600"/>
            <a:ext cx="2121408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688336" y="1371600"/>
            <a:ext cx="2121408" cy="63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98064" y="1499616"/>
            <a:ext cx="347472" cy="34747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98064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CheckService
формирует промпт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4" y="1938528"/>
            <a:ext cx="1920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system_prompt + user_template
с подставленным текстом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246089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10912" y="1371600"/>
            <a:ext cx="2121408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10912" y="1371600"/>
            <a:ext cx="2121408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120640" y="1499616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20640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LLMService
запрашивает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1938528"/>
            <a:ext cx="1920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openai.AsyncOpenAI
stream=True, timeout=180s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46888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33488" y="1371600"/>
            <a:ext cx="2121408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333488" y="1371600"/>
            <a:ext cx="2121408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443216" y="1499616"/>
            <a:ext cx="34747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43216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Токены →
Server-Sent 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3216" y="1938528"/>
            <a:ext cx="1920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data: {"type":"chunk",
 "text":"..."}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0032" y="246888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56064" y="1371600"/>
            <a:ext cx="2121408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656064" y="1371600"/>
            <a:ext cx="2121408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765792" y="1499616"/>
            <a:ext cx="347472" cy="3474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765792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86416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Браузер
читает поток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1938528"/>
            <a:ext cx="1920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fetch() + ReadableStream
+ TextDecoder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251960"/>
            <a:ext cx="11247120" cy="685800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" y="43616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Без стриминга: пустой экран 30–60 секунд → весь текст сразу
Со стримингом: текст появляется сразу, как при живой печати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74920"/>
            <a:ext cx="11247120" cy="15087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" y="51663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5B4FC"/>
                </a:solidFill>
                <a:latin typeface="Calibri"/>
              </a:rPr>
              <a:t>async def stream_check(text, function_id) -&gt; AsyncIterator[dict]:
    messages = await self._build_messages(text, function_id)   # system + user
    full_text = ''
    async for chunk in self.llm.stream(messages):              # кусочки от LLM
        full_text += chunk
        yield {'type': 'chunk', 'text': chunk}                 # → клиенту сразу
    result = self._build_result(text, self._parse(full_text))
    yield {'type': 'done', 'result': result}                   # финальный 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Алгоритм загрузки и обработки файла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BackgroundTasks FastAPI + polling — клиент не ждёт OCR блокируя соединение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" y="1284732"/>
            <a:ext cx="187451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" y="1284732"/>
            <a:ext cx="1874519" cy="6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82880" y="1412748"/>
            <a:ext cx="347472" cy="3474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2880" y="14127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449324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Пользователь
выбирает файл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" y="1851660"/>
            <a:ext cx="1673351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Drag &amp; drop или диалог
выбора файла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8201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12263" y="1284732"/>
            <a:ext cx="187451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12263" y="1284732"/>
            <a:ext cx="1874519" cy="6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221991" y="1412748"/>
            <a:ext cx="347472" cy="3474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21991" y="14127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2615" y="1449324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POST /api/upload/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21991" y="1851660"/>
            <a:ext cx="167335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64748B"/>
                </a:solidFill>
                <a:latin typeface="Calibri"/>
              </a:rPr>
              <a:t>Файл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сохраняется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в temp/
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Создаётся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task_id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
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Ответ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: {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task_id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,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status:'processing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'}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2774" y="238201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51374" y="1284732"/>
            <a:ext cx="187451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51374" y="1284732"/>
            <a:ext cx="1874519" cy="63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61102" y="1412748"/>
            <a:ext cx="347472" cy="34747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102" y="14127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6" y="1449324"/>
            <a:ext cx="123443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200" b="1" i="0" dirty="0">
                <a:solidFill>
                  <a:srgbClr val="0F766E"/>
                </a:solidFill>
                <a:latin typeface="Calibri"/>
              </a:rPr>
              <a:t>Клиент </a:t>
            </a:r>
            <a:r>
              <a:rPr sz="1200" b="1" i="0" dirty="0" err="1">
                <a:solidFill>
                  <a:srgbClr val="0F766E"/>
                </a:solidFill>
                <a:latin typeface="Calibri"/>
              </a:rPr>
              <a:t>опрашивает</a:t>
            </a:r>
            <a:r>
              <a:rPr sz="1200" b="1" i="0" dirty="0">
                <a:solidFill>
                  <a:srgbClr val="0F766E"/>
                </a:solidFill>
                <a:latin typeface="Calibri"/>
              </a:rPr>
              <a:t>
GET /upload/{</a:t>
            </a:r>
            <a:r>
              <a:rPr sz="1200" b="1" i="0" dirty="0" err="1">
                <a:solidFill>
                  <a:srgbClr val="0F766E"/>
                </a:solidFill>
                <a:latin typeface="Calibri"/>
              </a:rPr>
              <a:t>task_id</a:t>
            </a:r>
            <a:r>
              <a:rPr sz="1200" b="1" i="0" dirty="0">
                <a:solidFill>
                  <a:srgbClr val="0F766E"/>
                </a:solidFill>
                <a:latin typeface="Calibri"/>
              </a:rPr>
              <a:t>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2814" y="2524857"/>
            <a:ext cx="167335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64748B"/>
                </a:solidFill>
                <a:latin typeface="Calibri"/>
              </a:rPr>
              <a:t>Интервал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1.5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сек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.
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Пока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status == 'processing'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597" y="238201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0485" y="1284732"/>
            <a:ext cx="187451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90485" y="1284732"/>
            <a:ext cx="1874519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300213" y="1412748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00213" y="14127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37" y="1408684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7C3AED"/>
                </a:solidFill>
                <a:latin typeface="Calibri"/>
              </a:rPr>
              <a:t>DocumentConverter</a:t>
            </a:r>
            <a:r>
              <a:rPr sz="1200" b="1" i="0" dirty="0">
                <a:solidFill>
                  <a:srgbClr val="7C3AED"/>
                </a:solidFill>
                <a:latin typeface="Calibri"/>
              </a:rPr>
              <a:t>
в </a:t>
            </a:r>
            <a:r>
              <a:rPr sz="1200" b="1" i="0" dirty="0" err="1">
                <a:solidFill>
                  <a:srgbClr val="7C3AED"/>
                </a:solidFill>
                <a:latin typeface="Calibri"/>
              </a:rPr>
              <a:t>фоне</a:t>
            </a:r>
            <a:endParaRPr sz="1200" b="1" i="0" dirty="0">
              <a:solidFill>
                <a:srgbClr val="7C3AED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300213" y="2034540"/>
            <a:ext cx="1673351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64748B"/>
                </a:solidFill>
                <a:latin typeface="Calibri"/>
              </a:rPr>
              <a:t>Определяет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тип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файла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
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HybridOCR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или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MarkItDown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
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Выполняется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параллельно</a:t>
            </a:r>
            <a:endParaRPr sz="100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000996" y="238201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596" y="1291712"/>
            <a:ext cx="187451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29596" y="1284732"/>
            <a:ext cx="1874519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339324" y="1412748"/>
            <a:ext cx="347472" cy="3474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339324" y="14127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9948" y="1449324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status → 'done'
temp-файл удалён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9324" y="2116836"/>
            <a:ext cx="1673351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64748B"/>
                </a:solidFill>
                <a:latin typeface="Calibri"/>
              </a:rPr>
              <a:t>Результат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в tasks[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task_id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]
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Временный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файл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очищен</a:t>
            </a:r>
            <a:endParaRPr sz="100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0040107" y="23886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268707" y="1284732"/>
            <a:ext cx="187451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0268707" y="1284732"/>
            <a:ext cx="1874519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378435" y="1412748"/>
            <a:ext cx="34747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378435" y="14127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99059" y="1449324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Текст вставляется
в редактор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41859" y="2144268"/>
            <a:ext cx="170992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64748B"/>
                </a:solidFill>
                <a:latin typeface="Calibri"/>
              </a:rPr>
              <a:t>editor.commands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.
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setContent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(text)
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Готово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к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проверке</a:t>
            </a:r>
            <a:endParaRPr sz="100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4069080"/>
            <a:ext cx="11247120" cy="96012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57200" y="4069080"/>
            <a:ext cx="63500" cy="9601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85800" y="41605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Calibri"/>
              </a:rPr>
              <a:t>Зачем polling, а не держать соединение открытым?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Calibri"/>
              </a:rPr>
              <a:t>OCR (особенно PaddleOCR) занимает 5–30 секунд. Браузер закрывает HTTP-соединение по таймауту.
Polling: быстрый ответ сразу → периодическая проверка → результат когда готов.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166360"/>
            <a:ext cx="11247120" cy="146304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0080" y="5257800"/>
            <a:ext cx="10972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5B4FC"/>
                </a:solidFill>
                <a:latin typeface="Calibri"/>
              </a:rPr>
              <a:t>@router.post('/')
async def upload(file: UploadFile, background_tasks: BackgroundTasks):
    task_id = str(uuid4())
    path = TEMP_DIR / f'{task_id}_{file.filename}'
    # сохраняем файл
    tasks[task_id] = {'status': 'processing'}
    background_tasks.add_task(ocr_service.process_file, str(path), task_id)
    return {'task_id': task_id, 'status': 'processing'}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Как работает проверка: CheckService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Routes → CheckService → LLMService → parse JSON → highlight errors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1920240" cy="8686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POST
/check/stream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8880" y="1325880"/>
            <a:ext cx="1920240" cy="86868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60320" y="1417320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FunctionRepository
.get(id)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325880"/>
            <a:ext cx="1920240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1417320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_build_messages()
system + user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325880"/>
            <a:ext cx="1920240" cy="8686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66560" y="1417320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LLMService
.stream()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325880"/>
            <a:ext cx="1920240" cy="868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0" y="1417320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_parse()
JSON → 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164592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164592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65941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64592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423160"/>
            <a:ext cx="11247120" cy="34747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2487168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_build_result() — что входит в итоговый ответ: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80360"/>
            <a:ext cx="3566160" cy="841248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2880360"/>
            <a:ext cx="3566160" cy="50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29535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corrected_text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375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Исправленный текст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24528" y="2880360"/>
            <a:ext cx="3566160" cy="84124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24528" y="2880360"/>
            <a:ext cx="3566160" cy="50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61688" y="29535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errors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33375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Список ошибок (JSON-массив)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91856" y="2880360"/>
            <a:ext cx="3566160" cy="841248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91856" y="2880360"/>
            <a:ext cx="3566160" cy="50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29016" y="29535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9016" y="33375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Числовая оценка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849624"/>
            <a:ext cx="3566160" cy="84124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57200" y="3849624"/>
            <a:ext cx="356616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94360" y="392277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criteria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30682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Критерии (ОГЭ/ЕГЭ)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3849624"/>
            <a:ext cx="3566160" cy="841248"/>
          </a:xfrm>
          <a:prstGeom prst="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224528" y="3849624"/>
            <a:ext cx="3566160" cy="508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361688" y="392277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html_highlighted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61688" y="430682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Текст с &lt;span&gt; вокруг ошибок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91856" y="3849624"/>
            <a:ext cx="356616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991856" y="3849624"/>
            <a:ext cx="3566160" cy="508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29016" y="392277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Calibri"/>
              </a:rPr>
              <a:t>comment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29016" y="430682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Общий комментарий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4983480"/>
            <a:ext cx="11247120" cy="1664208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0080" y="5074920"/>
            <a:ext cx="1097280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5B4FC"/>
                </a:solidFill>
                <a:latin typeface="Calibri"/>
              </a:rPr>
              <a:t>def _highlight(self, text: str, errors: list) -&gt; str:
    result = text
    for e in errors:
        original = e.get('original', '')          # слово с ошибкой из JSON
        result = re.sub(
            re.escape(original),                  # экранируем спецсимволы
            f'&lt;span class="error-highlight"&gt;{original}&lt;/span&gt;',
            result, count=1)                      # только первое вхождение
    return result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Функции проверки: создание, публикация, галерея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Каждая функция — это system_prompt + user_template с плейсхолдером {text}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121408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2121408" cy="685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9385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Создание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30552"/>
            <a:ext cx="193852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Учитель пишет system_prompt
(инструкции для ИИ)
и user_template
с {text}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274320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07208" y="1325880"/>
            <a:ext cx="2121408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07208" y="1325880"/>
            <a:ext cx="2121408" cy="6858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16936" y="1417320"/>
            <a:ext cx="19385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Использование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6936" y="2130552"/>
            <a:ext cx="193852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Выбирается в CheckPanel
Текст подставляется
вместо {text}
Отправляется в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8616" y="274320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57216" y="1325880"/>
            <a:ext cx="2121408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157216" y="1325880"/>
            <a:ext cx="2121408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66944" y="1417320"/>
            <a:ext cx="19385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Публикация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2130552"/>
            <a:ext cx="193852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Флаг is_published = True
Функция попадает
в галерею
Другие видят её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624" y="274320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07224" y="1325880"/>
            <a:ext cx="2121408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507224" y="1325880"/>
            <a:ext cx="2121408" cy="685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616952" y="1417320"/>
            <a:ext cx="19385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Версионирование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2" y="2130552"/>
            <a:ext cx="193852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Редактирование уже
опубликованной →
автоматически создаётся
новая версия в function_versions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8632" y="274320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57232" y="1325880"/>
            <a:ext cx="2121408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857232" y="1325880"/>
            <a:ext cx="2121408" cy="685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966960" y="1417320"/>
            <a:ext cx="19385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Копирование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2130552"/>
            <a:ext cx="193852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Другой учитель
нажимает «Скопировать»
POST /functions/{id}/copy
Копия в его библиотеке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663440"/>
            <a:ext cx="5303520" cy="749808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57200" y="4663440"/>
            <a:ext cx="63500" cy="7498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47548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97706"/>
                </a:solidFill>
                <a:latin typeface="Calibri"/>
              </a:rPr>
              <a:t>⚠  is_default = True → нельзя редактировать и удалять
(5 стандартных функций защищены от изменений)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4663440"/>
            <a:ext cx="6126480" cy="1965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26480" y="4754880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5B4FC"/>
                </a:solidFill>
                <a:latin typeface="Calibri"/>
              </a:rPr>
              <a:t># Пример: Проверка орфографии
system_prompt: "Ты — учитель русского языка.
  Верни JSON: {corrected, errors:[{original,
  corrected, type, comment}], score, comment}"
user_template: "Проверь следующий текст:\n\n{text}"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Клиентская часть: компоненты и маршруты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React 19 + TypeScript + Tiptap + Tailwind CSS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3566160" cy="530352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98448"/>
            <a:ext cx="63500" cy="53035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3716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React Router DOM — маршруты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3383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856232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57984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CheckPage  —  Главная страница проверки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24912"/>
            <a:ext cx="3383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770632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/history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72384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HistoryPage  —  История всех проверок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39312"/>
            <a:ext cx="3383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685032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/students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86784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StudentsPage  —  Ученики и группы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53712"/>
            <a:ext cx="3383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599432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/functions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901184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FunctionsPage  —  Мои функции + галерея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468112"/>
            <a:ext cx="3383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5513832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/profile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815584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ProfilePage  —  Профиль и статистика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1298448"/>
            <a:ext cx="7498079" cy="34747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0" y="134416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CheckPage — компоненты главной страницы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737360"/>
            <a:ext cx="1389888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51960" y="1737360"/>
            <a:ext cx="1389888" cy="6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25112" y="180136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F46E5"/>
                </a:solidFill>
                <a:latin typeface="Calibri"/>
              </a:rPr>
              <a:t>UploadForm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25112" y="2212848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Загрузка файла
draq &amp; drop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51576" y="1737360"/>
            <a:ext cx="1389888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751576" y="1737360"/>
            <a:ext cx="1389888" cy="63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824728" y="180136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766E"/>
                </a:solidFill>
                <a:latin typeface="Calibri"/>
              </a:rPr>
              <a:t>TextEditor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4728" y="2212848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TipTap редактор
OCR-текста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51192" y="1737360"/>
            <a:ext cx="1389888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251192" y="1737360"/>
            <a:ext cx="1389888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24344" y="180136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CheckPanel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24344" y="2212848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Выбор функции
и запуск проверки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50808" y="1737360"/>
            <a:ext cx="1389888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750808" y="1737360"/>
            <a:ext cx="1389888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823960" y="180136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StreamingPreview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23960" y="2212848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Стриминг ответа
в реальном времени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250424" y="1737360"/>
            <a:ext cx="1389888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250424" y="1737360"/>
            <a:ext cx="1389888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323576" y="180136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ResultPanel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23576" y="2212848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Результат:
ошибки, оценка,
сохранение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0" y="3401568"/>
            <a:ext cx="7498079" cy="141732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251960" y="3401568"/>
            <a:ext cx="63500" cy="1417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34840" y="3474720"/>
            <a:ext cx="7223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293B"/>
                </a:solidFill>
                <a:latin typeface="Calibri"/>
              </a:rPr>
              <a:t>AuthContext (React Context API)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Calibri"/>
              </a:rPr>
              <a:t>JWT-токен хранится в localStorage.
Axios-перехватчик автоматически добавляет
Authorization: Bearer &lt;token&gt; к каждому запросу.</a:t>
            </a:r>
          </a:p>
          <a:p>
            <a:pPr algn="l"/>
            <a:r>
              <a:rPr sz="1200" b="0">
                <a:solidFill>
                  <a:srgbClr val="1E293B"/>
                </a:solidFill>
                <a:latin typeface="Calibri"/>
              </a:rPr>
              <a:t>При 401 — выход из системы.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51960" y="4956048"/>
            <a:ext cx="7498079" cy="1664208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407408" y="5047488"/>
            <a:ext cx="73152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5B4FC"/>
                </a:solidFill>
                <a:latin typeface="Calibri"/>
              </a:rPr>
              <a:t>// types.ts — все API-ответы строго типизированы
interface CheckRecord { id: string; score: number | null;
  errors: ...; corrected_text?: string; ... }
interface Fn { id: string; name: string; system_prompt?: string; ... }
interface Pupil { id: string; name: string; 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Авторизация: Supabase Auth + JWT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Токен валидируется на бэкенде через supabase.auth.get_user() — без ручного decode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121408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121408" cy="6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75488" y="1499616"/>
            <a:ext cx="347472" cy="3474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Регистрация /
Вход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938528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POST /api/auth/register
или /login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8098" y="238633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8336" y="1371600"/>
            <a:ext cx="2121408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688336" y="1371600"/>
            <a:ext cx="2121408" cy="63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98064" y="1499616"/>
            <a:ext cx="347472" cy="34747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98064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Supabase Auth
выдаёт JWT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4" y="1938528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access_token подписан
supabase_jwt_secret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0674" y="237744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10912" y="1371600"/>
            <a:ext cx="2121408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10912" y="1371600"/>
            <a:ext cx="2121408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120640" y="1499616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20640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Фронтенд
сохраняет токен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1938528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localStorage
.setItem('access_token')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5801" y="238633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33488" y="1371600"/>
            <a:ext cx="2121408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333488" y="1371600"/>
            <a:ext cx="2121408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443216" y="1499616"/>
            <a:ext cx="34747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43216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D97706"/>
                </a:solidFill>
                <a:latin typeface="Calibri"/>
              </a:rPr>
              <a:t>Axios interceptor
</a:t>
            </a:r>
            <a:r>
              <a:rPr sz="1200" b="1" i="0" dirty="0" err="1">
                <a:solidFill>
                  <a:srgbClr val="D97706"/>
                </a:solidFill>
                <a:latin typeface="Calibri"/>
              </a:rPr>
              <a:t>добавляет</a:t>
            </a:r>
            <a:r>
              <a:rPr sz="1200" b="1" i="0" dirty="0">
                <a:solidFill>
                  <a:srgbClr val="D97706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D97706"/>
                </a:solidFill>
                <a:latin typeface="Calibri"/>
              </a:rPr>
              <a:t>заголовок</a:t>
            </a:r>
            <a:endParaRPr sz="1200" b="1" i="0" dirty="0">
              <a:solidFill>
                <a:srgbClr val="D97706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443216" y="2122013"/>
            <a:ext cx="18403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64748B"/>
                </a:solidFill>
                <a:latin typeface="Calibri"/>
              </a:rPr>
              <a:t>Authorization:
Bearer &lt;token&gt;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0831" y="2362103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56064" y="1371600"/>
            <a:ext cx="2121408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656064" y="1371600"/>
            <a:ext cx="2121408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765792" y="1499616"/>
            <a:ext cx="347472" cy="3474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765792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86416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FastAPI
validates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1938528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get_current_user()
→ supabase.auth.get_user()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840480"/>
            <a:ext cx="5486400" cy="278892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0080" y="3931920"/>
            <a:ext cx="5212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5B4FC"/>
                </a:solidFill>
                <a:latin typeface="Calibri"/>
              </a:rPr>
              <a:t>async def get_current_user(
    token: str = Depends(oauth2_scheme),
    db = Depends(get_db)
):
    res = supabase.auth.get_user(token)
    if not res.user:
        raise HTTPException(401)
    return {'user_id': res.user.id,
            'email':   res.user.email}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3840480"/>
            <a:ext cx="5577840" cy="278892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309360" y="3931920"/>
            <a:ext cx="5303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5B4FC"/>
                </a:solidFill>
                <a:latin typeface="Calibri"/>
              </a:rPr>
              <a:t>// api.ts — единственное место с токеном
const api = axios.create({ baseURL: BASE_URL });
api.interceptors.request.use((config) =&gt; {
  const token = localStorage
    .getItem('access_token');
  if (token)
    config.headers.Authorization =
      `Bearer ${token}`;
  return config;
});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База данных: 8 таблиц, PostgreSQL через Supabase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5394960" cy="6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98448"/>
            <a:ext cx="54864" cy="8686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3504" y="13533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user_profiles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700784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user_id (PK), display_name, bio</a:t>
            </a:r>
          </a:p>
        </p:txBody>
      </p:sp>
      <p:sp>
        <p:nvSpPr>
          <p:cNvPr id="9" name="Rectangle 8"/>
          <p:cNvSpPr/>
          <p:nvPr/>
        </p:nvSpPr>
        <p:spPr>
          <a:xfrm>
            <a:off x="2057400" y="1353312"/>
            <a:ext cx="3657600" cy="2926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48840" y="1389888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Профиль учителя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98448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298448"/>
            <a:ext cx="5394960" cy="63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1298448"/>
            <a:ext cx="54864" cy="86868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64224" y="13533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checks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1700784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id, user_id, pupil_id, function_id,
folder_id, errors (JSON),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1353312"/>
            <a:ext cx="3657600" cy="2926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09560" y="1389888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Результаты проверок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276856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2276856"/>
            <a:ext cx="5394960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2276856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3504" y="2331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functions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2679192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id, user_id, name, system_prompt,
user_template, is_default, is_published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2331720"/>
            <a:ext cx="3657600" cy="2926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148840" y="2368296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Функции проверки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276856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17920" y="2276856"/>
            <a:ext cx="5394960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17920" y="2276856"/>
            <a:ext cx="54864" cy="8686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64224" y="2331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function_versions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2679192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id, function_id, version_number,
system_prompt, change_note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2331720"/>
            <a:ext cx="3657600" cy="2926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09560" y="2368296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История версий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255264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3255264"/>
            <a:ext cx="5394960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57200" y="3255264"/>
            <a:ext cx="54864" cy="868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03504" y="33101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pupils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" y="3657600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id, user_id, name
UNIQUE(user_id, name)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57400" y="3310128"/>
            <a:ext cx="3657600" cy="2926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148840" y="3346704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Ученики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3255264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217920" y="3255264"/>
            <a:ext cx="5394960" cy="63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217920" y="3255264"/>
            <a:ext cx="54864" cy="8686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364224" y="33101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groups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64224" y="3657600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id, user_id, name, description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18120" y="3310128"/>
            <a:ext cx="365760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909560" y="3346704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Группы/классы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233672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57200" y="4233672"/>
            <a:ext cx="5394960" cy="635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57200" y="4233672"/>
            <a:ext cx="54864" cy="8686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03504" y="428853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Calibri"/>
              </a:rPr>
              <a:t>pupil_groups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" y="4636008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pupil_id (FK), group_id (FK)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57400" y="4288536"/>
            <a:ext cx="3657600" cy="29260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148840" y="4325112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Ученик ↔ Группа M:M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4233672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217920" y="4233672"/>
            <a:ext cx="5394960" cy="6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217920" y="4233672"/>
            <a:ext cx="54864" cy="8686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64224" y="428853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folders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64224" y="4636008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id, user_id, name, description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18120" y="4288536"/>
            <a:ext cx="3657600" cy="2926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909560" y="4325112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Папки для работ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2064" y="5761228"/>
            <a:ext cx="11247120" cy="749808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40664" y="588975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F46E5"/>
                </a:solidFill>
                <a:latin typeface="Calibri"/>
              </a:rPr>
              <a:t>💡  checks.errors — JSON-колонка: хранит Python-список объектов ошибок напрямую. SQLAlchemy автоматически
сериализует/десериализует. Нет JOIN — все данные проверки читаются одним запросом.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6">
            <a:extLst>
              <a:ext uri="{FF2B5EF4-FFF2-40B4-BE49-F238E27FC236}">
                <a16:creationId xmlns:a16="http://schemas.microsoft.com/office/drawing/2014/main" id="{857E2B07-F7FE-F340-8170-44AC3CEE6E19}"/>
              </a:ext>
            </a:extLst>
          </p:cNvPr>
          <p:cNvSpPr/>
          <p:nvPr/>
        </p:nvSpPr>
        <p:spPr>
          <a:xfrm>
            <a:off x="137634" y="0"/>
            <a:ext cx="1218882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A22E7A-FF84-52DE-8BE1-53309667DF64}"/>
              </a:ext>
            </a:extLst>
          </p:cNvPr>
          <p:cNvSpPr txBox="1"/>
          <p:nvPr/>
        </p:nvSpPr>
        <p:spPr>
          <a:xfrm>
            <a:off x="137160" y="91440"/>
            <a:ext cx="114951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7C3AED"/>
                </a:solidFill>
                <a:latin typeface="Calibri"/>
              </a:rPr>
              <a:t>Диаграмма</a:t>
            </a:r>
            <a:r>
              <a:rPr sz="2000" b="1" i="0" dirty="0">
                <a:solidFill>
                  <a:srgbClr val="7C3AED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7C3AED"/>
                </a:solidFill>
                <a:latin typeface="Calibri"/>
              </a:rPr>
              <a:t>классов</a:t>
            </a:r>
            <a:endParaRPr sz="2000" b="1" i="0" dirty="0">
              <a:solidFill>
                <a:srgbClr val="7C3AED"/>
              </a:solidFill>
              <a:latin typeface="Calibri"/>
            </a:endParaRPr>
          </a:p>
        </p:txBody>
      </p:sp>
      <p:sp>
        <p:nvSpPr>
          <p:cNvPr id="4" name="Rectangle 18">
            <a:extLst>
              <a:ext uri="{FF2B5EF4-FFF2-40B4-BE49-F238E27FC236}">
                <a16:creationId xmlns:a16="http://schemas.microsoft.com/office/drawing/2014/main" id="{E57FFB80-9107-A246-5DF3-F85F39A7AD89}"/>
              </a:ext>
            </a:extLst>
          </p:cNvPr>
          <p:cNvSpPr/>
          <p:nvPr/>
        </p:nvSpPr>
        <p:spPr>
          <a:xfrm>
            <a:off x="0" y="0"/>
            <a:ext cx="137634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63B1F25-4C29-73BA-3AC8-EE92BF399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080" y="0"/>
            <a:ext cx="6104744" cy="6858000"/>
          </a:xfrm>
          <a:prstGeom prst="rect">
            <a:avLst/>
          </a:prstGeom>
        </p:spPr>
      </p:pic>
      <p:sp>
        <p:nvSpPr>
          <p:cNvPr id="12" name="Rectangle 3">
            <a:extLst>
              <a:ext uri="{FF2B5EF4-FFF2-40B4-BE49-F238E27FC236}">
                <a16:creationId xmlns:a16="http://schemas.microsoft.com/office/drawing/2014/main" id="{E0434A77-97CE-BCF4-1251-4B661F54A700}"/>
              </a:ext>
            </a:extLst>
          </p:cNvPr>
          <p:cNvSpPr/>
          <p:nvPr/>
        </p:nvSpPr>
        <p:spPr>
          <a:xfrm>
            <a:off x="288524" y="877824"/>
            <a:ext cx="1676712" cy="457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8E76EB-D7FB-6A33-F0D5-B121E7366DE6}"/>
              </a:ext>
            </a:extLst>
          </p:cNvPr>
          <p:cNvSpPr txBox="1"/>
          <p:nvPr/>
        </p:nvSpPr>
        <p:spPr>
          <a:xfrm>
            <a:off x="379964" y="950976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Таблица</a:t>
            </a:r>
          </a:p>
        </p:txBody>
      </p:sp>
      <p:sp>
        <p:nvSpPr>
          <p:cNvPr id="14" name="Rectangle 5">
            <a:extLst>
              <a:ext uri="{FF2B5EF4-FFF2-40B4-BE49-F238E27FC236}">
                <a16:creationId xmlns:a16="http://schemas.microsoft.com/office/drawing/2014/main" id="{962EE426-C969-F1B4-3287-1291433F7FA0}"/>
              </a:ext>
            </a:extLst>
          </p:cNvPr>
          <p:cNvSpPr/>
          <p:nvPr/>
        </p:nvSpPr>
        <p:spPr>
          <a:xfrm>
            <a:off x="2002267" y="877824"/>
            <a:ext cx="3944178" cy="457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C305FA-3890-0F88-3732-A4119AC282E3}"/>
              </a:ext>
            </a:extLst>
          </p:cNvPr>
          <p:cNvSpPr txBox="1"/>
          <p:nvPr/>
        </p:nvSpPr>
        <p:spPr>
          <a:xfrm>
            <a:off x="2093707" y="960230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16" name="Rectangle 7">
            <a:extLst>
              <a:ext uri="{FF2B5EF4-FFF2-40B4-BE49-F238E27FC236}">
                <a16:creationId xmlns:a16="http://schemas.microsoft.com/office/drawing/2014/main" id="{BD2D50D6-2C71-7C8E-CE77-E55D6AD81C0D}"/>
              </a:ext>
            </a:extLst>
          </p:cNvPr>
          <p:cNvSpPr/>
          <p:nvPr/>
        </p:nvSpPr>
        <p:spPr>
          <a:xfrm>
            <a:off x="288524" y="1380744"/>
            <a:ext cx="1676712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8">
            <a:extLst>
              <a:ext uri="{FF2B5EF4-FFF2-40B4-BE49-F238E27FC236}">
                <a16:creationId xmlns:a16="http://schemas.microsoft.com/office/drawing/2014/main" id="{42D1609C-5622-0DC2-B96E-CC8399BE90C5}"/>
              </a:ext>
            </a:extLst>
          </p:cNvPr>
          <p:cNvSpPr/>
          <p:nvPr/>
        </p:nvSpPr>
        <p:spPr>
          <a:xfrm>
            <a:off x="2002267" y="1380744"/>
            <a:ext cx="3944178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C56D99-2396-ADD6-0747-2CC04BE254A6}"/>
              </a:ext>
            </a:extLst>
          </p:cNvPr>
          <p:cNvSpPr txBox="1"/>
          <p:nvPr/>
        </p:nvSpPr>
        <p:spPr>
          <a:xfrm>
            <a:off x="379964" y="1472184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users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94B6B6-959C-4D22-BFCE-C3033E540A6B}"/>
              </a:ext>
            </a:extLst>
          </p:cNvPr>
          <p:cNvSpPr txBox="1"/>
          <p:nvPr/>
        </p:nvSpPr>
        <p:spPr>
          <a:xfrm>
            <a:off x="2093707" y="1472184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Supabase Auth — учётные записи учителей</a:t>
            </a:r>
          </a:p>
        </p:txBody>
      </p:sp>
      <p:sp>
        <p:nvSpPr>
          <p:cNvPr id="20" name="Rectangle 11">
            <a:extLst>
              <a:ext uri="{FF2B5EF4-FFF2-40B4-BE49-F238E27FC236}">
                <a16:creationId xmlns:a16="http://schemas.microsoft.com/office/drawing/2014/main" id="{BDE2497A-BC66-E8C5-8F66-AFE79B155832}"/>
              </a:ext>
            </a:extLst>
          </p:cNvPr>
          <p:cNvSpPr/>
          <p:nvPr/>
        </p:nvSpPr>
        <p:spPr>
          <a:xfrm>
            <a:off x="288524" y="1956816"/>
            <a:ext cx="1676712" cy="539496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12">
            <a:extLst>
              <a:ext uri="{FF2B5EF4-FFF2-40B4-BE49-F238E27FC236}">
                <a16:creationId xmlns:a16="http://schemas.microsoft.com/office/drawing/2014/main" id="{9D2B2962-B129-53EB-9EA2-E251B4E1AEF7}"/>
              </a:ext>
            </a:extLst>
          </p:cNvPr>
          <p:cNvSpPr/>
          <p:nvPr/>
        </p:nvSpPr>
        <p:spPr>
          <a:xfrm>
            <a:off x="2002267" y="1956816"/>
            <a:ext cx="3944178" cy="539496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B1ACF3-FA45-0ABA-E505-8D661A220181}"/>
              </a:ext>
            </a:extLst>
          </p:cNvPr>
          <p:cNvSpPr txBox="1"/>
          <p:nvPr/>
        </p:nvSpPr>
        <p:spPr>
          <a:xfrm>
            <a:off x="379964" y="2048256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checks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93AC08-3526-1C31-6B21-3337D9944D86}"/>
              </a:ext>
            </a:extLst>
          </p:cNvPr>
          <p:cNvSpPr txBox="1"/>
          <p:nvPr/>
        </p:nvSpPr>
        <p:spPr>
          <a:xfrm>
            <a:off x="2093707" y="2048256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Результаты проверок (текст, ошибки JSON, оценка)</a:t>
            </a:r>
          </a:p>
        </p:txBody>
      </p:sp>
      <p:sp>
        <p:nvSpPr>
          <p:cNvPr id="24" name="Rectangle 15">
            <a:extLst>
              <a:ext uri="{FF2B5EF4-FFF2-40B4-BE49-F238E27FC236}">
                <a16:creationId xmlns:a16="http://schemas.microsoft.com/office/drawing/2014/main" id="{566EB7C4-997C-523C-F554-FB1A8C8CF275}"/>
              </a:ext>
            </a:extLst>
          </p:cNvPr>
          <p:cNvSpPr/>
          <p:nvPr/>
        </p:nvSpPr>
        <p:spPr>
          <a:xfrm>
            <a:off x="288524" y="2532888"/>
            <a:ext cx="1676712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16">
            <a:extLst>
              <a:ext uri="{FF2B5EF4-FFF2-40B4-BE49-F238E27FC236}">
                <a16:creationId xmlns:a16="http://schemas.microsoft.com/office/drawing/2014/main" id="{886EB366-80D9-1526-DD61-8A30B21BDCD3}"/>
              </a:ext>
            </a:extLst>
          </p:cNvPr>
          <p:cNvSpPr/>
          <p:nvPr/>
        </p:nvSpPr>
        <p:spPr>
          <a:xfrm>
            <a:off x="2002267" y="2532888"/>
            <a:ext cx="3944178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2049CA-FD2C-8451-4388-5D51A2CB4D5B}"/>
              </a:ext>
            </a:extLst>
          </p:cNvPr>
          <p:cNvSpPr txBox="1"/>
          <p:nvPr/>
        </p:nvSpPr>
        <p:spPr>
          <a:xfrm>
            <a:off x="379964" y="2624328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pupils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2563C0-31C9-9ED5-A518-37D287D01793}"/>
              </a:ext>
            </a:extLst>
          </p:cNvPr>
          <p:cNvSpPr txBox="1"/>
          <p:nvPr/>
        </p:nvSpPr>
        <p:spPr>
          <a:xfrm>
            <a:off x="2093707" y="2624328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Ученики учителя (имя, уникальность по user_id)</a:t>
            </a:r>
          </a:p>
        </p:txBody>
      </p:sp>
      <p:sp>
        <p:nvSpPr>
          <p:cNvPr id="28" name="Rectangle 19">
            <a:extLst>
              <a:ext uri="{FF2B5EF4-FFF2-40B4-BE49-F238E27FC236}">
                <a16:creationId xmlns:a16="http://schemas.microsoft.com/office/drawing/2014/main" id="{847AAE90-1D8F-821D-A2E5-5FC9A1B3B8AC}"/>
              </a:ext>
            </a:extLst>
          </p:cNvPr>
          <p:cNvSpPr/>
          <p:nvPr/>
        </p:nvSpPr>
        <p:spPr>
          <a:xfrm>
            <a:off x="288524" y="3108960"/>
            <a:ext cx="1676712" cy="539496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0">
            <a:extLst>
              <a:ext uri="{FF2B5EF4-FFF2-40B4-BE49-F238E27FC236}">
                <a16:creationId xmlns:a16="http://schemas.microsoft.com/office/drawing/2014/main" id="{4E3AB4D1-2D84-8059-958D-49F46FA0B805}"/>
              </a:ext>
            </a:extLst>
          </p:cNvPr>
          <p:cNvSpPr/>
          <p:nvPr/>
        </p:nvSpPr>
        <p:spPr>
          <a:xfrm>
            <a:off x="2002267" y="3108960"/>
            <a:ext cx="3944178" cy="539496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49C6A4-90FC-6E7A-2A3B-ED7444B9164A}"/>
              </a:ext>
            </a:extLst>
          </p:cNvPr>
          <p:cNvSpPr txBox="1"/>
          <p:nvPr/>
        </p:nvSpPr>
        <p:spPr>
          <a:xfrm>
            <a:off x="379964" y="3200400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groups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90CFD3-2DD4-7AD1-77F5-716BF4BEDCAF}"/>
              </a:ext>
            </a:extLst>
          </p:cNvPr>
          <p:cNvSpPr txBox="1"/>
          <p:nvPr/>
        </p:nvSpPr>
        <p:spPr>
          <a:xfrm>
            <a:off x="2093707" y="3200400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Группы / классы учителя</a:t>
            </a:r>
          </a:p>
        </p:txBody>
      </p:sp>
      <p:sp>
        <p:nvSpPr>
          <p:cNvPr id="32" name="Rectangle 23">
            <a:extLst>
              <a:ext uri="{FF2B5EF4-FFF2-40B4-BE49-F238E27FC236}">
                <a16:creationId xmlns:a16="http://schemas.microsoft.com/office/drawing/2014/main" id="{2A90CD62-DF2A-84A4-DFDB-0F1F95D0A3B9}"/>
              </a:ext>
            </a:extLst>
          </p:cNvPr>
          <p:cNvSpPr/>
          <p:nvPr/>
        </p:nvSpPr>
        <p:spPr>
          <a:xfrm>
            <a:off x="288524" y="3685032"/>
            <a:ext cx="1676712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24">
            <a:extLst>
              <a:ext uri="{FF2B5EF4-FFF2-40B4-BE49-F238E27FC236}">
                <a16:creationId xmlns:a16="http://schemas.microsoft.com/office/drawing/2014/main" id="{FF12A82E-2B11-3389-F8CB-07E0363C990A}"/>
              </a:ext>
            </a:extLst>
          </p:cNvPr>
          <p:cNvSpPr/>
          <p:nvPr/>
        </p:nvSpPr>
        <p:spPr>
          <a:xfrm>
            <a:off x="2002267" y="3685032"/>
            <a:ext cx="3944178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5C75E4-E8AC-6FCD-7AF9-A5C4F14ED605}"/>
              </a:ext>
            </a:extLst>
          </p:cNvPr>
          <p:cNvSpPr txBox="1"/>
          <p:nvPr/>
        </p:nvSpPr>
        <p:spPr>
          <a:xfrm>
            <a:off x="379964" y="3776472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pupil_groups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3F60C3-575B-2CFE-87D4-511BCF37625E}"/>
              </a:ext>
            </a:extLst>
          </p:cNvPr>
          <p:cNvSpPr txBox="1"/>
          <p:nvPr/>
        </p:nvSpPr>
        <p:spPr>
          <a:xfrm>
            <a:off x="2093707" y="3776472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Связь многие-ко-многим: ученики ↔ группы</a:t>
            </a:r>
          </a:p>
        </p:txBody>
      </p:sp>
      <p:sp>
        <p:nvSpPr>
          <p:cNvPr id="36" name="Rectangle 27">
            <a:extLst>
              <a:ext uri="{FF2B5EF4-FFF2-40B4-BE49-F238E27FC236}">
                <a16:creationId xmlns:a16="http://schemas.microsoft.com/office/drawing/2014/main" id="{495A21F0-5EAC-B9D5-9BCD-93D74F53E878}"/>
              </a:ext>
            </a:extLst>
          </p:cNvPr>
          <p:cNvSpPr/>
          <p:nvPr/>
        </p:nvSpPr>
        <p:spPr>
          <a:xfrm>
            <a:off x="288524" y="4261104"/>
            <a:ext cx="1676712" cy="539496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28">
            <a:extLst>
              <a:ext uri="{FF2B5EF4-FFF2-40B4-BE49-F238E27FC236}">
                <a16:creationId xmlns:a16="http://schemas.microsoft.com/office/drawing/2014/main" id="{5D749225-E151-13B9-314E-046D3E85CD13}"/>
              </a:ext>
            </a:extLst>
          </p:cNvPr>
          <p:cNvSpPr/>
          <p:nvPr/>
        </p:nvSpPr>
        <p:spPr>
          <a:xfrm>
            <a:off x="2002267" y="4261104"/>
            <a:ext cx="3944178" cy="539496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17ADD5-9CE7-4036-CD35-0F40A088D157}"/>
              </a:ext>
            </a:extLst>
          </p:cNvPr>
          <p:cNvSpPr txBox="1"/>
          <p:nvPr/>
        </p:nvSpPr>
        <p:spPr>
          <a:xfrm>
            <a:off x="379964" y="4352544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folders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8B3F42E-3A03-E1B3-8E14-7A54698B94BC}"/>
              </a:ext>
            </a:extLst>
          </p:cNvPr>
          <p:cNvSpPr txBox="1"/>
          <p:nvPr/>
        </p:nvSpPr>
        <p:spPr>
          <a:xfrm>
            <a:off x="2093707" y="4352544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Папки для организации работ</a:t>
            </a:r>
          </a:p>
        </p:txBody>
      </p:sp>
      <p:sp>
        <p:nvSpPr>
          <p:cNvPr id="40" name="Rectangle 31">
            <a:extLst>
              <a:ext uri="{FF2B5EF4-FFF2-40B4-BE49-F238E27FC236}">
                <a16:creationId xmlns:a16="http://schemas.microsoft.com/office/drawing/2014/main" id="{39AA9647-84E5-FBFA-28F8-0449860ADD4C}"/>
              </a:ext>
            </a:extLst>
          </p:cNvPr>
          <p:cNvSpPr/>
          <p:nvPr/>
        </p:nvSpPr>
        <p:spPr>
          <a:xfrm>
            <a:off x="288524" y="4837176"/>
            <a:ext cx="1676712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32">
            <a:extLst>
              <a:ext uri="{FF2B5EF4-FFF2-40B4-BE49-F238E27FC236}">
                <a16:creationId xmlns:a16="http://schemas.microsoft.com/office/drawing/2014/main" id="{8E4903FB-DD3F-7503-09FA-BD0E0301AF7A}"/>
              </a:ext>
            </a:extLst>
          </p:cNvPr>
          <p:cNvSpPr/>
          <p:nvPr/>
        </p:nvSpPr>
        <p:spPr>
          <a:xfrm>
            <a:off x="2002267" y="4837176"/>
            <a:ext cx="3944178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972CB4-A42F-52F3-F01F-8DA7FCC52C2E}"/>
              </a:ext>
            </a:extLst>
          </p:cNvPr>
          <p:cNvSpPr txBox="1"/>
          <p:nvPr/>
        </p:nvSpPr>
        <p:spPr>
          <a:xfrm>
            <a:off x="379964" y="4928616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functions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AD5E3AC-3F0B-1D40-C425-B1BE5AAD3A4C}"/>
              </a:ext>
            </a:extLst>
          </p:cNvPr>
          <p:cNvSpPr txBox="1"/>
          <p:nvPr/>
        </p:nvSpPr>
        <p:spPr>
          <a:xfrm>
            <a:off x="2093707" y="4928616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Функции проверки (промпты, шаблоны)</a:t>
            </a:r>
          </a:p>
        </p:txBody>
      </p:sp>
      <p:sp>
        <p:nvSpPr>
          <p:cNvPr id="44" name="Rectangle 35">
            <a:extLst>
              <a:ext uri="{FF2B5EF4-FFF2-40B4-BE49-F238E27FC236}">
                <a16:creationId xmlns:a16="http://schemas.microsoft.com/office/drawing/2014/main" id="{C604C843-96AB-3274-C7BC-DBBF387104B8}"/>
              </a:ext>
            </a:extLst>
          </p:cNvPr>
          <p:cNvSpPr/>
          <p:nvPr/>
        </p:nvSpPr>
        <p:spPr>
          <a:xfrm>
            <a:off x="288524" y="5413248"/>
            <a:ext cx="1676712" cy="539496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36">
            <a:extLst>
              <a:ext uri="{FF2B5EF4-FFF2-40B4-BE49-F238E27FC236}">
                <a16:creationId xmlns:a16="http://schemas.microsoft.com/office/drawing/2014/main" id="{54A133A5-B288-12BF-4EC3-CF8ACB97B228}"/>
              </a:ext>
            </a:extLst>
          </p:cNvPr>
          <p:cNvSpPr/>
          <p:nvPr/>
        </p:nvSpPr>
        <p:spPr>
          <a:xfrm>
            <a:off x="2002267" y="5413248"/>
            <a:ext cx="3944178" cy="539496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32632E-2A6A-CF56-AE6C-19E351FA63B7}"/>
              </a:ext>
            </a:extLst>
          </p:cNvPr>
          <p:cNvSpPr txBox="1"/>
          <p:nvPr/>
        </p:nvSpPr>
        <p:spPr>
          <a:xfrm>
            <a:off x="379964" y="5504688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function_versions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542646C-D8FD-4835-145C-3E7529B9C200}"/>
              </a:ext>
            </a:extLst>
          </p:cNvPr>
          <p:cNvSpPr txBox="1"/>
          <p:nvPr/>
        </p:nvSpPr>
        <p:spPr>
          <a:xfrm>
            <a:off x="2093707" y="5504688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История версий каждой функции</a:t>
            </a:r>
          </a:p>
        </p:txBody>
      </p:sp>
    </p:spTree>
    <p:extLst>
      <p:ext uri="{BB962C8B-B14F-4D97-AF65-F5344CB8AC3E}">
        <p14:creationId xmlns:p14="http://schemas.microsoft.com/office/powerpoint/2010/main" val="19702130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Calibri"/>
              </a:rPr>
              <a:t>Технологический</a:t>
            </a:r>
            <a:r>
              <a:rPr sz="2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Calibri"/>
              </a:rPr>
              <a:t>сте</a:t>
            </a:r>
            <a:r>
              <a:rPr lang="ru-RU" sz="2400" b="1" i="0" dirty="0">
                <a:solidFill>
                  <a:srgbClr val="FFFFFF"/>
                </a:solidFill>
                <a:latin typeface="Calibri"/>
              </a:rPr>
              <a:t>к</a:t>
            </a:r>
          </a:p>
          <a:p>
            <a:pPr algn="l"/>
            <a:endParaRPr sz="2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216152" y="1280160"/>
            <a:ext cx="1591056" cy="43891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9304" y="1344168"/>
            <a:ext cx="14996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Технология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280160"/>
            <a:ext cx="1499616" cy="43891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53512" y="1344168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Назначение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280160"/>
            <a:ext cx="6592824" cy="43891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53712" y="1344168"/>
            <a:ext cx="6501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Почему выбрано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6152" y="1764792"/>
            <a:ext cx="159105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216152" y="1764792"/>
            <a:ext cx="508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07592" y="1819656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  <a:latin typeface="Calibri"/>
              </a:rPr>
              <a:t>FastAPI 0.115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1764792"/>
            <a:ext cx="149961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53512" y="1810512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Бэкенд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1764792"/>
            <a:ext cx="65928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53712" y="1810512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Нативный async + SSE, автодокументация Swagger, DI через Depends()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16152" y="2157984"/>
            <a:ext cx="159105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216152" y="2157984"/>
            <a:ext cx="508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07592" y="2212848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  <a:latin typeface="Calibri"/>
              </a:rPr>
              <a:t>Python 3.11+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2157984"/>
            <a:ext cx="149961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53512" y="2203704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Язык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2157984"/>
            <a:ext cx="6592824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53712" y="2203704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Единственный язык с нативной поддержкой PaddleOCR, Tesseract и LLM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16152" y="2551176"/>
            <a:ext cx="159105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216152" y="2551176"/>
            <a:ext cx="50800" cy="3657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307592" y="2606040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SQLAlchemy 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2551176"/>
            <a:ext cx="149961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53512" y="2596896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ORM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60" y="2551176"/>
            <a:ext cx="65928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53712" y="2596896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Полный async API, изоляция SQL от бизнес-логики, декларативные модели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16152" y="2944368"/>
            <a:ext cx="159105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216152" y="2944368"/>
            <a:ext cx="50800" cy="3657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307592" y="2999232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Supabase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0360" y="2944368"/>
            <a:ext cx="149961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953512" y="2990088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БД + Auth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60" y="2944368"/>
            <a:ext cx="6592824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553712" y="2990088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Управляемый PostgreSQL + готовая JWT-авторизация, бесплатный хостинг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16152" y="3337560"/>
            <a:ext cx="159105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216152" y="3337560"/>
            <a:ext cx="50800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307592" y="3392424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PaddleOCR 2.8.1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80360" y="3337560"/>
            <a:ext cx="149961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953512" y="3383280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OCR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80560" y="3337560"/>
            <a:ext cx="65928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553712" y="3383280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Наивысшая точность для рукописи, модель SVTR + детектор DB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16152" y="3730752"/>
            <a:ext cx="159105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1216152" y="3730752"/>
            <a:ext cx="50800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307592" y="3785616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Tesseract 5.x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80360" y="3730752"/>
            <a:ext cx="149961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953512" y="3776472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OCR резерв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480560" y="3730752"/>
            <a:ext cx="6592824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553712" y="3776472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Компенсирует слабость PaddleOCR на печатном тексте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16152" y="4123944"/>
            <a:ext cx="159105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1216152" y="4123944"/>
            <a:ext cx="50800" cy="3657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307592" y="4178808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MarkItDown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80360" y="4123944"/>
            <a:ext cx="149961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953512" y="4169664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Документы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480560" y="4123944"/>
            <a:ext cx="65928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553712" y="4169664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Единый API для PDF/DOCX/PPTX/TXT от Microsoft, сохраняет структуру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216152" y="4517136"/>
            <a:ext cx="159105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1216152" y="4517136"/>
            <a:ext cx="50800" cy="3657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1307592" y="4572000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Ollama qwen2.5:7b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880360" y="4517136"/>
            <a:ext cx="149961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2953512" y="4562856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LLM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80560" y="4517136"/>
            <a:ext cx="6592824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53712" y="4562856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Локальный запуск — данные не утекают; 7B оптимален на CPU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216152" y="4910328"/>
            <a:ext cx="159105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1216152" y="4910328"/>
            <a:ext cx="5080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307592" y="4965192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React 19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80360" y="4910328"/>
            <a:ext cx="149961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953512" y="4956048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Фронтенд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480560" y="4910328"/>
            <a:ext cx="65928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553712" y="4956048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Стандарт отрасли, компонентный подход, наибольшая экосистема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216152" y="5303520"/>
            <a:ext cx="159105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1216152" y="5303520"/>
            <a:ext cx="5080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1307592" y="5358384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TypeScript ~6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880360" y="5303520"/>
            <a:ext cx="149961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953512" y="5349240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Типизация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480560" y="5303520"/>
            <a:ext cx="6592824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4553712" y="5349240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Обнаруживает ошибки типов на этапе сборки, улучшает IDE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216152" y="5696712"/>
            <a:ext cx="159105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1216152" y="5696712"/>
            <a:ext cx="50800" cy="3657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1307592" y="5751576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Vite 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880360" y="5696712"/>
            <a:ext cx="149961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2953512" y="5742432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Сборщик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480560" y="5696712"/>
            <a:ext cx="65928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553712" y="5742432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Мгновенный старт через ES-модули, Rolldown на Rust — быстрее Webpack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216152" y="6089904"/>
            <a:ext cx="159105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1216152" y="6089904"/>
            <a:ext cx="50800" cy="3657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1307592" y="6144768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Tailwind CSS v4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880360" y="6089904"/>
            <a:ext cx="149961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2953512" y="6135624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Стили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480560" y="6089904"/>
            <a:ext cx="6592824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4553712" y="6135624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Utility-first: стили прямо в JSX, v4 через Vite-плагин без конфига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Паттерны проектирования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Strategy + Repository + Dependency Injection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98448"/>
            <a:ext cx="3657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3657600" cy="6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3657600" cy="5029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Стратегия (Strategy)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347472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ЗАЧЕМ:
Легко добавить новый OCR-движок
без изменения существующего кода
КАК:
OCRStrategy — абстрактный класс
PaddleStrategy, TesseractStrategy — реализации
HybridOCR — агрегирует обе (◆)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" y="4023360"/>
            <a:ext cx="3511296" cy="2212848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2064" y="4096512"/>
            <a:ext cx="3401568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5B4FC"/>
                </a:solidFill>
                <a:latin typeface="Calibri"/>
              </a:rPr>
              <a:t>class OCRStrategy(ABC):
  @abstractmethod
  def recognize(self,
    image_path: str) -&gt; OcrResult: ...
  @abstractmethod
  def get_name(self) -&gt; str: 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87952" y="1298448"/>
            <a:ext cx="3657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87952" y="1298448"/>
            <a:ext cx="3657600" cy="63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87952" y="1298448"/>
            <a:ext cx="3657600" cy="5029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Репозиторий (Repository)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1920240"/>
            <a:ext cx="347472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ЗАЧЕМ:
Сервисы не знают про SQL.
Легко сменить СУБД.
Код тестируем.
КАК:
CheckRepository, GroupRepository,
FunctionRepository и другие.
Единственное место с select/insert/update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61104" y="4023360"/>
            <a:ext cx="3511296" cy="2212848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52544" y="4096512"/>
            <a:ext cx="3401568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5B4FC"/>
                </a:solidFill>
                <a:latin typeface="Calibri"/>
              </a:rPr>
              <a:t>class CheckRepository:
  async def create(self, data) -&gt; Check:
    obj = Check(**data)
    self.db.add(obj)
    await self.db.commit()
    return obj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28432" y="1298448"/>
            <a:ext cx="3657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28432" y="1298448"/>
            <a:ext cx="3657600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28432" y="1298448"/>
            <a:ext cx="3657600" cy="502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38160" y="13716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Инъекция зависимостей (DI)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1920240"/>
            <a:ext cx="347472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ЗАЧЕМ:
Компоненты не создают
зависимости самостоятельно.
Упрощает тестирование.
КАК:
FastAPI Depends() создаёт сессию БД
и текущего пользователя
для каждого запроса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01584" y="4023360"/>
            <a:ext cx="3511296" cy="2212848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93024" y="4096512"/>
            <a:ext cx="3401568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5B4FC"/>
                </a:solidFill>
                <a:latin typeface="Calibri"/>
              </a:rPr>
              <a:t>@router.get('/history')
async def history(
  db = Depends(get_db),
  user = Depends(get_current_user)
):
  return await CheckRepository(db)
           .get_by_user(user['user_id'])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0350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54864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UML-диаграммы проекта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273962" y="658368"/>
            <a:ext cx="11914990" cy="608979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204" y="659220"/>
            <a:ext cx="108021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4F46E5"/>
                </a:solidFill>
                <a:latin typeface="Calibri"/>
              </a:rPr>
              <a:t>Диаграмма</a:t>
            </a:r>
            <a:r>
              <a:rPr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b="1" i="0" dirty="0" err="1">
                <a:solidFill>
                  <a:srgbClr val="4F46E5"/>
                </a:solidFill>
                <a:latin typeface="Calibri"/>
              </a:rPr>
              <a:t>вариантов</a:t>
            </a:r>
            <a:r>
              <a:rPr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b="1" i="0" dirty="0" err="1">
                <a:solidFill>
                  <a:srgbClr val="4F46E5"/>
                </a:solidFill>
                <a:latin typeface="Calibri"/>
              </a:rPr>
              <a:t>использования</a:t>
            </a:r>
            <a:endParaRPr b="1" i="0" dirty="0">
              <a:solidFill>
                <a:srgbClr val="4F46E5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82880" y="658368"/>
            <a:ext cx="129336" cy="60897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74675" y="1269062"/>
            <a:ext cx="3259273" cy="923969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4072" y="1434635"/>
            <a:ext cx="11174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solidFill>
                  <a:srgbClr val="4F46E5"/>
                </a:solidFill>
                <a:latin typeface="Calibri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985" y="1566897"/>
            <a:ext cx="22362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400" dirty="0">
                <a:solidFill>
                  <a:srgbClr val="1E293B"/>
                </a:solidFill>
                <a:latin typeface="Calibri"/>
              </a:rPr>
              <a:t>в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ариантов</a:t>
            </a:r>
            <a:r>
              <a:rPr lang="ru-RU"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использования</a:t>
            </a:r>
            <a:endParaRPr sz="14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621" y="3365282"/>
            <a:ext cx="3259273" cy="923969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02" y="3505878"/>
            <a:ext cx="11174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solidFill>
                  <a:srgbClr val="4F46E5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0918" y="3630467"/>
            <a:ext cx="23681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400" dirty="0">
                <a:solidFill>
                  <a:srgbClr val="1E293B"/>
                </a:solidFill>
                <a:latin typeface="Calibri"/>
              </a:rPr>
              <a:t>а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ктор</a:t>
            </a:r>
            <a:r>
              <a:rPr lang="ru-RU"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(</a:t>
            </a: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преподаватель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1630" y="2320268"/>
            <a:ext cx="3259273" cy="923969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3298" y="2451745"/>
            <a:ext cx="11174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solidFill>
                  <a:srgbClr val="4F46E5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695" y="2572765"/>
            <a:ext cx="1769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E293B"/>
                </a:solidFill>
                <a:latin typeface="Calibri"/>
              </a:rPr>
              <a:t>разделов</a:t>
            </a:r>
            <a:endParaRPr sz="1400" b="0" i="0" dirty="0">
              <a:solidFill>
                <a:srgbClr val="1E293B"/>
              </a:solidFill>
              <a:latin typeface="Calibri"/>
            </a:endParaRP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4D34E8DB-BE65-4261-9617-E0F2FAB181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611" y="109838"/>
            <a:ext cx="6892377" cy="66412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8882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42ACDE3-A956-A929-9F09-39141B7DA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2353" y="491550"/>
            <a:ext cx="9828860" cy="62374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7160" y="91440"/>
            <a:ext cx="114951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7C3AED"/>
                </a:solidFill>
                <a:latin typeface="Calibri"/>
              </a:rPr>
              <a:t>Диаграмма</a:t>
            </a:r>
            <a:r>
              <a:rPr sz="2000" b="1" i="0" dirty="0">
                <a:solidFill>
                  <a:srgbClr val="7C3AED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7C3AED"/>
                </a:solidFill>
                <a:latin typeface="Calibri"/>
              </a:rPr>
              <a:t>классов</a:t>
            </a:r>
            <a:endParaRPr sz="2000" b="1" i="0" dirty="0">
              <a:solidFill>
                <a:srgbClr val="7C3AED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37634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7634" y="626519"/>
            <a:ext cx="115942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E293B"/>
                </a:solidFill>
                <a:latin typeface="Calibri"/>
              </a:rPr>
              <a:t>▸ 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OCRStrategy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lang="ru-RU" sz="1400" dirty="0">
                <a:solidFill>
                  <a:srgbClr val="1E293B"/>
                </a:solidFill>
                <a:latin typeface="Calibri"/>
              </a:rPr>
              <a:t>-</a:t>
            </a: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абстрактный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класс</a:t>
            </a:r>
            <a:endParaRPr lang="ru-RU" sz="1400" b="0" i="0" dirty="0">
              <a:solidFill>
                <a:srgbClr val="1E293B"/>
              </a:solidFill>
              <a:latin typeface="Calibri"/>
            </a:endParaRPr>
          </a:p>
          <a:p>
            <a:pPr algn="l"/>
            <a:r>
              <a:rPr sz="1400" b="0" i="0" dirty="0">
                <a:solidFill>
                  <a:srgbClr val="1E293B"/>
                </a:solidFill>
                <a:latin typeface="Calibri"/>
              </a:rPr>
              <a:t> (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контракт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12" y="1365183"/>
            <a:ext cx="115942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E293B"/>
                </a:solidFill>
                <a:latin typeface="Calibri"/>
              </a:rPr>
              <a:t>▸ 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PaddleStrategy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TesseractStrategy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–</a:t>
            </a:r>
          </a:p>
          <a:p>
            <a:pPr algn="l"/>
            <a:r>
              <a:rPr lang="ru-RU" sz="1400" dirty="0">
                <a:solidFill>
                  <a:srgbClr val="1E293B"/>
                </a:solidFill>
                <a:latin typeface="Calibri"/>
              </a:rPr>
              <a:t>     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реализации</a:t>
            </a:r>
            <a:endParaRPr sz="14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1130" y="2167116"/>
            <a:ext cx="24925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E293B"/>
                </a:solidFill>
                <a:latin typeface="Calibri"/>
              </a:rPr>
              <a:t>▸ 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HybridOCR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◆→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OCRStrategy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endParaRPr lang="ru-RU" sz="1400" b="0" i="0" dirty="0">
              <a:solidFill>
                <a:srgbClr val="1E293B"/>
              </a:solidFill>
              <a:latin typeface="Calibri"/>
            </a:endParaRPr>
          </a:p>
          <a:p>
            <a:pPr algn="l"/>
            <a:r>
              <a:rPr lang="ru-RU" sz="1400" dirty="0">
                <a:solidFill>
                  <a:srgbClr val="1E293B"/>
                </a:solidFill>
                <a:latin typeface="Calibri"/>
              </a:rPr>
              <a:t>     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(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композиция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30" y="2753360"/>
            <a:ext cx="24925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E293B"/>
                </a:solidFill>
                <a:latin typeface="Calibri"/>
              </a:rPr>
              <a:t>▸ 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CheckService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→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LLMService</a:t>
            </a: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,</a:t>
            </a:r>
            <a:r>
              <a:rPr lang="ru-RU"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lang="en-US" sz="1400" b="0" i="0" dirty="0" err="1">
                <a:solidFill>
                  <a:srgbClr val="1E293B"/>
                </a:solidFill>
                <a:latin typeface="Calibri"/>
              </a:rPr>
              <a:t>FunctionRepo</a:t>
            </a:r>
            <a:endParaRPr lang="en-US" sz="1400" b="0" i="0" dirty="0">
              <a:solidFill>
                <a:srgbClr val="1E293B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538228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Структура проекта: монорепозиторий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Две независимые части в одном git-репозитории, развёртывание через Docker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4754880" cy="530352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F46E5"/>
                </a:solidFill>
                <a:latin typeface="Calibri"/>
              </a:rPr>
              <a:t>russian-handwriting-checker-new/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7335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766E"/>
                </a:solidFill>
                <a:latin typeface="Calibri"/>
              </a:rPr>
              <a:t>├── frontend/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929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766E"/>
                </a:solidFill>
                <a:latin typeface="Calibri"/>
              </a:rPr>
              <a:t>│   ├── src/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18541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│   ├── pages/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441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│   ├── components/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│   ├── context/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9535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│   ├── api.ts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0954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│   └── types.ts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46557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└── package.json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2160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C3AED"/>
                </a:solidFill>
                <a:latin typeface="Calibri"/>
              </a:rPr>
              <a:t>├── python-service/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9776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C3AED"/>
                </a:solidFill>
                <a:latin typeface="Calibri"/>
              </a:rPr>
              <a:t>│   └── src/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23367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    ├── api/routes/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8970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    ├── services/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74573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    ├── repositories/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00176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    ├── models/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25780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    ├── strategies/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51383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    └── converters/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76986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59669"/>
                </a:solidFill>
                <a:latin typeface="Calibri"/>
              </a:rPr>
              <a:t>├── docker-compose.yml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02589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97706"/>
                </a:solidFill>
                <a:latin typeface="Calibri"/>
              </a:rPr>
              <a:t>└── .env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94960" y="1298448"/>
            <a:ext cx="3246120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394960" y="1298448"/>
            <a:ext cx="3246120" cy="63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394960" y="1298448"/>
            <a:ext cx="54864" cy="126187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541264" y="1371600"/>
            <a:ext cx="3044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frontend/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41264" y="1755648"/>
            <a:ext cx="304495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React + TypeScript + Vite
Только UI, нет бизнес-логики
Статика, собирается в dist/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94960" y="2688336"/>
            <a:ext cx="3246120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394960" y="2688336"/>
            <a:ext cx="3246120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394960" y="2688336"/>
            <a:ext cx="54864" cy="12618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541264" y="2761488"/>
            <a:ext cx="3044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  <a:latin typeface="Calibri"/>
              </a:rPr>
              <a:t>python-service/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41264" y="3145536"/>
            <a:ext cx="304495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64748B"/>
                </a:solidFill>
                <a:latin typeface="Calibri"/>
              </a:rPr>
              <a:t>FastAPI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+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SQLAlchemy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
</a:t>
            </a:r>
            <a:r>
              <a:rPr lang="en-US" sz="1100" b="0" i="0" dirty="0">
                <a:solidFill>
                  <a:srgbClr val="64748B"/>
                </a:solidFill>
                <a:latin typeface="Calibri"/>
              </a:rPr>
              <a:t>O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CR + LLM +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авторизация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
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Вся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бизнес-логика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здесь</a:t>
            </a:r>
            <a:endParaRPr sz="110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394960" y="4078224"/>
            <a:ext cx="3246120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394960" y="4078224"/>
            <a:ext cx="3246120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394960" y="4078224"/>
            <a:ext cx="54864" cy="12618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541264" y="4151376"/>
            <a:ext cx="3044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docker-compose.yml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1264" y="4535424"/>
            <a:ext cx="304495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Запускает оба сервиса
Раздаёт порты и переменные
Простой деплой: docker-compose up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94960" y="5468112"/>
            <a:ext cx="3246120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394960" y="5468112"/>
            <a:ext cx="3246120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394960" y="5468112"/>
            <a:ext cx="54864" cy="12618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541264" y="5541264"/>
            <a:ext cx="304495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.env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41264" y="5925312"/>
            <a:ext cx="304495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DATABASE_URL, Supabase keys
Ollama URL и модель
Безопасно: не входит в git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823960" y="5788152"/>
            <a:ext cx="3178650" cy="724898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970264" y="5900106"/>
            <a:ext cx="6126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A5B4FC"/>
                </a:solidFill>
                <a:latin typeface="Calibri"/>
              </a:rPr>
              <a:t>docker-compose up --build    #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запуск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обоих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сервисов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
# frontend → :5173   |   python-service → :8000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791456"/>
            <a:ext cx="12188952" cy="2066544"/>
          </a:xfrm>
          <a:prstGeom prst="rect">
            <a:avLst/>
          </a:prstGeom>
          <a:solidFill>
            <a:srgbClr val="382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Результаты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9144000" cy="25400"/>
          </a:xfrm>
          <a:prstGeom prst="rect">
            <a:avLst/>
          </a:prstGeom>
          <a:solidFill>
            <a:srgbClr val="C7D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5577840" cy="713232"/>
          </a:xfrm>
          <a:prstGeom prst="rect">
            <a:avLst/>
          </a:prstGeom>
          <a:solidFill>
            <a:srgbClr val="3B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61872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93B"/>
                </a:solidFill>
                <a:latin typeface="Calibri"/>
              </a:rPr>
              <a:t>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24358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Гибридный OCR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54480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7FF"/>
                </a:solidFill>
                <a:latin typeface="Calibri"/>
              </a:rPr>
              <a:t>PaddleOCR + Tesseract, автовыбор лучшего результата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170432"/>
            <a:ext cx="5577840" cy="713232"/>
          </a:xfrm>
          <a:prstGeom prst="rect">
            <a:avLst/>
          </a:prstGeom>
          <a:solidFill>
            <a:srgbClr val="3B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261872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93B"/>
                </a:solidFill>
                <a:latin typeface="Calibri"/>
              </a:rPr>
              <a:t>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24358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Документы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554480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7FF"/>
                </a:solidFill>
                <a:latin typeface="Calibri"/>
              </a:rPr>
              <a:t>MarkItDown: PDF, DOCX, PPTX, TXT с сохранением структуры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11680"/>
            <a:ext cx="5577840" cy="713232"/>
          </a:xfrm>
          <a:prstGeom prst="rect">
            <a:avLst/>
          </a:prstGeom>
          <a:solidFill>
            <a:srgbClr val="3B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103120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93B"/>
                </a:solidFill>
                <a:latin typeface="Calibri"/>
              </a:rPr>
              <a:t>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59" y="2084832"/>
            <a:ext cx="307655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5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типов</a:t>
            </a:r>
            <a:r>
              <a:rPr lang="ru-RU" sz="13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проверки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51560" y="239572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E0E7FF"/>
                </a:solidFill>
                <a:latin typeface="Calibri"/>
              </a:rPr>
              <a:t>Орфография</a:t>
            </a:r>
            <a:r>
              <a:rPr sz="1100" b="0" i="0" dirty="0">
                <a:solidFill>
                  <a:srgbClr val="E0E7FF"/>
                </a:solidFill>
                <a:latin typeface="Calibri"/>
              </a:rPr>
              <a:t>, ОГЭ 9.3, ЕГЭ, </a:t>
            </a:r>
            <a:r>
              <a:rPr sz="1100" b="0" i="0" dirty="0" err="1">
                <a:solidFill>
                  <a:srgbClr val="E0E7FF"/>
                </a:solidFill>
                <a:latin typeface="Calibri"/>
              </a:rPr>
              <a:t>итоговое</a:t>
            </a:r>
            <a:r>
              <a:rPr sz="11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E0E7FF"/>
                </a:solidFill>
                <a:latin typeface="Calibri"/>
              </a:rPr>
              <a:t>сочинение</a:t>
            </a:r>
            <a:r>
              <a:rPr sz="1100" b="0" i="0" dirty="0">
                <a:solidFill>
                  <a:srgbClr val="E0E7FF"/>
                </a:solidFill>
                <a:latin typeface="Calibri"/>
              </a:rPr>
              <a:t>, </a:t>
            </a:r>
            <a:r>
              <a:rPr sz="1100" b="0" i="0" dirty="0" err="1">
                <a:solidFill>
                  <a:srgbClr val="E0E7FF"/>
                </a:solidFill>
                <a:latin typeface="Calibri"/>
              </a:rPr>
              <a:t>свободная</a:t>
            </a:r>
            <a:endParaRPr sz="1100" b="0" i="0" dirty="0">
              <a:solidFill>
                <a:srgbClr val="E0E7FF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9360" y="2011680"/>
            <a:ext cx="5577840" cy="713232"/>
          </a:xfrm>
          <a:prstGeom prst="rect">
            <a:avLst/>
          </a:prstGeom>
          <a:solidFill>
            <a:srgbClr val="3B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2103120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93B"/>
                </a:solidFill>
                <a:latin typeface="Calibri"/>
              </a:rPr>
              <a:t>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0848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Стриминг SSE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39572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7FF"/>
                </a:solidFill>
                <a:latin typeface="Calibri"/>
              </a:rPr>
              <a:t>Ответ ИИ появляется в реальном времени, не надо ждать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852928"/>
            <a:ext cx="5577840" cy="713232"/>
          </a:xfrm>
          <a:prstGeom prst="rect">
            <a:avLst/>
          </a:prstGeom>
          <a:solidFill>
            <a:srgbClr val="3B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2944368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93B"/>
                </a:solidFill>
                <a:latin typeface="Calibri"/>
              </a:rPr>
              <a:t>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59" y="2926080"/>
            <a:ext cx="236634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JWT-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авторизация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51560" y="3236976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7FF"/>
                </a:solidFill>
                <a:latin typeface="Calibri"/>
              </a:rPr>
              <a:t>Supabase Auth, изоляция данных по user_id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2852928"/>
            <a:ext cx="5577840" cy="713232"/>
          </a:xfrm>
          <a:prstGeom prst="rect">
            <a:avLst/>
          </a:prstGeom>
          <a:solidFill>
            <a:srgbClr val="3B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2944368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93B"/>
                </a:solidFill>
                <a:latin typeface="Calibri"/>
              </a:rPr>
              <a:t>👨‍🎓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926080"/>
            <a:ext cx="195752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Calibri"/>
              </a:rPr>
              <a:t>Управление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данными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858000" y="3236976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7FF"/>
                </a:solidFill>
                <a:latin typeface="Calibri"/>
              </a:rPr>
              <a:t>Ученики, группы, папки, история с фильтрами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694176"/>
            <a:ext cx="5577840" cy="713232"/>
          </a:xfrm>
          <a:prstGeom prst="rect">
            <a:avLst/>
          </a:prstGeom>
          <a:solidFill>
            <a:srgbClr val="3B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4360" y="3785616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93B"/>
                </a:solidFill>
                <a:latin typeface="Calibri"/>
              </a:rPr>
              <a:t>⚙️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3767328"/>
            <a:ext cx="21488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Calibri"/>
              </a:rPr>
              <a:t>Галерея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функций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51560" y="4078224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7FF"/>
                </a:solidFill>
                <a:latin typeface="Calibri"/>
              </a:rPr>
              <a:t>Публикация, копирование, версионирование промптов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694176"/>
            <a:ext cx="5577840" cy="713232"/>
          </a:xfrm>
          <a:prstGeom prst="rect">
            <a:avLst/>
          </a:prstGeom>
          <a:solidFill>
            <a:srgbClr val="3B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0" y="3785616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93B"/>
                </a:solidFill>
                <a:latin typeface="Calibri"/>
              </a:rPr>
              <a:t>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37673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4078224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7FF"/>
                </a:solidFill>
                <a:latin typeface="Calibri"/>
              </a:rPr>
              <a:t>Готово к деплою на любом сервере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517844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 dirty="0" err="1">
                <a:solidFill>
                  <a:srgbClr val="C7D2FE"/>
                </a:solidFill>
                <a:latin typeface="Calibri"/>
              </a:rPr>
              <a:t>Спасибо</a:t>
            </a:r>
            <a:r>
              <a:rPr sz="2200" b="1" i="0" dirty="0">
                <a:solidFill>
                  <a:srgbClr val="C7D2FE"/>
                </a:solidFill>
                <a:latin typeface="Calibri"/>
              </a:rPr>
              <a:t> </a:t>
            </a:r>
            <a:r>
              <a:rPr sz="2200" b="1" i="0" dirty="0" err="1">
                <a:solidFill>
                  <a:srgbClr val="C7D2FE"/>
                </a:solidFill>
                <a:latin typeface="Calibri"/>
              </a:rPr>
              <a:t>за</a:t>
            </a:r>
            <a:r>
              <a:rPr sz="2200" b="1" i="0" dirty="0">
                <a:solidFill>
                  <a:srgbClr val="C7D2FE"/>
                </a:solidFill>
                <a:latin typeface="Calibri"/>
              </a:rPr>
              <a:t> </a:t>
            </a:r>
            <a:r>
              <a:rPr sz="2200" b="1" i="0" dirty="0" err="1">
                <a:solidFill>
                  <a:srgbClr val="C7D2FE"/>
                </a:solidFill>
                <a:latin typeface="Calibri"/>
              </a:rPr>
              <a:t>внимание</a:t>
            </a:r>
            <a:r>
              <a:rPr sz="2200" b="1" i="0" dirty="0">
                <a:solidFill>
                  <a:srgbClr val="C7D2FE"/>
                </a:solidFill>
                <a:latin typeface="Calibri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1001</TotalTime>
  <Words>3137</Words>
  <Application>Microsoft Office PowerPoint</Application>
  <PresentationFormat>Произвольный</PresentationFormat>
  <Paragraphs>483</Paragraphs>
  <Slides>22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6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Office</cp:lastModifiedBy>
  <cp:revision>11</cp:revision>
  <dcterms:created xsi:type="dcterms:W3CDTF">2013-01-27T09:14:16Z</dcterms:created>
  <dcterms:modified xsi:type="dcterms:W3CDTF">2026-05-14T12:08:19Z</dcterms:modified>
  <cp:category/>
</cp:coreProperties>
</file>