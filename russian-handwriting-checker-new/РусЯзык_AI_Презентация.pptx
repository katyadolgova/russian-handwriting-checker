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9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382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 dirty="0">
                <a:solidFill>
                  <a:srgbClr val="1E1B4B"/>
                </a:solidFill>
                <a:latin typeface="Calibri"/>
              </a:rPr>
              <a:t>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50292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РусЯзык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32588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 err="1">
                <a:solidFill>
                  <a:srgbClr val="C7D2FE"/>
                </a:solidFill>
                <a:latin typeface="Calibri"/>
              </a:rPr>
              <a:t>Веб-приложение</a:t>
            </a:r>
            <a:r>
              <a:rPr sz="2000" b="0" dirty="0">
                <a:solidFill>
                  <a:srgbClr val="C7D2FE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C7D2FE"/>
                </a:solidFill>
                <a:latin typeface="Calibri"/>
              </a:rPr>
              <a:t>для</a:t>
            </a:r>
            <a:r>
              <a:rPr sz="2000" b="0" dirty="0">
                <a:solidFill>
                  <a:srgbClr val="C7D2FE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C7D2FE"/>
                </a:solidFill>
                <a:latin typeface="Calibri"/>
              </a:rPr>
              <a:t>проверки</a:t>
            </a:r>
            <a:r>
              <a:rPr sz="2000" b="0" dirty="0">
                <a:solidFill>
                  <a:srgbClr val="C7D2FE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C7D2FE"/>
                </a:solidFill>
                <a:latin typeface="Calibri"/>
              </a:rPr>
              <a:t>рукописных</a:t>
            </a:r>
            <a:r>
              <a:rPr sz="2000" b="0" dirty="0">
                <a:solidFill>
                  <a:srgbClr val="C7D2FE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C7D2FE"/>
                </a:solidFill>
                <a:latin typeface="Calibri"/>
              </a:rPr>
              <a:t>работ</a:t>
            </a:r>
            <a:r>
              <a:rPr sz="2000" b="0" dirty="0">
                <a:solidFill>
                  <a:srgbClr val="C7D2FE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C7D2FE"/>
                </a:solidFill>
                <a:latin typeface="Calibri"/>
              </a:rPr>
              <a:t>учеников</a:t>
            </a:r>
            <a:endParaRPr sz="2000" b="0" dirty="0">
              <a:solidFill>
                <a:srgbClr val="C7D2FE"/>
              </a:solidFill>
              <a:latin typeface="Calibri"/>
            </a:endParaRPr>
          </a:p>
          <a:p>
            <a:pPr algn="l"/>
            <a:r>
              <a:rPr sz="2000" b="0" dirty="0">
                <a:solidFill>
                  <a:srgbClr val="C7D2FE"/>
                </a:solidFill>
                <a:latin typeface="Calibri"/>
              </a:rPr>
              <a:t>с </a:t>
            </a:r>
            <a:r>
              <a:rPr sz="2000" b="0" dirty="0" err="1">
                <a:solidFill>
                  <a:srgbClr val="C7D2FE"/>
                </a:solidFill>
                <a:latin typeface="Calibri"/>
              </a:rPr>
              <a:t>использованием</a:t>
            </a:r>
            <a:r>
              <a:rPr sz="2000" b="0" dirty="0">
                <a:solidFill>
                  <a:srgbClr val="C7D2FE"/>
                </a:solidFill>
                <a:latin typeface="Calibri"/>
              </a:rPr>
              <a:t> OCR и </a:t>
            </a:r>
            <a:r>
              <a:rPr sz="2000" b="0" dirty="0" err="1">
                <a:solidFill>
                  <a:srgbClr val="C7D2FE"/>
                </a:solidFill>
                <a:latin typeface="Calibri"/>
              </a:rPr>
              <a:t>искусственного</a:t>
            </a:r>
            <a:r>
              <a:rPr sz="2000" b="0" dirty="0">
                <a:solidFill>
                  <a:srgbClr val="C7D2FE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C7D2FE"/>
                </a:solidFill>
                <a:latin typeface="Calibri"/>
              </a:rPr>
              <a:t>интеллекта</a:t>
            </a:r>
            <a:endParaRPr sz="2000" b="0" dirty="0">
              <a:solidFill>
                <a:srgbClr val="C7D2F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737360" y="2468880"/>
            <a:ext cx="8686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5212080"/>
            <a:ext cx="7315200" cy="1483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500" b="0" dirty="0" err="1">
                <a:solidFill>
                  <a:srgbClr val="C7D2FE"/>
                </a:solidFill>
                <a:latin typeface="Calibri"/>
              </a:rPr>
              <a:t>Дипломный</a:t>
            </a:r>
            <a:r>
              <a:rPr sz="1500" b="0" dirty="0">
                <a:solidFill>
                  <a:srgbClr val="C7D2FE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C7D2FE"/>
                </a:solidFill>
                <a:latin typeface="Calibri"/>
              </a:rPr>
              <a:t>проект</a:t>
            </a:r>
            <a:endParaRPr sz="1500" b="0" dirty="0">
              <a:solidFill>
                <a:srgbClr val="C7D2FE"/>
              </a:solidFill>
              <a:latin typeface="Calibri"/>
            </a:endParaRPr>
          </a:p>
          <a:p>
            <a:pPr algn="l">
              <a:lnSpc>
                <a:spcPts val="2200"/>
              </a:lnSpc>
            </a:pPr>
            <a:r>
              <a:rPr sz="1500" b="0" dirty="0" err="1">
                <a:solidFill>
                  <a:srgbClr val="C7D2FE"/>
                </a:solidFill>
                <a:latin typeface="Calibri"/>
              </a:rPr>
              <a:t>Специальность</a:t>
            </a:r>
            <a:r>
              <a:rPr sz="1500" b="0" dirty="0">
                <a:solidFill>
                  <a:srgbClr val="C7D2FE"/>
                </a:solidFill>
                <a:latin typeface="Calibri"/>
              </a:rPr>
              <a:t>: </a:t>
            </a:r>
            <a:r>
              <a:rPr sz="1500" b="0" dirty="0" err="1">
                <a:solidFill>
                  <a:srgbClr val="C7D2FE"/>
                </a:solidFill>
                <a:latin typeface="Calibri"/>
              </a:rPr>
              <a:t>Разработка</a:t>
            </a:r>
            <a:r>
              <a:rPr sz="1500" b="0" dirty="0">
                <a:solidFill>
                  <a:srgbClr val="C7D2FE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C7D2FE"/>
                </a:solidFill>
                <a:latin typeface="Calibri"/>
              </a:rPr>
              <a:t>программного</a:t>
            </a:r>
            <a:r>
              <a:rPr sz="1500" b="0" dirty="0">
                <a:solidFill>
                  <a:srgbClr val="C7D2FE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C7D2FE"/>
                </a:solidFill>
                <a:latin typeface="Calibri"/>
              </a:rPr>
              <a:t>обеспечения</a:t>
            </a:r>
            <a:endParaRPr sz="1500" b="0" dirty="0">
              <a:solidFill>
                <a:srgbClr val="C7D2FE"/>
              </a:solidFill>
              <a:latin typeface="Calibri"/>
            </a:endParaRPr>
          </a:p>
          <a:p>
            <a:pPr algn="l">
              <a:lnSpc>
                <a:spcPts val="2200"/>
              </a:lnSpc>
            </a:pPr>
            <a:r>
              <a:rPr lang="ru-RU" sz="1500" b="0" dirty="0">
                <a:solidFill>
                  <a:srgbClr val="C7D2FE"/>
                </a:solidFill>
                <a:latin typeface="Calibri"/>
              </a:rPr>
              <a:t>Студент</a:t>
            </a:r>
            <a:r>
              <a:rPr lang="en-US" sz="1500" b="0" dirty="0">
                <a:solidFill>
                  <a:srgbClr val="C7D2FE"/>
                </a:solidFill>
                <a:latin typeface="Calibri"/>
              </a:rPr>
              <a:t>: </a:t>
            </a:r>
            <a:r>
              <a:rPr lang="ru-RU" sz="1500" b="0" dirty="0">
                <a:solidFill>
                  <a:srgbClr val="C7D2FE"/>
                </a:solidFill>
                <a:latin typeface="Calibri"/>
              </a:rPr>
              <a:t>Долгова Екатерина </a:t>
            </a:r>
          </a:p>
          <a:p>
            <a:pPr algn="l">
              <a:lnSpc>
                <a:spcPts val="2200"/>
              </a:lnSpc>
            </a:pPr>
            <a:r>
              <a:rPr lang="ru-RU" sz="1500" dirty="0">
                <a:solidFill>
                  <a:srgbClr val="C7D2FE"/>
                </a:solidFill>
                <a:latin typeface="Calibri"/>
              </a:rPr>
              <a:t>Группа</a:t>
            </a:r>
            <a:r>
              <a:rPr lang="en-US" sz="1500" dirty="0">
                <a:solidFill>
                  <a:srgbClr val="C7D2FE"/>
                </a:solidFill>
                <a:latin typeface="Calibri"/>
              </a:rPr>
              <a:t>:</a:t>
            </a:r>
            <a:r>
              <a:rPr lang="ru-RU" sz="1500" dirty="0">
                <a:solidFill>
                  <a:srgbClr val="C7D2FE"/>
                </a:solidFill>
                <a:latin typeface="Calibri"/>
              </a:rPr>
              <a:t> П211</a:t>
            </a:r>
            <a:endParaRPr lang="ru-RU" sz="1500" b="0" dirty="0">
              <a:solidFill>
                <a:srgbClr val="C7D2FE"/>
              </a:solidFill>
              <a:latin typeface="Calibri"/>
            </a:endParaRPr>
          </a:p>
          <a:p>
            <a:pPr algn="l">
              <a:lnSpc>
                <a:spcPts val="2200"/>
              </a:lnSpc>
            </a:pPr>
            <a:r>
              <a:rPr sz="1500" b="0" dirty="0">
                <a:solidFill>
                  <a:srgbClr val="C7D2FE"/>
                </a:solidFill>
                <a:latin typeface="Calibri"/>
              </a:rPr>
              <a:t>2026 </a:t>
            </a:r>
            <a:r>
              <a:rPr sz="1500" b="0" dirty="0" err="1">
                <a:solidFill>
                  <a:srgbClr val="C7D2FE"/>
                </a:solidFill>
                <a:latin typeface="Calibri"/>
              </a:rPr>
              <a:t>год</a:t>
            </a:r>
            <a:endParaRPr sz="1500" b="0" dirty="0">
              <a:solidFill>
                <a:srgbClr val="C7D2FE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Постановка проблемы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96012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100" b="1" i="0" dirty="0">
                <a:solidFill>
                  <a:srgbClr val="4F46E5"/>
                </a:solidFill>
                <a:latin typeface="Calibri"/>
              </a:rPr>
              <a:t>Преподаватель</a:t>
            </a:r>
            <a:r>
              <a:rPr sz="21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2100" b="1" i="0" dirty="0" err="1">
                <a:solidFill>
                  <a:srgbClr val="4F46E5"/>
                </a:solidFill>
                <a:latin typeface="Calibri"/>
              </a:rPr>
              <a:t>русского</a:t>
            </a:r>
            <a:r>
              <a:rPr sz="21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2100" b="1" i="0" dirty="0" err="1">
                <a:solidFill>
                  <a:srgbClr val="4F46E5"/>
                </a:solidFill>
                <a:latin typeface="Calibri"/>
              </a:rPr>
              <a:t>языка</a:t>
            </a:r>
            <a:r>
              <a:rPr sz="21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2100" b="1" i="0" dirty="0" err="1">
                <a:solidFill>
                  <a:srgbClr val="4F46E5"/>
                </a:solidFill>
                <a:latin typeface="Calibri"/>
              </a:rPr>
              <a:t>тратит</a:t>
            </a:r>
            <a:r>
              <a:rPr sz="2100" b="1" i="0" dirty="0">
                <a:solidFill>
                  <a:srgbClr val="4F46E5"/>
                </a:solidFill>
                <a:latin typeface="Calibri"/>
              </a:rPr>
              <a:t> 5–10 </a:t>
            </a:r>
            <a:r>
              <a:rPr sz="2100" b="1" i="0" dirty="0" err="1">
                <a:solidFill>
                  <a:srgbClr val="4F46E5"/>
                </a:solidFill>
                <a:latin typeface="Calibri"/>
              </a:rPr>
              <a:t>минут</a:t>
            </a:r>
            <a:r>
              <a:rPr sz="21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2100" b="1" i="0" dirty="0" err="1">
                <a:solidFill>
                  <a:srgbClr val="4F46E5"/>
                </a:solidFill>
                <a:latin typeface="Calibri"/>
              </a:rPr>
              <a:t>на</a:t>
            </a:r>
            <a:r>
              <a:rPr sz="21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2100" b="1" i="0" dirty="0" err="1">
                <a:solidFill>
                  <a:srgbClr val="4F46E5"/>
                </a:solidFill>
                <a:latin typeface="Calibri"/>
              </a:rPr>
              <a:t>проверку</a:t>
            </a:r>
            <a:r>
              <a:rPr sz="21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2100" b="1" i="0" dirty="0" err="1">
                <a:solidFill>
                  <a:srgbClr val="4F46E5"/>
                </a:solidFill>
                <a:latin typeface="Calibri"/>
              </a:rPr>
              <a:t>одной</a:t>
            </a:r>
            <a:r>
              <a:rPr sz="21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2100" b="1" i="0" dirty="0" err="1">
                <a:solidFill>
                  <a:srgbClr val="4F46E5"/>
                </a:solidFill>
                <a:latin typeface="Calibri"/>
              </a:rPr>
              <a:t>работы</a:t>
            </a:r>
            <a:endParaRPr sz="2100" b="1" i="0" dirty="0">
              <a:solidFill>
                <a:srgbClr val="4F46E5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2514600"/>
            <a:ext cx="25603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2514600"/>
            <a:ext cx="2560320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62432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E1B4B"/>
                </a:solidFill>
                <a:latin typeface="Calibri"/>
              </a:rPr>
              <a:t>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rgbClr val="64748B"/>
                </a:solidFill>
                <a:latin typeface="Calibri"/>
              </a:rPr>
              <a:t>Рукописный</a:t>
            </a:r>
            <a:r>
              <a:rPr sz="14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64748B"/>
                </a:solidFill>
                <a:latin typeface="Calibri"/>
              </a:rPr>
              <a:t>текст</a:t>
            </a:r>
            <a:r>
              <a:rPr sz="1400" b="0" i="0" dirty="0">
                <a:solidFill>
                  <a:srgbClr val="64748B"/>
                </a:solidFill>
                <a:latin typeface="Calibri"/>
              </a:rPr>
              <a:t>
</a:t>
            </a:r>
            <a:r>
              <a:rPr sz="1400" b="0" i="0" dirty="0" err="1">
                <a:solidFill>
                  <a:srgbClr val="64748B"/>
                </a:solidFill>
                <a:latin typeface="Calibri"/>
              </a:rPr>
              <a:t>нужно</a:t>
            </a:r>
            <a:r>
              <a:rPr sz="14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64748B"/>
                </a:solidFill>
                <a:latin typeface="Calibri"/>
              </a:rPr>
              <a:t>читать</a:t>
            </a:r>
            <a:r>
              <a:rPr sz="14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64748B"/>
                </a:solidFill>
                <a:latin typeface="Calibri"/>
              </a:rPr>
              <a:t>вручную</a:t>
            </a:r>
            <a:endParaRPr sz="14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337560" y="2514600"/>
            <a:ext cx="25603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37560" y="2514600"/>
            <a:ext cx="2560320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29000" y="262432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 dirty="0">
                <a:solidFill>
                  <a:srgbClr val="1E1B4B"/>
                </a:solidFill>
                <a:latin typeface="Calibri"/>
              </a:rPr>
              <a:t>✏️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31089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Calibri"/>
              </a:rPr>
              <a:t>Каждую ошибку найти
и объяснить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514600"/>
            <a:ext cx="25603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2514600"/>
            <a:ext cx="2560320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262432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E1B4B"/>
                </a:solidFill>
                <a:latin typeface="Calibri"/>
              </a:rP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1089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Calibri"/>
              </a:rPr>
              <a:t>Выставить оценку
по критериям ОГЭ/ЕГЭ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2514600"/>
            <a:ext cx="25603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98280" y="2514600"/>
            <a:ext cx="2560320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89720" y="262432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E1B4B"/>
                </a:solidFill>
                <a:latin typeface="Calibri"/>
              </a:rPr>
              <a:t>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3108960"/>
            <a:ext cx="23774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b="0" i="0" dirty="0">
                <a:solidFill>
                  <a:srgbClr val="64748B"/>
                </a:solidFill>
                <a:latin typeface="Calibri"/>
              </a:rPr>
              <a:t>Внешние и человеческие факторы могут увеличивать время проверки</a:t>
            </a:r>
            <a:endParaRPr sz="14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88952" cy="1371600"/>
          </a:xfrm>
          <a:prstGeom prst="rect">
            <a:avLst/>
          </a:prstGeom>
          <a:solidFill>
            <a:srgbClr val="382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56235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При 30 учениках — от 3 до 5 часов рутинной работы ежедневно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Цель и задачи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86868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4F46E5"/>
                </a:solidFill>
                <a:latin typeface="Calibri"/>
              </a:rPr>
              <a:t>ЦЕЛЬ: автоматизировать рутинную часть проверки письменных работ учеников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77440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395728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1B4B"/>
                </a:solidFill>
                <a:latin typeface="Calibri"/>
              </a:rPr>
              <a:t>Реализовать распознавание рукописного текста с фотографий (OCR)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35808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3054096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1B4B"/>
                </a:solidFill>
                <a:latin typeface="Calibri"/>
              </a:rPr>
              <a:t>Обеспечить обработку документов: PDF, DOCX, PPTX, TXT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694176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712464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69417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1B4B"/>
                </a:solidFill>
                <a:latin typeface="Calibri"/>
              </a:rPr>
              <a:t>Проверять тексты с помощью ИИ по критериям ОГЭ, ЕГЭ, ФИПИ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352544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437083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352544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1B4B"/>
                </a:solidFill>
                <a:latin typeface="Calibri"/>
              </a:rPr>
              <a:t>Хранить историю проверок с поиском и фильтрацией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010912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01091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1B4B"/>
                </a:solidFill>
                <a:latin typeface="Calibri"/>
              </a:rPr>
              <a:t>Реализовать управление учениками, группами и папками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669280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5687568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i="0" dirty="0">
                <a:solidFill>
                  <a:srgbClr val="FFFFFF"/>
                </a:solidFill>
                <a:latin typeface="Calibri"/>
              </a:rPr>
              <a:t>6</a:t>
            </a:r>
            <a:endParaRPr sz="1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05840" y="56692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1E1B4B"/>
                </a:solidFill>
                <a:latin typeface="Calibri"/>
              </a:rPr>
              <a:t>Дать</a:t>
            </a:r>
            <a:r>
              <a:rPr sz="16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E1B4B"/>
                </a:solidFill>
                <a:latin typeface="Calibri"/>
              </a:rPr>
              <a:t>возможность</a:t>
            </a:r>
            <a:r>
              <a:rPr sz="16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E1B4B"/>
                </a:solidFill>
                <a:latin typeface="Calibri"/>
              </a:rPr>
              <a:t>создавать</a:t>
            </a:r>
            <a:r>
              <a:rPr sz="16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E1B4B"/>
                </a:solidFill>
                <a:latin typeface="Calibri"/>
              </a:rPr>
              <a:t>свои</a:t>
            </a:r>
            <a:r>
              <a:rPr sz="16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E1B4B"/>
                </a:solidFill>
                <a:latin typeface="Calibri"/>
              </a:rPr>
              <a:t>функции</a:t>
            </a:r>
            <a:r>
              <a:rPr sz="16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E1B4B"/>
                </a:solidFill>
                <a:latin typeface="Calibri"/>
              </a:rPr>
              <a:t>проверки</a:t>
            </a:r>
            <a:r>
              <a:rPr sz="1600" b="0" i="0" dirty="0">
                <a:solidFill>
                  <a:srgbClr val="1E1B4B"/>
                </a:solidFill>
                <a:latin typeface="Calibri"/>
              </a:rPr>
              <a:t> и </a:t>
            </a:r>
            <a:r>
              <a:rPr sz="1600" b="0" i="0" dirty="0" err="1">
                <a:solidFill>
                  <a:srgbClr val="1E1B4B"/>
                </a:solidFill>
                <a:latin typeface="Calibri"/>
              </a:rPr>
              <a:t>делиться</a:t>
            </a:r>
            <a:r>
              <a:rPr sz="16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E1B4B"/>
                </a:solidFill>
                <a:latin typeface="Calibri"/>
              </a:rPr>
              <a:t>ими</a:t>
            </a:r>
            <a:endParaRPr sz="1600" b="0" i="0" dirty="0">
              <a:solidFill>
                <a:srgbClr val="1E1B4B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Анализ конкурентов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514600" cy="640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271016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Решение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3240" y="1234440"/>
            <a:ext cx="1874520" cy="640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36392" y="1271016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Распознавание
рукописей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1234440"/>
            <a:ext cx="1874520" cy="640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02352" y="1271016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Критерии
ОГЭ/ЕГЭ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1234440"/>
            <a:ext cx="1874520" cy="640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68312" y="1271016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История
и ученики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0" y="1234440"/>
            <a:ext cx="1874520" cy="640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34272" y="1271016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Свои
функции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20240"/>
            <a:ext cx="2514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0574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E1B4B"/>
                </a:solidFill>
                <a:latin typeface="Calibri"/>
              </a:rPr>
              <a:t>Яндекс.Спеллер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63240" y="1920240"/>
            <a:ext cx="1874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54680" y="205740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1920240"/>
            <a:ext cx="1874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0640" y="205740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95160" y="1920240"/>
            <a:ext cx="1874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86600" y="205740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1920240"/>
            <a:ext cx="1874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52560" y="205740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697480"/>
            <a:ext cx="2514600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28346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E1B4B"/>
                </a:solidFill>
                <a:latin typeface="Calibri"/>
              </a:rPr>
              <a:t>Грамота.ру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63240" y="2697480"/>
            <a:ext cx="1874520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54680" y="283464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2697480"/>
            <a:ext cx="1874520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20640" y="283464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95160" y="2697480"/>
            <a:ext cx="1874520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86600" y="283464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0" y="2697480"/>
            <a:ext cx="1874520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52560" y="283464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474720"/>
            <a:ext cx="2514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3611880"/>
            <a:ext cx="24231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dirty="0">
                <a:solidFill>
                  <a:srgbClr val="1E1B4B"/>
                </a:solidFill>
                <a:latin typeface="Calibri"/>
              </a:rPr>
              <a:t>Repet.ai</a:t>
            </a:r>
            <a:endParaRPr sz="1500" b="0" i="0" dirty="0">
              <a:solidFill>
                <a:srgbClr val="1E1B4B"/>
              </a:solidFill>
              <a:latin typeface="Calibr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063240" y="3474720"/>
            <a:ext cx="1874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029200" y="3474720"/>
            <a:ext cx="1874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995160" y="3474720"/>
            <a:ext cx="1874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086600" y="36118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61120" y="3474720"/>
            <a:ext cx="1874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052560" y="36118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251960"/>
            <a:ext cx="2514600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48640" y="43891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E1B4B"/>
                </a:solidFill>
                <a:latin typeface="Calibri"/>
              </a:rPr>
              <a:t>ChatGPT (ручной)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63240" y="4251960"/>
            <a:ext cx="1874520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029200" y="4251960"/>
            <a:ext cx="1874520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120640" y="438912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rgbClr val="D97706"/>
                </a:solidFill>
                <a:latin typeface="Calibri"/>
              </a:rPr>
              <a:t>частично</a:t>
            </a:r>
            <a:endParaRPr sz="1800" b="0" i="0" dirty="0">
              <a:solidFill>
                <a:srgbClr val="D97706"/>
              </a:solidFill>
              <a:latin typeface="Calibri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6995160" y="4251960"/>
            <a:ext cx="1874520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961120" y="4251960"/>
            <a:ext cx="1874520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052560" y="438912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029200"/>
            <a:ext cx="2514600" cy="713232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48640" y="51663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F46E5"/>
                </a:solidFill>
                <a:latin typeface="Calibri"/>
              </a:rPr>
              <a:t>РусЯзык AI ★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63240" y="5029200"/>
            <a:ext cx="1874520" cy="713232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154680" y="51663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0" y="5029200"/>
            <a:ext cx="1874520" cy="713232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120640" y="51663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95160" y="5029200"/>
            <a:ext cx="1874520" cy="713232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086600" y="51663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61120" y="5029200"/>
            <a:ext cx="1874520" cy="713232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052560" y="51663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4 / 15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758E1A8-CCE8-69BC-6F3E-D87DFE3636CC}"/>
              </a:ext>
            </a:extLst>
          </p:cNvPr>
          <p:cNvSpPr txBox="1"/>
          <p:nvPr/>
        </p:nvSpPr>
        <p:spPr>
          <a:xfrm>
            <a:off x="3108960" y="44119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rgbClr val="D97706"/>
                </a:solidFill>
                <a:latin typeface="Calibri"/>
              </a:rPr>
              <a:t>частично</a:t>
            </a:r>
            <a:endParaRPr sz="1800" b="0" i="0" dirty="0">
              <a:solidFill>
                <a:srgbClr val="D97706"/>
              </a:solidFill>
              <a:latin typeface="Calibri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BA2A226-A9D0-821F-F78C-F0E9803C1D0C}"/>
              </a:ext>
            </a:extLst>
          </p:cNvPr>
          <p:cNvSpPr txBox="1"/>
          <p:nvPr/>
        </p:nvSpPr>
        <p:spPr>
          <a:xfrm>
            <a:off x="3154680" y="3602736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A45702B-12B9-378B-B4F7-4A4DA3659CBF}"/>
              </a:ext>
            </a:extLst>
          </p:cNvPr>
          <p:cNvSpPr txBox="1"/>
          <p:nvPr/>
        </p:nvSpPr>
        <p:spPr>
          <a:xfrm>
            <a:off x="5074920" y="36118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8478609-822F-6208-713B-488AE7ED39EA}"/>
              </a:ext>
            </a:extLst>
          </p:cNvPr>
          <p:cNvSpPr txBox="1"/>
          <p:nvPr/>
        </p:nvSpPr>
        <p:spPr>
          <a:xfrm>
            <a:off x="7068312" y="4379976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rgbClr val="D97706"/>
                </a:solidFill>
                <a:latin typeface="Calibri"/>
              </a:rPr>
              <a:t>частично</a:t>
            </a:r>
            <a:endParaRPr sz="1800" b="0" i="0" dirty="0">
              <a:solidFill>
                <a:srgbClr val="D9770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Функциональность системы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365760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6576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E1B4B"/>
                </a:solidFill>
                <a:latin typeface="Calibri"/>
              </a:rPr>
              <a:t>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37160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1B4B"/>
                </a:solidFill>
                <a:latin typeface="Calibri"/>
              </a:rPr>
              <a:t>Загрузка файлов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Фото рукописи, PDF, DOCX, PPTX, TXT — любой формат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5968" y="1280160"/>
            <a:ext cx="365760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15968" y="1280160"/>
            <a:ext cx="36576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53128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E1B4B"/>
                </a:solidFill>
                <a:latin typeface="Calibri"/>
              </a:rPr>
              <a:t>✍️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0328" y="137160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1B4B"/>
                </a:solidFill>
                <a:latin typeface="Calibri"/>
              </a:rPr>
              <a:t>Редактор текста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1828800"/>
            <a:ext cx="3429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rgbClr val="64748B"/>
                </a:solidFill>
                <a:latin typeface="Calibri"/>
              </a:rPr>
              <a:t>Исправить</a:t>
            </a:r>
            <a:r>
              <a:rPr sz="13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64748B"/>
                </a:solidFill>
                <a:latin typeface="Calibri"/>
              </a:rPr>
              <a:t>распознанный</a:t>
            </a:r>
            <a:r>
              <a:rPr sz="13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64748B"/>
                </a:solidFill>
                <a:latin typeface="Calibri"/>
              </a:rPr>
              <a:t>текст</a:t>
            </a:r>
            <a:r>
              <a:rPr sz="13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64748B"/>
                </a:solidFill>
                <a:latin typeface="Calibri"/>
              </a:rPr>
              <a:t>перед</a:t>
            </a:r>
            <a:r>
              <a:rPr sz="13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64748B"/>
                </a:solidFill>
                <a:latin typeface="Calibri"/>
              </a:rPr>
              <a:t>отправкой</a:t>
            </a:r>
            <a:r>
              <a:rPr sz="13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64748B"/>
                </a:solidFill>
                <a:latin typeface="Calibri"/>
              </a:rPr>
              <a:t>на</a:t>
            </a:r>
            <a:r>
              <a:rPr sz="13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64748B"/>
                </a:solidFill>
                <a:latin typeface="Calibri"/>
              </a:rPr>
              <a:t>проверку</a:t>
            </a:r>
            <a:r>
              <a:rPr lang="ru-RU" sz="1300" b="0" i="0" dirty="0">
                <a:solidFill>
                  <a:srgbClr val="64748B"/>
                </a:solidFill>
                <a:latin typeface="Calibri"/>
              </a:rPr>
              <a:t> и после</a:t>
            </a:r>
            <a:endParaRPr sz="13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174736" y="1280160"/>
            <a:ext cx="365760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74736" y="1280160"/>
            <a:ext cx="36576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11896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E1B4B"/>
                </a:solidFill>
                <a:latin typeface="Calibri"/>
              </a:rPr>
              <a:t>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9096" y="137160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1B4B"/>
                </a:solidFill>
                <a:latin typeface="Calibri"/>
              </a:rPr>
              <a:t>ИИ-проверка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1828800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Ответ появляется на экране в реальном времени (стриминг)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62072"/>
            <a:ext cx="365760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2862072"/>
            <a:ext cx="36576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29535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E1B4B"/>
                </a:solidFill>
                <a:latin typeface="Calibri"/>
              </a:rPr>
              <a:t>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295351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1B4B"/>
                </a:solidFill>
                <a:latin typeface="Calibri"/>
              </a:rPr>
              <a:t>Сохранение результатов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410712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Привязка к ученику, группе, папке и дате работы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15968" y="2862072"/>
            <a:ext cx="365760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15968" y="2862072"/>
            <a:ext cx="36576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53128" y="29535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E1B4B"/>
                </a:solidFill>
                <a:latin typeface="Calibri"/>
              </a:rPr>
              <a:t>👨‍🎓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0328" y="295351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1B4B"/>
                </a:solidFill>
                <a:latin typeface="Calibri"/>
              </a:rPr>
              <a:t>База учеников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8" y="3410712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Список учеников, группы-классы, статистика по каждому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74736" y="2862072"/>
            <a:ext cx="365760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74736" y="2862072"/>
            <a:ext cx="36576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11896" y="29535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E1B4B"/>
                </a:solidFill>
                <a:latin typeface="Calibri"/>
              </a:rPr>
              <a:t>⚙️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69096" y="295351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1B4B"/>
                </a:solidFill>
                <a:latin typeface="Calibri"/>
              </a:rPr>
              <a:t>Функции проверки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1896" y="3410712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Создать свою функцию, опубликовать в галерею, скопировать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Встроенные типы проверки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21031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2103120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46E5"/>
                </a:solidFill>
                <a:latin typeface="Calibri"/>
              </a:rPr>
              <a:t>Орфография и пунктуация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Находит ошибки, подсчитывает количество,
выставляет оценку от 0 до 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325880"/>
            <a:ext cx="21031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88920" y="1325880"/>
            <a:ext cx="210312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0" y="150876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Calibri"/>
              </a:rPr>
              <a:t>Сочинение ОГЭ 9.3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8 критериев: СК1–СК4 (содержание)
и ГК1–ГК4 (грамотность)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1325880"/>
            <a:ext cx="21031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120640" y="1325880"/>
            <a:ext cx="210312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57800" y="150876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  <a:latin typeface="Calibri"/>
              </a:rPr>
              <a:t>Сочинение ЕГЭ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12 критериев К1–К12 по официальным
стандартам ФИПИ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52360" y="1325880"/>
            <a:ext cx="21031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452360" y="1325880"/>
            <a:ext cx="210312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0" y="150876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"/>
              </a:rPr>
              <a:t>Итоговое сочинение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5 критериев: зачёт/незачёт
по правилам допуска к ЕГЭ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0" y="1325880"/>
            <a:ext cx="21031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784080" y="1325880"/>
            <a:ext cx="2103120" cy="10972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921240" y="150876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11D48"/>
                </a:solidFill>
                <a:latin typeface="Calibri"/>
              </a:rPr>
              <a:t>Свободная проверка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Учитель сам пишет задание,
ИИ его выполняет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4F46E5"/>
                </a:solidFill>
                <a:latin typeface="Calibri"/>
              </a:rPr>
              <a:t>✚  </a:t>
            </a:r>
            <a:r>
              <a:rPr sz="1400" b="1" i="0" dirty="0" err="1">
                <a:solidFill>
                  <a:srgbClr val="4F46E5"/>
                </a:solidFill>
                <a:latin typeface="Calibri"/>
              </a:rPr>
              <a:t>Пользователь</a:t>
            </a:r>
            <a:r>
              <a:rPr sz="14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4F46E5"/>
                </a:solidFill>
                <a:latin typeface="Calibri"/>
              </a:rPr>
              <a:t>может</a:t>
            </a:r>
            <a:r>
              <a:rPr sz="14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4F46E5"/>
                </a:solidFill>
                <a:latin typeface="Calibri"/>
              </a:rPr>
              <a:t>создать</a:t>
            </a:r>
            <a:r>
              <a:rPr sz="14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4F46E5"/>
                </a:solidFill>
                <a:latin typeface="Calibri"/>
              </a:rPr>
              <a:t>собственную</a:t>
            </a:r>
            <a:r>
              <a:rPr sz="14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4F46E5"/>
                </a:solidFill>
                <a:latin typeface="Calibri"/>
              </a:rPr>
              <a:t>функцию</a:t>
            </a:r>
            <a:r>
              <a:rPr sz="1400" b="1" i="0" dirty="0">
                <a:solidFill>
                  <a:srgbClr val="4F46E5"/>
                </a:solidFill>
                <a:latin typeface="Calibri"/>
              </a:rPr>
              <a:t> и </a:t>
            </a:r>
            <a:r>
              <a:rPr sz="1400" b="1" i="0" dirty="0" err="1">
                <a:solidFill>
                  <a:srgbClr val="4F46E5"/>
                </a:solidFill>
                <a:latin typeface="Calibri"/>
              </a:rPr>
              <a:t>опубликовать</a:t>
            </a:r>
            <a:r>
              <a:rPr sz="14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4F46E5"/>
                </a:solidFill>
                <a:latin typeface="Calibri"/>
              </a:rPr>
              <a:t>её</a:t>
            </a:r>
            <a:r>
              <a:rPr sz="1400" b="1" i="0" dirty="0">
                <a:solidFill>
                  <a:srgbClr val="4F46E5"/>
                </a:solidFill>
                <a:latin typeface="Calibri"/>
              </a:rPr>
              <a:t> в </a:t>
            </a:r>
            <a:r>
              <a:rPr sz="1400" b="1" i="0" dirty="0" err="1">
                <a:solidFill>
                  <a:srgbClr val="4F46E5"/>
                </a:solidFill>
                <a:latin typeface="Calibri"/>
              </a:rPr>
              <a:t>галерею</a:t>
            </a:r>
            <a:r>
              <a:rPr sz="14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4F46E5"/>
                </a:solidFill>
                <a:latin typeface="Calibri"/>
              </a:rPr>
              <a:t>для</a:t>
            </a:r>
            <a:r>
              <a:rPr sz="14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4F46E5"/>
                </a:solidFill>
                <a:latin typeface="Calibri"/>
              </a:rPr>
              <a:t>других</a:t>
            </a:r>
            <a:r>
              <a:rPr sz="14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4F46E5"/>
                </a:solidFill>
                <a:latin typeface="Calibri"/>
              </a:rPr>
              <a:t>учителей</a:t>
            </a:r>
            <a:endParaRPr sz="1400" b="1" i="0" dirty="0">
              <a:solidFill>
                <a:srgbClr val="4F46E5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Архитектура системы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347472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3474720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ФРОНТЕНД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▸  React 19 + TypeScript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42032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▸  Vite (сборщик)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72384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▸  Tailwind CSS (стили)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02736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▸  Tiptap (редактор текста)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3308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▸  Axios (HTTP-клиент)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66344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▸  React Router DOM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325880"/>
            <a:ext cx="347472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51960" y="1325880"/>
            <a:ext cx="347472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БЭКЕНД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01168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▸  Python 3.12 + FastAPI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542032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▸  SQLAlchemy (ORM async)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072384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▸  Pydantic (валидация)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602736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▸  MarkItDown (документы)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13308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▸  PaddleOCR + Tesseract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66344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▸  OpenAI-совместимый API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1325880"/>
            <a:ext cx="347472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46720" y="1325880"/>
            <a:ext cx="3474720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8388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ИНФРАСТРУКТУРА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01168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▸  PostgreSQL (Supabase)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2542032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▸  Supabase Auth (JWT)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3072384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▸  Docker + docker-compose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602736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▸  Alembic (миграции БД)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13308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▸  asyncpg (драйвер БД)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66344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▸  aiosqlite (для разработки)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34290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F46E5"/>
                </a:solidFill>
                <a:latin typeface="Calibri"/>
              </a:rPr>
              <a:t>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79" y="34290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F46E5"/>
                </a:solidFill>
                <a:latin typeface="Calibri"/>
              </a:rPr>
              <a:t>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Обработка файлов и распознавание текста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103120" cy="685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📂  Загруженный файл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2103120" cy="685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542032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DocumentConverter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2377440" cy="64008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46120" y="144475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🖼  Изображение
.jpg .png .bmp .tiff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2286000"/>
            <a:ext cx="2377440" cy="64008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46120" y="235915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75285"/>
                </a:solidFill>
                <a:latin typeface="Calibri"/>
              </a:rPr>
              <a:t>HybridOCR
(PaddleOCR + Tesseract)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3200400"/>
            <a:ext cx="1097280" cy="548640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46120" y="327355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1B4B"/>
                </a:solidFill>
                <a:latin typeface="Calibri"/>
              </a:rPr>
              <a:t>PaddleOCR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3200400"/>
            <a:ext cx="1097280" cy="548640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60" y="327355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1B4B"/>
                </a:solidFill>
                <a:latin typeface="Calibri"/>
              </a:rPr>
              <a:t>Tesseract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8862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→ Выбирается лучший результат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1371600"/>
            <a:ext cx="2560320" cy="64008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29400" y="144475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📄  Документ
.pdf .docx .pptx .txt .md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286000"/>
            <a:ext cx="2560320" cy="64008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29400" y="235915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59669"/>
                </a:solidFill>
                <a:latin typeface="Calibri"/>
              </a:rPr>
              <a:t>MarkItDown (Microsoft)
Конвертирует в текст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3200400"/>
            <a:ext cx="2560320" cy="54864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29400" y="327355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✓ Текст извлечён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3931920"/>
            <a:ext cx="2560320" cy="54864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29400" y="40050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✗ Ошибка → HybridOCR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120640"/>
            <a:ext cx="11247120" cy="6858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5120640"/>
            <a:ext cx="1124712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52120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59669"/>
                </a:solidFill>
                <a:latin typeface="Calibri"/>
              </a:rPr>
              <a:t>✓  Извлечённый текст → передаётся в языковую модель для проверки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2084831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4748B"/>
                </a:solidFill>
                <a:latin typeface="Calibri"/>
              </a:rPr>
              <a:t>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29718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4748B"/>
                </a:solidFill>
                <a:latin typeface="Calibri"/>
              </a:rPr>
              <a:t>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29718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4748B"/>
                </a:solidFill>
                <a:latin typeface="Calibri"/>
              </a:rPr>
              <a:t>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Технологический стек: обоснование выбора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783080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Технология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1325880"/>
            <a:ext cx="1325880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68880" y="1399032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Назначение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325880"/>
            <a:ext cx="7635240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31920" y="1399032"/>
            <a:ext cx="7543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Причина выбора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17830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901952"/>
            <a:ext cx="1691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FastAPI 0.115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1828800"/>
            <a:ext cx="13258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68880" y="1901952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Бэкенд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1828800"/>
            <a:ext cx="76352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31920" y="1901952"/>
            <a:ext cx="7543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B4B"/>
                </a:solidFill>
                <a:latin typeface="Calibri"/>
              </a:rPr>
              <a:t>Нативный async, автодокументация, высокая производительность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340864"/>
            <a:ext cx="1783080" cy="475488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414016"/>
            <a:ext cx="1691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React 19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2340864"/>
            <a:ext cx="1325880" cy="475488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68880" y="2414016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Фронтенд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2340864"/>
            <a:ext cx="7635240" cy="475488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31920" y="2414016"/>
            <a:ext cx="7543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B4B"/>
                </a:solidFill>
                <a:latin typeface="Calibri"/>
              </a:rPr>
              <a:t>Крупнейшее сообщество, хуки, компонентный подход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852928"/>
            <a:ext cx="17830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2926080"/>
            <a:ext cx="1691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TypeScript 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2852928"/>
            <a:ext cx="13258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68880" y="2926080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Типизация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2852928"/>
            <a:ext cx="76352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931920" y="2926080"/>
            <a:ext cx="7543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B4B"/>
                </a:solidFill>
                <a:latin typeface="Calibri"/>
              </a:rPr>
              <a:t>Обнаруживает ошибки на этапе сборки, улучшает поддержку IDE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364992"/>
            <a:ext cx="1783080" cy="475488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3438144"/>
            <a:ext cx="1691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SQLAlchemy 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3364992"/>
            <a:ext cx="1325880" cy="475488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468880" y="3438144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ORM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0" y="3364992"/>
            <a:ext cx="7635240" cy="475488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931920" y="3438144"/>
            <a:ext cx="7543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B4B"/>
                </a:solidFill>
                <a:latin typeface="Calibri"/>
              </a:rPr>
              <a:t>Async-поддержка, изоляция SQL, переносимость между БД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877056"/>
            <a:ext cx="17830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3950208"/>
            <a:ext cx="1691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Supabase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77440" y="3877056"/>
            <a:ext cx="13258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468880" y="3950208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БД + Auth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0" y="3877056"/>
            <a:ext cx="76352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931920" y="3950208"/>
            <a:ext cx="7543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B4B"/>
                </a:solidFill>
                <a:latin typeface="Calibri"/>
              </a:rPr>
              <a:t>Управляемый PostgreSQL + готовая JWT-авторизация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389120"/>
            <a:ext cx="1783080" cy="475488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40" y="4462272"/>
            <a:ext cx="1691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PaddleOCR 2.8.1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77440" y="4389120"/>
            <a:ext cx="1325880" cy="475488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468880" y="4462272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OCR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40480" y="4389120"/>
            <a:ext cx="7635240" cy="475488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931920" y="4462272"/>
            <a:ext cx="7543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B4B"/>
                </a:solidFill>
                <a:latin typeface="Calibri"/>
              </a:rPr>
              <a:t>Высокая точность на рукописном тексте, нейросетевой движок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901184"/>
            <a:ext cx="17830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48640" y="4974336"/>
            <a:ext cx="1691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Tesseract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77440" y="4901184"/>
            <a:ext cx="13258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468880" y="4974336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OCR (резерв)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40480" y="4901184"/>
            <a:ext cx="76352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931920" y="4974336"/>
            <a:ext cx="7543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B4B"/>
                </a:solidFill>
                <a:latin typeface="Calibri"/>
              </a:rPr>
              <a:t>Надёжный fallback, хорошо работает с печатным текстом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413248"/>
            <a:ext cx="1783080" cy="475488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48640" y="5486400"/>
            <a:ext cx="1691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MarkItDown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377440" y="5413248"/>
            <a:ext cx="1325880" cy="475488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468880" y="5486400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Документы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40480" y="5413248"/>
            <a:ext cx="7635240" cy="475488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931920" y="5486400"/>
            <a:ext cx="7543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B4B"/>
                </a:solidFill>
                <a:latin typeface="Calibri"/>
              </a:rPr>
              <a:t>Единый API для PDF/DOCX/PPTX/TXT от Microsoft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5925312"/>
            <a:ext cx="17830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48640" y="5998464"/>
            <a:ext cx="1691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Docker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377440" y="5925312"/>
            <a:ext cx="13258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468880" y="5998464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Деплой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40480" y="5925312"/>
            <a:ext cx="76352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931920" y="5998464"/>
            <a:ext cx="7543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B4B"/>
                </a:solidFill>
                <a:latin typeface="Calibri"/>
              </a:rPr>
              <a:t>Изолированная среда, одинаковое поведение везде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Паттерны проектирования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356616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356616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90472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F46E5"/>
                </a:solidFill>
                <a:latin typeface="Calibri"/>
              </a:rPr>
              <a:t>Стратегия (Strategy)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75688"/>
            <a:ext cx="3246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OCRStrategy — абстрактный класс.
PaddleStrategy и TesseractStrategy — конкретные реализации.
HybridOCR агрегирует обе стратегии и выбирает лучшую.
Новый движок OCR добавляется без изменения существующего кода.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325880"/>
            <a:ext cx="356616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97680" y="1325880"/>
            <a:ext cx="356616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60" y="1490472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9669"/>
                </a:solidFill>
                <a:latin typeface="Calibri"/>
              </a:rPr>
              <a:t>Репозиторий (Repository)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075688"/>
            <a:ext cx="3246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CheckRepository, GroupRepository, FunctionRepository и другие.
Изолируют SQL-запросы от бизнес-логики.
Сервисный слой работает с объектами Python, не зная про SQL.
Упрощает замену базы данных при необходимости.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325880"/>
            <a:ext cx="356616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38160" y="1325880"/>
            <a:ext cx="356616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490472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Внедрение зависимостей (DI)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075688"/>
            <a:ext cx="3246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FastAPI Depends() автоматически создаёт сессию БД и
текущего пользователя для каждого HTTP-запроса.
Компоненты не создают свои зависимости напрямую.
Упрощает тестирование и переиспользование.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Диаграмма вариантов использования (Use Case)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7772400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64748B"/>
                </a:solidFill>
                <a:latin typeface="Calibri"/>
              </a:rPr>
              <a:t>[Вставить изображение use_case_diagram.xml]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1554480"/>
            <a:ext cx="3383280" cy="128016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0" y="1627632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4F46E5"/>
                </a:solidFill>
                <a:latin typeface="Calibr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1719072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B4B"/>
                </a:solidFill>
                <a:latin typeface="Calibri"/>
              </a:rPr>
              <a:t>вариантов
использования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2971800"/>
            <a:ext cx="3383280" cy="128016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0" y="3044952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4F46E5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3136392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B4B"/>
                </a:solidFill>
                <a:latin typeface="Calibri"/>
              </a:rPr>
              <a:t>актор
(Учитель)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4389120"/>
            <a:ext cx="3383280" cy="128016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0" y="4462272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4F46E5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4553712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B4B"/>
                </a:solidFill>
                <a:latin typeface="Calibri"/>
              </a:rPr>
              <a:t>разделов
системы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9377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B4B"/>
                </a:solidFill>
                <a:latin typeface="Calibri"/>
              </a:rPr>
              <a:t>Разделы: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5257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▸  Авторизация и профиль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555040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▸  Проверка текста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584301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▸  Функции проверки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13562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▸  Ученики и группы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64282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▸  Папки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Диаграмма классов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7772400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64748B"/>
                </a:solidFill>
                <a:latin typeface="Calibri"/>
              </a:rPr>
              <a:t>[Вставить изображение class_diagram.xml]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1463040"/>
            <a:ext cx="34747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12480" y="1463040"/>
            <a:ext cx="64008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0" y="1527048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B4B"/>
                </a:solidFill>
                <a:latin typeface="Calibri"/>
              </a:rPr>
              <a:t>OCRStrategy — абстрактный
класс (контракт)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2514600"/>
            <a:ext cx="34747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412480" y="2514600"/>
            <a:ext cx="64008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0" y="2578608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B4B"/>
                </a:solidFill>
                <a:latin typeface="Calibri"/>
              </a:rPr>
              <a:t>PaddleStrategy и
TesseractStrategy реализуют
OCRStrategy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3566160"/>
            <a:ext cx="34747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412480" y="3566160"/>
            <a:ext cx="64008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0" y="3630168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B4B"/>
                </a:solidFill>
                <a:latin typeface="Calibri"/>
              </a:rPr>
              <a:t>HybridOCR агрегирует
обе стратегии (◆)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4617720"/>
            <a:ext cx="34747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12480" y="4617720"/>
            <a:ext cx="64008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0" y="4681728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B4B"/>
                </a:solidFill>
                <a:latin typeface="Calibri"/>
              </a:rPr>
              <a:t>CheckService использует
LLMService и FunctionRepo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5669280"/>
            <a:ext cx="34747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412480" y="5669280"/>
            <a:ext cx="64008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0" y="5733288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B4B"/>
                </a:solidFill>
                <a:latin typeface="Calibri"/>
              </a:rPr>
              <a:t>Все репозитории изолируют
SQL от бизнес-логики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Схема базы данных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2286000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Таблица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0" y="1325880"/>
            <a:ext cx="8686800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26080" y="1399032"/>
            <a:ext cx="8549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Описание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228600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834640" y="1828800"/>
            <a:ext cx="868680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920240"/>
            <a:ext cx="8549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Supabase Auth — учётные записи учителей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04872"/>
            <a:ext cx="2286000" cy="539496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34640" y="2404872"/>
            <a:ext cx="8686800" cy="539496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496312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496312"/>
            <a:ext cx="8549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Результаты проверок (текст, ошибки JSON, оценка)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80944"/>
            <a:ext cx="228600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834640" y="2980944"/>
            <a:ext cx="868680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072384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pupils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072384"/>
            <a:ext cx="8549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Ученики учителя (имя, уникальность по user_id)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557016"/>
            <a:ext cx="2286000" cy="539496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834640" y="3557016"/>
            <a:ext cx="8686800" cy="539496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3648456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groups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648456"/>
            <a:ext cx="8549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Группы / классы учителя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133088"/>
            <a:ext cx="228600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834640" y="4133088"/>
            <a:ext cx="868680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4224528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pupil_groups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4224528"/>
            <a:ext cx="8549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Связь многие-ко-многим: ученики ↔ группы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709160"/>
            <a:ext cx="2286000" cy="539496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834640" y="4709160"/>
            <a:ext cx="8686800" cy="539496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4800600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folders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4800600"/>
            <a:ext cx="8549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Папки для организации работ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285232"/>
            <a:ext cx="228600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834640" y="5285232"/>
            <a:ext cx="868680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5376672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functions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5376672"/>
            <a:ext cx="8549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Функции проверки (промпты, шаблоны)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861304"/>
            <a:ext cx="2286000" cy="539496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834640" y="5861304"/>
            <a:ext cx="8686800" cy="539496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5952744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function_versions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80" y="5952744"/>
            <a:ext cx="8549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История версий каждой функции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Стриминг ответа ИИ в реальном времени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54480"/>
            <a:ext cx="21031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210312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737360"/>
            <a:ext cx="411480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55648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Учитель
нажимает кнопку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14600"/>
            <a:ext cx="1874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POST /api/check/stream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96312" y="24688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70048" y="1554480"/>
            <a:ext cx="21031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670048" y="1554480"/>
            <a:ext cx="210312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07208" y="1737360"/>
            <a:ext cx="41148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07208" y="17373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1755648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FastAPI запрашивает
LLM с stream=True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7208" y="2514600"/>
            <a:ext cx="1874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OpenAI-совместимый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4688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74336" y="1554480"/>
            <a:ext cx="21031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974336" y="1554480"/>
            <a:ext cx="210312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11496" y="1737360"/>
            <a:ext cx="41148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11496" y="17373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14416" y="1755648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Сервер отправляет
Server-Sent Events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11496" y="2514600"/>
            <a:ext cx="1874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data: {"type":"chunk","text":"..."}
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4888" y="24688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78624" y="1554480"/>
            <a:ext cx="21031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278624" y="1554480"/>
            <a:ext cx="210312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15784" y="1737360"/>
            <a:ext cx="411480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15784" y="17373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18704" y="1755648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</a:rPr>
              <a:t>Браузер читает поток
через ReadableStream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15784" y="2514600"/>
            <a:ext cx="1874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fetch() + response.body.getReader()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9176" y="24688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82912" y="1554480"/>
            <a:ext cx="21031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582912" y="1554480"/>
            <a:ext cx="210312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720072" y="1737360"/>
            <a:ext cx="411480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720072" y="17373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22992" y="1755648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Текст появляется
на экране по мере генерации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20072" y="2514600"/>
            <a:ext cx="1874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Без ожидания полного ответа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251960"/>
            <a:ext cx="11247120" cy="77724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57200" y="4251960"/>
            <a:ext cx="11247120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5800" y="437083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F46E5"/>
                </a:solidFill>
                <a:latin typeface="Calibri"/>
              </a:rPr>
              <a:t>Пользователь видит ответ сразу — не нужно ждать 30–60 секунд на пустом экране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212080"/>
            <a:ext cx="11247120" cy="13716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5321808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5B4FC"/>
                </a:solidFill>
                <a:latin typeface="Calibri"/>
              </a:rPr>
              <a:t>async def stream_check(text, function_id) -&gt; AsyncIterator[dict]:
    async for chunk in self.llm.stream(messages):   # получаем кусочки от LLM
        yield {'type': 'chunk', 'text': chunk}      # отправляем клиенту сразу
    yield {'type': 'done', 'result': result}        # финальный результат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937760"/>
            <a:ext cx="12188952" cy="1920240"/>
          </a:xfrm>
          <a:prstGeom prst="rect">
            <a:avLst/>
          </a:prstGeom>
          <a:solidFill>
            <a:srgbClr val="382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Результаты работы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E7FF"/>
                </a:solidFill>
                <a:latin typeface="Calibri"/>
              </a:rPr>
              <a:t>✓  Реализован полный цикл проверки: от загрузки рукописи до сохранения статистики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881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E7FF"/>
                </a:solidFill>
                <a:latin typeface="Calibri"/>
              </a:rPr>
              <a:t>✓  Гибридный OCR (PaddleOCR + Tesseract) + MarkItDown для документов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881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E7FF"/>
                </a:solidFill>
                <a:latin typeface="Calibri"/>
              </a:rPr>
              <a:t>✓  5 типов проверки по стандартам ОГЭ, ЕГЭ и ФИПИ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10881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E7FF"/>
                </a:solidFill>
                <a:latin typeface="Calibri"/>
              </a:rPr>
              <a:t>✓  Стриминг ответа ИИ в реальном времени (Server-Sent Events)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10881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E7FF"/>
                </a:solidFill>
                <a:latin typeface="Calibri"/>
              </a:rPr>
              <a:t>✓  Авторизация через Supabase JWT, изоляция данных по user_id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37560"/>
            <a:ext cx="10881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E7FF"/>
                </a:solidFill>
                <a:latin typeface="Calibri"/>
              </a:rPr>
              <a:t>✓  Управление учениками, группами, папками и историей проверок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10881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E7FF"/>
                </a:solidFill>
                <a:latin typeface="Calibri"/>
              </a:rPr>
              <a:t>✓  Галерея функций проверки с публикацией и версионированием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10881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E7FF"/>
                </a:solidFill>
                <a:latin typeface="Calibri"/>
              </a:rPr>
              <a:t>✓  Docker-конфигурация для развёртывания на любом сервере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074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Спасибо за внимание!  Готов ответить на вопросы.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1238</Words>
  <Application>Microsoft Office PowerPoint</Application>
  <PresentationFormat>Произвольный</PresentationFormat>
  <Paragraphs>262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Office</cp:lastModifiedBy>
  <cp:revision>5</cp:revision>
  <dcterms:created xsi:type="dcterms:W3CDTF">2013-01-27T09:14:16Z</dcterms:created>
  <dcterms:modified xsi:type="dcterms:W3CDTF">2026-05-13T09:16:17Z</dcterms:modified>
  <cp:category/>
</cp:coreProperties>
</file>