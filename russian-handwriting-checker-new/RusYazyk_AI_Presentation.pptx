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-200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РусЯзык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E7FF"/>
                </a:solidFill>
                <a:latin typeface="Calibri"/>
              </a:rPr>
              <a:t>Веб-приложение для автоматической проверки письменных работ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E7FF"/>
                </a:solidFill>
                <a:latin typeface="Calibri"/>
              </a:rPr>
              <a:t>с использованием OCR и искусственного интеллекта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9144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>
                <a:solidFill>
                  <a:srgbClr val="C7D2FE"/>
                </a:solidFill>
                <a:latin typeface="Calibri"/>
              </a:rPr>
              <a:t>Дипломный проект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C7D2FE"/>
                </a:solidFill>
                <a:latin typeface="Calibri"/>
              </a:rPr>
              <a:t>Специальность: Разработка программного обеспечения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C7D2FE"/>
                </a:solidFill>
                <a:latin typeface="Calibri"/>
              </a:rPr>
              <a:t>2026 год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OCR
рукописей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ИИ
проверка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ОГЭ / ЕГЭ
критерии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👨‍🏫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Управление
учениками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Постановка проблемы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Учитель русского языка тратит 10–15 минут на проверку одной работы.
При классе из 30 учеников — это 5–7 часов только на одну волну работ.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265176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Прочитать
рукописный
почерк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240280"/>
            <a:ext cx="265176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Найти каждую
ошибку и
объяснить её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265176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Calibri"/>
              </a:rPr>
              <a:t>Оценить по
критериям
ОГЭ / ЕГЭ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240280"/>
            <a:ext cx="265176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Сохранить
результаты
для отчёта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Цель проекта: автоматизировать рутинную часть проверки, чтобы учитель мог
сосредоточиться на живом взаимодействии с учеником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Цель и задачи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74980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6200" cy="7498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ЦЕЛЬ: разработать веб-приложение для автоматической проверки рукописных и печатных работ учеников по русскому языку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56616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4864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Распознавание текста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Рукописные фото → HybridOCR
PDF/DOCX/PPTX → MarkItDown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14884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24528" y="2148840"/>
            <a:ext cx="356616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8" y="2148840"/>
            <a:ext cx="54864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24028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Проверка по критериям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9748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ОГЭ, ЕГЭ, итоговое сочинение,
орфография, свободная проверка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214884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91856" y="2148840"/>
            <a:ext cx="356616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91856" y="2148840"/>
            <a:ext cx="54864" cy="13898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29016" y="224028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Стриминг в реальном времени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69748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Ответ ИИ появляется
по мере генерации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56616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54864" cy="1389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История и статистика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Хранение всех проверок,
поиск и фильтрация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370332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24528" y="3703320"/>
            <a:ext cx="356616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24528" y="3703320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61688" y="379476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Управление учениками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25196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База учеников, группы (классы),
привязка работ к ученику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3703320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91856" y="3703320"/>
            <a:ext cx="35661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6" y="3703320"/>
            <a:ext cx="54864" cy="1389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29016" y="379476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Галерея функций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6" y="4251960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Создать, опубликовать,
скопировать, версионировать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Анализ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157984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Решение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88720"/>
            <a:ext cx="2249424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16352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OCR
рукописей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188720"/>
            <a:ext cx="2249424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93792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Критерии
ОГЭ/ЕГЭ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1975104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1" y="1234440"/>
            <a:ext cx="1874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История
и ученики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188720"/>
            <a:ext cx="2432304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4352" y="123444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Свои
функции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215798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20823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Яндекс.Спеллер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874519"/>
            <a:ext cx="224942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020823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874519"/>
            <a:ext cx="224942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2020823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197510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020823"/>
            <a:ext cx="1874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874519"/>
            <a:ext cx="243230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74352" y="2020823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24327"/>
            <a:ext cx="215798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2770631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LanguageTool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624327"/>
            <a:ext cx="224942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16352" y="2770631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624327"/>
            <a:ext cx="224942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93792" y="2770631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624327"/>
            <a:ext cx="197510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71231" y="2770631"/>
            <a:ext cx="1874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624327"/>
            <a:ext cx="243230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74352" y="2770631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97706"/>
                </a:solidFill>
                <a:latin typeface="Calibri"/>
              </a:rPr>
              <a:t>частично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74135"/>
            <a:ext cx="215798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520439"/>
            <a:ext cx="2057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1E293B"/>
                </a:solidFill>
                <a:latin typeface="Calibri"/>
              </a:rPr>
              <a:t>ChatGPT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374135"/>
            <a:ext cx="224942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3374135"/>
            <a:ext cx="224942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93792" y="3520439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97706"/>
                </a:solidFill>
                <a:latin typeface="Calibri"/>
              </a:rPr>
              <a:t>частично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3374135"/>
            <a:ext cx="197510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71231" y="3520439"/>
            <a:ext cx="1874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3374135"/>
            <a:ext cx="243230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4352" y="352043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23943"/>
            <a:ext cx="215798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4270247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Google Vision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123943"/>
            <a:ext cx="224942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16352" y="4270247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4123943"/>
            <a:ext cx="224942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93792" y="4270247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4101976"/>
            <a:ext cx="197510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71231" y="4270247"/>
            <a:ext cx="1874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4123943"/>
            <a:ext cx="2432304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74352" y="4270247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623559"/>
            <a:ext cx="2157984" cy="694944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0352" y="5769863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4F46E5"/>
                </a:solidFill>
                <a:latin typeface="Calibri"/>
              </a:rPr>
              <a:t>РусЯзык</a:t>
            </a:r>
            <a:r>
              <a:rPr sz="1300" b="1" i="0" dirty="0">
                <a:solidFill>
                  <a:srgbClr val="4F46E5"/>
                </a:solidFill>
                <a:latin typeface="Calibri"/>
              </a:rPr>
              <a:t> AI 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623559"/>
            <a:ext cx="2249424" cy="694944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16352" y="5769863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5623559"/>
            <a:ext cx="2249424" cy="694944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93792" y="5769863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5623559"/>
            <a:ext cx="1975104" cy="694944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571231" y="5769863"/>
            <a:ext cx="1874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0" y="5623559"/>
            <a:ext cx="2432304" cy="694944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4352" y="5769863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20</a:t>
            </a:r>
          </a:p>
        </p:txBody>
      </p:sp>
      <p:sp>
        <p:nvSpPr>
          <p:cNvPr id="75" name="Rectangle 33">
            <a:extLst>
              <a:ext uri="{FF2B5EF4-FFF2-40B4-BE49-F238E27FC236}">
                <a16:creationId xmlns:a16="http://schemas.microsoft.com/office/drawing/2014/main" id="{867CACD8-D99F-F5E4-28DC-14D8183FEABE}"/>
              </a:ext>
            </a:extLst>
          </p:cNvPr>
          <p:cNvSpPr/>
          <p:nvPr/>
        </p:nvSpPr>
        <p:spPr>
          <a:xfrm>
            <a:off x="457200" y="4855463"/>
            <a:ext cx="2167627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83C370-D201-A11D-E727-855A59A3821F}"/>
              </a:ext>
            </a:extLst>
          </p:cNvPr>
          <p:cNvSpPr txBox="1"/>
          <p:nvPr/>
        </p:nvSpPr>
        <p:spPr>
          <a:xfrm>
            <a:off x="548640" y="5038790"/>
            <a:ext cx="21676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1E1B4B"/>
                </a:solidFill>
                <a:latin typeface="Calibri"/>
              </a:rPr>
              <a:t>Repet.ai</a:t>
            </a:r>
            <a:endParaRPr sz="15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77" name="Rectangle 35">
            <a:extLst>
              <a:ext uri="{FF2B5EF4-FFF2-40B4-BE49-F238E27FC236}">
                <a16:creationId xmlns:a16="http://schemas.microsoft.com/office/drawing/2014/main" id="{C78D1A1D-72BE-7D7C-98FA-07ECCB6BC8C0}"/>
              </a:ext>
            </a:extLst>
          </p:cNvPr>
          <p:cNvSpPr/>
          <p:nvPr/>
        </p:nvSpPr>
        <p:spPr>
          <a:xfrm>
            <a:off x="2743200" y="4849444"/>
            <a:ext cx="224942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37">
            <a:extLst>
              <a:ext uri="{FF2B5EF4-FFF2-40B4-BE49-F238E27FC236}">
                <a16:creationId xmlns:a16="http://schemas.microsoft.com/office/drawing/2014/main" id="{4A7FC69A-2EF3-333E-0318-60AA20DD2C8C}"/>
              </a:ext>
            </a:extLst>
          </p:cNvPr>
          <p:cNvSpPr/>
          <p:nvPr/>
        </p:nvSpPr>
        <p:spPr>
          <a:xfrm>
            <a:off x="5120639" y="4869053"/>
            <a:ext cx="224827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39">
            <a:extLst>
              <a:ext uri="{FF2B5EF4-FFF2-40B4-BE49-F238E27FC236}">
                <a16:creationId xmlns:a16="http://schemas.microsoft.com/office/drawing/2014/main" id="{9F9754C0-7699-BD52-522C-854F60702C73}"/>
              </a:ext>
            </a:extLst>
          </p:cNvPr>
          <p:cNvSpPr/>
          <p:nvPr/>
        </p:nvSpPr>
        <p:spPr>
          <a:xfrm>
            <a:off x="7496936" y="4855463"/>
            <a:ext cx="1976247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7E7DD3-1556-B59C-F386-9BAEFC146F0A}"/>
              </a:ext>
            </a:extLst>
          </p:cNvPr>
          <p:cNvSpPr txBox="1"/>
          <p:nvPr/>
        </p:nvSpPr>
        <p:spPr>
          <a:xfrm>
            <a:off x="7710968" y="4965191"/>
            <a:ext cx="15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2B08CCD8-38D6-DF5D-8E5A-085B4CCBB563}"/>
              </a:ext>
            </a:extLst>
          </p:cNvPr>
          <p:cNvSpPr/>
          <p:nvPr/>
        </p:nvSpPr>
        <p:spPr>
          <a:xfrm>
            <a:off x="9601200" y="4891761"/>
            <a:ext cx="243230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E845A9-D5DA-A864-E5B8-E03593E226EA}"/>
              </a:ext>
            </a:extLst>
          </p:cNvPr>
          <p:cNvSpPr txBox="1"/>
          <p:nvPr/>
        </p:nvSpPr>
        <p:spPr>
          <a:xfrm>
            <a:off x="10042689" y="4965191"/>
            <a:ext cx="15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80F111A-A635-9689-2C19-DDF61175BE82}"/>
              </a:ext>
            </a:extLst>
          </p:cNvPr>
          <p:cNvSpPr txBox="1"/>
          <p:nvPr/>
        </p:nvSpPr>
        <p:spPr>
          <a:xfrm>
            <a:off x="3093249" y="4983479"/>
            <a:ext cx="15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9EEBBE-3EBA-95C8-BD80-05E7534BF2A2}"/>
              </a:ext>
            </a:extLst>
          </p:cNvPr>
          <p:cNvSpPr txBox="1"/>
          <p:nvPr/>
        </p:nvSpPr>
        <p:spPr>
          <a:xfrm>
            <a:off x="5465867" y="4983479"/>
            <a:ext cx="15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2AADD4-6171-81FB-FDEE-596F658A5932}"/>
              </a:ext>
            </a:extLst>
          </p:cNvPr>
          <p:cNvSpPr txBox="1"/>
          <p:nvPr/>
        </p:nvSpPr>
        <p:spPr>
          <a:xfrm>
            <a:off x="2793492" y="3502151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97706"/>
                </a:solidFill>
                <a:latin typeface="Calibri"/>
              </a:rPr>
              <a:t>частично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Функциональность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Полный набор инструментов учителя в одном месте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Загрузка файлов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Фото, PDF, DOCX, PPTX, TXT —
любой формат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371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55848" y="1371600"/>
            <a:ext cx="269748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5576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Редактор текста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38528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100" dirty="0">
                <a:solidFill>
                  <a:srgbClr val="64748B"/>
                </a:solidFill>
                <a:latin typeface="Calibri"/>
              </a:rPr>
              <a:t>О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тредактировать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распознанный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lang="ru-RU" sz="1100" b="0" i="0" dirty="0">
                <a:solidFill>
                  <a:srgbClr val="64748B"/>
                </a:solidFill>
                <a:latin typeface="Calibri"/>
              </a:rPr>
              <a:t> и отчет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54496" y="1371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54496" y="1371600"/>
            <a:ext cx="269748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ИИ-проверка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1938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Стриминг результата —
появляется в реальном времени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371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53144" y="1371600"/>
            <a:ext cx="269748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Сохранение работ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1938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Привязка к ученику, папке,
дате и оценке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5351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953512"/>
            <a:ext cx="269748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👨‍🎓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База учеников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52044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Список, группы, статистика
по каждому ученику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295351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55848" y="2953512"/>
            <a:ext cx="2697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65576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352044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Создать, опубликовать
в галерею, копировать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295351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54496" y="2953512"/>
            <a:ext cx="269748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8856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Папки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52044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Организовать работы
по темам или классам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295351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53144" y="2953512"/>
            <a:ext cx="269748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62872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🖨️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7504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Печать отчёта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52044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HTML-отчёт прямо
из браузера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Типы проверки: встроенные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0E7FF"/>
                </a:solidFill>
                <a:latin typeface="Calibri"/>
              </a:rPr>
              <a:t>5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функций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готовы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сразу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после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запуска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системы</a:t>
            </a:r>
            <a:endParaRPr lang="ru-RU" sz="1300" dirty="0">
              <a:solidFill>
                <a:srgbClr val="E0E7FF"/>
              </a:solidFill>
              <a:latin typeface="Calibri"/>
            </a:endParaRPr>
          </a:p>
          <a:p>
            <a:pPr algn="l"/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214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21408" cy="10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21408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9385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Орфография
и пунктуация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8036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Ошибки с объяснением
Оценка 0–5
Общий комментарий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371600"/>
            <a:ext cx="21214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1371600"/>
            <a:ext cx="2121408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07208" y="1371600"/>
            <a:ext cx="2121408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16936" y="1554480"/>
            <a:ext cx="19385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Сочинение
ОГЭ 9.3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88036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8 критериев:
СК1–СК4 (содержание)
ГК1–ГК4 (грамотность)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7216" y="1371600"/>
            <a:ext cx="21214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7216" y="1371600"/>
            <a:ext cx="2121408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57216" y="1371600"/>
            <a:ext cx="212140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4" y="1554480"/>
            <a:ext cx="19385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Сочинение
ЕГЭ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8036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12 критериев К1–К12
по нормам ФИПИ
Сумма баллов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7224" y="1371600"/>
            <a:ext cx="21214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07224" y="1371600"/>
            <a:ext cx="2121408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07224" y="1371600"/>
            <a:ext cx="2121408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1554480"/>
            <a:ext cx="19385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Итоговое
сочинение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88036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5 критериев К1–К5
Зачёт / незачёт
Допуск к ЕГЭ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7232" y="1371600"/>
            <a:ext cx="21214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57232" y="1371600"/>
            <a:ext cx="2121408" cy="10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57232" y="1371600"/>
            <a:ext cx="2121408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0" y="1554480"/>
            <a:ext cx="19385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Свободная
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8036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сам
формулирует задание
ИИ его выполняет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943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✚  Пользователь может создать собственную функцию, опубликовать в галерею и поделиться с другими учителями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Архитектура системы: трёхуровневая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Разделение ответственности: Routes → Services →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29184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ROUTES
(Маршруты)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Принимает HTTP-запрос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Валидирует данные (Pydantic)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Делегирует сервису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02736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Возвращает JSON /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78224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auth  /  check  / 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functions  / 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0468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pupils  /  folders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17772" y="1379154"/>
            <a:ext cx="329184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7500" y="147059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SERVICES
(Бизнес-логика)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4932" y="2183826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CheckService — формирует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65176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промпт, парсит JSON ответа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12724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LLMService — стриминг к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602736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DocumentConverter — выбирает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078224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OCR или MarkItDown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553712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HybridOCR — PaddleOCR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0292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Tesseract, выбор лучшего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6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21115" y="1870456"/>
            <a:ext cx="329184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0843" y="196189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REPOSITORIES
(Доступ к данным)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314325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CheckRepository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020" y="2702052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FunctionRepository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0340" y="205212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GroupRepository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020" y="365302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PupilRepository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020" y="4128516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• FolderRepository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4553712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80" y="50292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SQL скрыт от бизнес-логики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38235" y="1870456"/>
            <a:ext cx="4206240" cy="8412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235" y="1870456"/>
            <a:ext cx="420624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0531" y="1952244"/>
            <a:ext cx="3977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766E"/>
                </a:solidFill>
                <a:latin typeface="Calibri"/>
              </a:rPr>
              <a:t>🗄  PostgreSQL (Supabase)
+ SQLite (разработка)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63181" y="1217899"/>
            <a:ext cx="420624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651815" y="1232693"/>
            <a:ext cx="635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26681" y="1359631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46E5"/>
                </a:solidFill>
                <a:latin typeface="Calibri"/>
              </a:rPr>
              <a:t>🔐  Supabase Auth (JWT)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88663" y="1943257"/>
            <a:ext cx="4206240" cy="65836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743960" y="1928684"/>
            <a:ext cx="6350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17264" y="204069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🤖  Ollama / qwen2.5:7b (LLM)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90486" y="4384548"/>
            <a:ext cx="4206240" cy="65836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690486" y="4384548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53986" y="452628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  <a:latin typeface="Calibri"/>
              </a:rPr>
              <a:t>🐳  Docker + docker-compose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Обработка файлов: алгоритм DocumentConverter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Два пути + fallback — единый интерфейс для любого формата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94560" cy="7498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📂  Загруженный
файл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1488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2194560" cy="658368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DocumentConverter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3347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347472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🖼  Изображение: .jpg  .png  .bmp  .tiff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482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95728"/>
            <a:ext cx="3474720" cy="658368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487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285"/>
                </a:solidFill>
                <a:latin typeface="Calibri"/>
              </a:rPr>
              <a:t>HybridOCR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81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456431"/>
            <a:ext cx="1691640" cy="7772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3529584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285"/>
                </a:solidFill>
                <a:latin typeface="Calibri"/>
              </a:rPr>
              <a:t>PaddleOCR
2.8.1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56431"/>
            <a:ext cx="1691640" cy="7772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3529584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457A"/>
                </a:solidFill>
                <a:latin typeface="Calibri"/>
              </a:rPr>
              <a:t>Tesseract
5.x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617720"/>
            <a:ext cx="34747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4709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  <a:latin typeface="Calibri"/>
              </a:rPr>
              <a:t>score = 0.7×conf + 0.3×text_quality → лучший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371600"/>
            <a:ext cx="384048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📄  Документ: .pdf  .docx  .pptx  .txt  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0482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395728"/>
            <a:ext cx="384048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487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MarkItDown (Microsoft)
ПDF/DOCX/PPTX → Markdown-текст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456431"/>
            <a:ext cx="384048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03720" y="3456431"/>
            <a:ext cx="384048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547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✓  Текст извлечён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6576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1879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553712"/>
            <a:ext cx="3840480" cy="65836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3720" y="4553712"/>
            <a:ext cx="384048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4645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Fallback → HybridOCR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49240"/>
            <a:ext cx="1124712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349240"/>
            <a:ext cx="6350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45896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✓  Извлечённый текст → передаётся в языковую модель (LLM) для проверки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Стриминг ответа ИИ в реальном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Server-Sent Events (SSE) — пользователь видит каждый токен сразу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2140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Нажата
кнопка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 /api/check/stream
{text, function_id}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8336" y="1371600"/>
            <a:ext cx="212140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CheckService
формирует промпт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system_prompt + user_template
с подставленным текстом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0912" y="1371600"/>
            <a:ext cx="212140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LLMService
запрашивает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openai.AsyncOpenAI
stream=True, timeout=180s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33488" y="1371600"/>
            <a:ext cx="212140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Токены →
Server-Sent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data: {"type":"chunk",
 "text":"..."}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56064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56064" y="1371600"/>
            <a:ext cx="212140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Браузер
читает поток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fetch() + ReadableStream
+ TextDecoder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51960"/>
            <a:ext cx="11247120" cy="6858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3616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Без стриминга: пустой экран 30–60 секунд → весь текст сразу
Со стримингом: текст появляется сразу, как при живой печати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74920"/>
            <a:ext cx="11247120" cy="1508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async def stream_check(text, function_id) -&gt; AsyncIterator[dict]:
    messages = await self._build_messages(text, function_id)   # system + user
    full_text = ''
    async for chunk in self.llm.stream(messages):              # кусочки от LLM
        full_text += chunk
        yield {'type': 'chunk', 'text': chunk}                 # → клиенту сразу
    result = self._build_result(text, self._parse(full_text))
    yield {'type': 'done', 'result': result}                   # финальный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Алгоритм загрузки и обработки файла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BackgroundTasks FastAPI + polling — клиент не ждёт OCR блокируя соединение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25880"/>
            <a:ext cx="1874519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5389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Пользователь
выбирает файл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Drag &amp; drop или диалог
выбора файла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1" y="2423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6583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86583" y="1325880"/>
            <a:ext cx="1874519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96311" y="145389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6311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5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POST /api/upload/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1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Файл сохраняется во temp/
Создаётся task_id
Ответ: {task_id, status:'processing'}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2" y="2423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4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25694" y="1325880"/>
            <a:ext cx="1874519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35422" y="1453896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2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6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Клиент опрашивает
GET /upload/{task_id}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2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Интервал 1.5 сек.
Пока status == 'processing'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3" y="2423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805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64805" y="1325880"/>
            <a:ext cx="1874519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74533" y="145389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4533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7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DocumentConverter
в фоне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3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Определяет тип файла
HybridOCR или MarkItDown
Выполняется параллельно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4" y="2423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16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03916" y="1325880"/>
            <a:ext cx="1874519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13644" y="1453896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13644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68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status → 'done'
temp-файл удалён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4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Результат в tasks[task_id]
Временный файл очищен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35" y="2423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43027" y="1325880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543027" y="1325880"/>
            <a:ext cx="1874519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652755" y="1453896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52755" y="1453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73379" y="14904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Текст вставляется
в редактор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55" y="1892808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editor.commands.
setContent(text)
Готово к проверке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69080"/>
            <a:ext cx="11247120" cy="960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069080"/>
            <a:ext cx="63500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41605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Зачем polling, а не держать соединение открытым?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OCR (особенно PaddleOCR) занимает 5–30 секунд. Браузер закрывает HTTP-соединение по таймауту.
Polling: быстрый ответ сразу → периодическая проверка → результат когда готов.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66360"/>
            <a:ext cx="11247120" cy="1463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525780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@router.post('/')
async def upload(file: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UploadFile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background_tasks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: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BackgroundTasks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):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= str(uuid4())
    path = TEMP_DIR / f'{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}_{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file.filename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}'
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сохраняем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файл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    tasks[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] = {'status': 'processing'}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background_tasks.add_task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ocr_service.process_file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, str(path),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
    return {'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':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, 'status': 'processing'}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Как работает проверка: CheckService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Routes → CheckService → LLMService → parse JSON → highlight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920240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
/check/stream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25880"/>
            <a:ext cx="192024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FunctionRepository
.get(id)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25880"/>
            <a:ext cx="19202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_build_messages()
system +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325880"/>
            <a:ext cx="1920240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417320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LLMService
.stream()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25880"/>
            <a:ext cx="1920240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1417320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_parse()
JSON → 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23160"/>
            <a:ext cx="112471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4871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_build_result() — что входит в итоговый ответ: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3566160" cy="84124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356616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953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corrected_text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Исправленный текст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2880360"/>
            <a:ext cx="3566160" cy="8412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24528" y="2880360"/>
            <a:ext cx="356616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2953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Список ошибок (JSON-массив)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56" y="2880360"/>
            <a:ext cx="3566160" cy="84124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91856" y="2880360"/>
            <a:ext cx="356616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9016" y="2953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9016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Числовая оценка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49624"/>
            <a:ext cx="3566160" cy="84124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849624"/>
            <a:ext cx="35661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39227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3068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Критерии (ОГЭ/ЕГЭ)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3849624"/>
            <a:ext cx="3566160" cy="84124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24528" y="3849624"/>
            <a:ext cx="3566160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61688" y="39227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html_highlighted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43068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Текст с &lt;span&gt; вокруг ошибок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91856" y="3849624"/>
            <a:ext cx="356616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91856" y="3849624"/>
            <a:ext cx="3566160" cy="50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29016" y="39227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comment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9016" y="43068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Общий комментарий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11247120" cy="166420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5074920"/>
            <a:ext cx="109728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def _highlight(self, text: str, errors: list) -&gt; str:
    result = text
    for e in errors:
        original = e.get('original', '')          # слово с ошибкой из JSON
        result = re.sub(
            re.escape(original),                  # экранируем спецсимволы
            f'&lt;span class="error-highlight"&gt;{original}&lt;/span&gt;',
            result, count=1)                      # только первое вхождение
    return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Функции проверки: создание, публикация, галерея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Каждая функция — это system_prompt + user_template с плейсхолдером {text}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121408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Создание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пишет system_prompt
(инструкции для ИИ)
и user_template
с {text}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1325880"/>
            <a:ext cx="2121408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Использование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Выбирается в CheckPanel
Текст подставляется
вместо {text}
Отправляется в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7216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7216" y="1325880"/>
            <a:ext cx="2121408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66944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Публикация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Флаг is_published = True
Функция попадает
в галерею
Другие видят её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7224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07224" y="1325880"/>
            <a:ext cx="212140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6952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Версионирование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Редактирование уже
опубликованной →
автоматически создаётся
новая версия в function_versions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7232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57232" y="1325880"/>
            <a:ext cx="2121408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Копирование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Другой учитель
нажимает «Скопировать»
POST /functions/{id}/copy
Копия в его библиотеке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5303520" cy="7498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6350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7706"/>
                </a:solidFill>
                <a:latin typeface="Calibri"/>
              </a:rPr>
              <a:t>⚠  is_default = True → нельзя редактировать и удалять
(5 стандартных функций защищены от изменений)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663440"/>
            <a:ext cx="6126480" cy="1965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47548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# Пример: Проверка орфографии
system_prompt: "Ты — учитель русского языка.
  Верни JSON: {corrected, errors:[{original,
  corrected, type, comment}], score, comment}"
user_template: "Проверь следующий текст:\n\n{text}"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Клиентская часть: компоненты и маршруты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React 19 + TypeScript + Tiptap + Tailwind CSS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3566160" cy="53035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63500" cy="5303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React Router DOM — маршруты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579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CheckPage  —  Главная страница проверки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HistoryPage  —  История всех проверок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93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StudentsPage  —  Ученики и группы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537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5994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011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FunctionsPage  —  Мои функции + галерея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681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5138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155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ProfilePage  —  Профиль и статистика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298448"/>
            <a:ext cx="7498079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1344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CheckPage — компоненты главной страницы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1737360"/>
            <a:ext cx="138988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UploadForm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Загрузка файла
draq &amp; drop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1576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51576" y="1737360"/>
            <a:ext cx="138988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24728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TextEditor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TipTap редактор
OCR-текста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1192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51192" y="1737360"/>
            <a:ext cx="138988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24344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CheckPanel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Выбор функции
и запуск проверки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0808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50808" y="1737360"/>
            <a:ext cx="138988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StreamingPreview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Стриминг ответа
в реальном времени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50424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250424" y="1737360"/>
            <a:ext cx="138988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23576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ResultPanel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Результат:
ошибки, оценка,
сохранение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01568"/>
            <a:ext cx="7498079" cy="14173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51960" y="3401568"/>
            <a:ext cx="635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0" y="347472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AuthContext (React Context API)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JWT-токен хранится в localStorage.
Axios-перехватчик автоматически добавляет
Authorization: Bearer &lt;token&gt; к каждому запросу.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При 401 — выход из системы.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4956048"/>
            <a:ext cx="7498079" cy="166420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07408" y="5047488"/>
            <a:ext cx="7315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  <a:latin typeface="Calibri"/>
              </a:rPr>
              <a:t>// types.ts — все API-ответы строго типизированы
interface CheckRecord { id: string; score: number | null;
  errors: ...; corrected_text?: string; ... }
interface Fn { id: string; name: string; system_prompt?: string; ... }
interface Pupil { id: string; name: string;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Авторизация: Supabase Auth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Токен валидируется на бэкенде через supabase.auth.get_user() — без ручного decode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2140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Регистрация /
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 /api/auth/register
или 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8336" y="1371600"/>
            <a:ext cx="212140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Supabase Auth
выдаёт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access_token подписан
supabase_jwt_secret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0912" y="1371600"/>
            <a:ext cx="212140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Фронтенд
сохраняет токен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localStorage
.setItem('access_token')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33488" y="1371600"/>
            <a:ext cx="212140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39" y="1536192"/>
            <a:ext cx="152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D97706"/>
                </a:solidFill>
                <a:latin typeface="Calibri"/>
              </a:rPr>
              <a:t>Axios interceptor
</a:t>
            </a:r>
            <a:r>
              <a:rPr sz="1200" b="1" i="0" dirty="0" err="1">
                <a:solidFill>
                  <a:srgbClr val="D97706"/>
                </a:solidFill>
                <a:latin typeface="Calibri"/>
              </a:rPr>
              <a:t>добавляет</a:t>
            </a:r>
            <a:r>
              <a:rPr sz="1200" b="1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D97706"/>
                </a:solidFill>
                <a:latin typeface="Calibri"/>
              </a:rPr>
              <a:t>заголовок</a:t>
            </a:r>
            <a:endParaRPr sz="12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43216" y="1938528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ru-RU" sz="1000" b="0" i="0" dirty="0">
              <a:solidFill>
                <a:srgbClr val="64748B"/>
              </a:solidFill>
              <a:latin typeface="Calibri"/>
            </a:endParaRPr>
          </a:p>
          <a:p>
            <a:pPr algn="l"/>
            <a:endParaRPr lang="ru-RU" sz="1000" dirty="0">
              <a:solidFill>
                <a:srgbClr val="64748B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Authorization:
Bearer &lt;token&gt;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56064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56064" y="1371600"/>
            <a:ext cx="212140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FastAPI
validates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get_current_user()
→ supabase.auth.get_user()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40480"/>
            <a:ext cx="5486400" cy="2788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393192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async def get_current_user(
    token: str = Depends(oauth2_scheme),
    db = Depends(get_db)
):
    res = supabase.auth.get_user(token)
    if not res.user:
        raise HTTPException(401)
    return {'user_id': res.user.id,
            'email':   res.user.email}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840480"/>
            <a:ext cx="5577840" cy="2788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// api.ts — единственное место с токеном
const api = axios.create({ baseURL: BASE_URL });
api.interceptors.request.use((config) =&gt; {
  const token = localStorage
    .getItem('access_token');
  if (token)
    config.headers.Authorization =
      `Bearer ${token}`;
  return config;
});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База данных: 8 таблиц, PostgreSQL через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9496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4864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user_profiles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700784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user_id (PK), display_name, bio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353312"/>
            <a:ext cx="365760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138988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Профиль учителя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394960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54864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700784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pupil_id, function_id,
folder_id, errors (JSON),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53312"/>
            <a:ext cx="3657600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138988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Результаты проверок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76856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276856"/>
            <a:ext cx="53949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76856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679192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system_prompt,
user_template, is_default, is_published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331720"/>
            <a:ext cx="36576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2368296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76856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276856"/>
            <a:ext cx="539496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276856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function_versions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679192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function_id, version_number,
system_prompt, change_note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331720"/>
            <a:ext cx="36576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2368296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История версий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55264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255264"/>
            <a:ext cx="539496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255264"/>
            <a:ext cx="54864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310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pupils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65760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
UNIQUE(user_id, name)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310128"/>
            <a:ext cx="36576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48840" y="3346704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Ученики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255264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255264"/>
            <a:ext cx="539496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3255264"/>
            <a:ext cx="54864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64224" y="3310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365760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310128"/>
            <a:ext cx="365760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09560" y="3346704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Группы/классы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33672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233672"/>
            <a:ext cx="5394960" cy="635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233672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" y="4288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pupil_groups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463600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pupil_id (FK), group_id (FK)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4288536"/>
            <a:ext cx="36576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48840" y="432511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Ученик ↔ Группа M:M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33672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0" y="4233672"/>
            <a:ext cx="539496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4233672"/>
            <a:ext cx="54864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64224" y="4288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folders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4224" y="463600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description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4288536"/>
            <a:ext cx="365760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9560" y="432511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Папки для работ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120640"/>
            <a:ext cx="11247120" cy="7498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5800" y="52120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46E5"/>
                </a:solidFill>
                <a:latin typeface="Calibri"/>
              </a:rPr>
              <a:t>💡  checks.errors — JSON-колонка: хранит Python-список объектов ошибок напрямую. SQLAlchemy автоматически
сериализует/десериализует. Нет JOIN — все данные проверки читаются одним запросом.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Технологический стек: обоснование выбора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591056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34416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Технология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280160"/>
            <a:ext cx="1316736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1992" y="1344168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Версия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80160"/>
            <a:ext cx="1499616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34416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Назначение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280160"/>
            <a:ext cx="6592824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9512" y="1344168"/>
            <a:ext cx="6501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Почему выбрано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64792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64792"/>
            <a:ext cx="50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8196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FastAPI 0.115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764792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1764792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9312" y="181051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Бэкенд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764792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9512" y="1810512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Нативный async + SSE, автодокументация Swagger, DI через Depends()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57984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157984"/>
            <a:ext cx="50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21284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Python 3.11+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157984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66160" y="2157984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9312" y="220370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Язык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157984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9512" y="2203704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Единственный язык с нативной поддержкой PaddleOCR, Tesseract и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551176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551176"/>
            <a:ext cx="508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SQLAlchemy 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551176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66160" y="2551176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39312" y="259689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6360" y="2551176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512" y="2596896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Полный async API, изоляция SQL от бизнес-логики, декларативные модели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44368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2944368"/>
            <a:ext cx="508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299923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Supabase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2944368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66160" y="2944368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39312" y="299008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БД + Auth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2944368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39512" y="2990088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Управляемый PostgreSQL + готовая JWT-авторизация, бесплатный хостинг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337560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3337560"/>
            <a:ext cx="50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392424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PaddleOCR 2.8.1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337560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566160" y="3337560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338328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6360" y="3337560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39512" y="3383280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Наивысшая точность для рукописи, модель SVTR + детектор DB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730752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3730752"/>
            <a:ext cx="50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378561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Tesseract 5.x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3730752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60" y="3730752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39312" y="377647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OCR резерв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66360" y="3730752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39512" y="3776472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Компенсирует слабость PaddleOCR на печатном тексте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23944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200" y="4123944"/>
            <a:ext cx="508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1788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MarkItDown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48840" y="4123944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566160" y="4123944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39312" y="416966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Документы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66360" y="4123944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39512" y="4169664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Единый API для PDF/DOCX/PPTX/TXT от Microsoft, сохраняет структуру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517136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7200" y="4517136"/>
            <a:ext cx="508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45720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Ollama qwen2.5:7b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4517136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566160" y="4517136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39312" y="456285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LLM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66360" y="4517136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239512" y="4562856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Локальный запуск — данные не утекают; 7B оптимален на CPU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910328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57200" y="4910328"/>
            <a:ext cx="508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8640" y="496519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React 19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48840" y="4910328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566160" y="4910328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639312" y="495604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Фронтенд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66360" y="4910328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239512" y="4956048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Стандарт отрасли, компонентный подход, наибольшая экосистема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303520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57200" y="5303520"/>
            <a:ext cx="508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5358384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TypeScript ~6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48840" y="5303520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566160" y="5303520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639312" y="534924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Типизация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66360" y="5303520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239512" y="5349240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Обнаруживает ошибки типов на этапе сборки, улучшает IDE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696712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57200" y="5696712"/>
            <a:ext cx="508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48640" y="575157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Vite 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48840" y="5696712"/>
            <a:ext cx="131673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566160" y="5696712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39312" y="574243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Сборщик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166360" y="5696712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239512" y="5742432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Мгновенный старт через ES-модули, Rolldown на Rust — быстрее Webpack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6089904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57200" y="6089904"/>
            <a:ext cx="508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48640" y="614476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Tailwind CSS v4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48840" y="6089904"/>
            <a:ext cx="131673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66160" y="6089904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639312" y="613562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Стили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66360" y="6089904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239512" y="6135624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Utility-first: стили прямо в JSX, v4 через Vite-плагин без конфига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Паттерны проектирования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Strategy + Repository + Dependency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298448"/>
            <a:ext cx="365760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36576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Стратегия (Strategy)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74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ЗАЧЕМ:
Легко добавить новый OCR-движок
без изменения существующего кода
КАК:
OCRStrategy — абстрактный класс
PaddleStrategy, TesseractStrategy — реализации
HybridOCR — агрегирует обе (◆)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class OCRStrategy(ABC):
  @abstractmethod
  def recognize(self,
    image_path: str) -&gt; OcrResult: ...
  @abstractmethod
  def get_name(self) -&gt; str: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298448"/>
            <a:ext cx="3657600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87952" y="1298448"/>
            <a:ext cx="36576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Репозиторий (Repository)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3474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ЗАЧЕМ:
Сервисы не знают про SQL.
Легко сменить СУБД.
Код тестируем.
КАК:
CheckRepository, GroupRepository,
FunctionRepository и другие.
Единственное место с select/insert/update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254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class CheckRepository:
  async def create(self, data) -&gt; Check:
    obj = Check(**data)
    self.db.add(obj)
    await self.db.commit()
    return obj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2" y="1298448"/>
            <a:ext cx="36576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8432" y="1298448"/>
            <a:ext cx="36576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Инъекция зависимостей (DI)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474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ЗАЧЕМ:
Компоненты не создают
зависимости самостоятельно.
Упрощает тестирование.
КАК:
FastAPI Depends() создаёт сессию БД
и текущего пользователя
для каждого запроса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302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@router.get('/history')
async def history(
  db = Depends(get_db),
  user = Depends(get_current_user)
):
  return await CheckRepository(db)
           .get_by_user(user['user_id'])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UML-диаграммы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98448"/>
            <a:ext cx="5577840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Диаграмма вариантов использования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63500" cy="5303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[Вставить изображение
use_case_diagram]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54880"/>
            <a:ext cx="1600200" cy="8046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4809744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84632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вариантов
использования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4754880"/>
            <a:ext cx="1600200" cy="8046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4809744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484632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актор
(Учитель)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4216" y="4754880"/>
            <a:ext cx="1600200" cy="80467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4809744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84632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разделов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98448"/>
            <a:ext cx="5623560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Диаграмма классов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98448"/>
            <a:ext cx="63500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[Вставить изображение
class_diagram]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7316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OCRStrategy — абстрактный класс (контракт)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932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PaddleStrategy, TesseractStrategy — реализации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4132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HybridOCR ◆→ OCRStrategy (композиция)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7332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▸  CheckService → LLMService, FunctionRepo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Структура проекта: монорепозиторий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Две независимые части в одном git-репозитории, развёртывание через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4754880" cy="5303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46E5"/>
                </a:solidFill>
                <a:latin typeface="Calibri"/>
              </a:rPr>
              <a:t>russian-handwriting-checker-new/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</a:rPr>
              <a:t>├── frontend/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93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</a:rPr>
              <a:t>│   ├──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854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pages/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414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components/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│   │   ├── context/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535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api.ts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95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└── types.ts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655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└── package.json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alibri"/>
              </a:rPr>
              <a:t>├── python-service/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77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alibri"/>
              </a:rPr>
              <a:t>│   └── 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33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api/routes/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970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services/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4573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repositories/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017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models/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57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strategies/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138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└── converters/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9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├── docker-compose.yml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258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Calibri"/>
              </a:rPr>
              <a:t>└── .env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298448"/>
            <a:ext cx="324612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94960" y="1298448"/>
            <a:ext cx="3246120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94960" y="1298448"/>
            <a:ext cx="54864" cy="12618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41264" y="1371600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frontend/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1755648"/>
            <a:ext cx="30449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React + TypeScript + Vite
Только UI, нет бизнес-логики
Статика, собирается в dist/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688336"/>
            <a:ext cx="324612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394960" y="2688336"/>
            <a:ext cx="324612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94960" y="2688336"/>
            <a:ext cx="54864" cy="1261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41264" y="2761488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python-service/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3145536"/>
            <a:ext cx="30449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FastAPI + SQLAlchemy
BCR + LLM + авторизация
Вся бизнес-логика здесь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4078224"/>
            <a:ext cx="324612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94960" y="4078224"/>
            <a:ext cx="324612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94960" y="4078224"/>
            <a:ext cx="54864" cy="1261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41264" y="4151376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4535424"/>
            <a:ext cx="30449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Запускает оба сервиса
Раздаёт порты и переменные
Простой деплой: docker-compose 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5468112"/>
            <a:ext cx="324612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94960" y="5468112"/>
            <a:ext cx="324612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94960" y="5468112"/>
            <a:ext cx="54864" cy="1261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41264" y="5541264"/>
            <a:ext cx="30449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.env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5925312"/>
            <a:ext cx="30449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DATABASE_URL, Supabase keys
Ollama URL и модель
Безопасно: не входит в git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5256085"/>
            <a:ext cx="6400800" cy="777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33288" y="5304663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docker-compose up --build    # запуск обоих сервисов
# frontend → :5173   |   python-service → :8000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" y="5202937"/>
            <a:ext cx="12188952" cy="1883663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9144000" cy="2540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43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Гибридный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PaddleOCR + Tesseract, автовыбор лучшего результата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70432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43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MarkItDown: PDF, DOCX, PPTX, TXT с сохранением структуры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84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 типов проверки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957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Орфография, ОГЭ 9.3, ЕГЭ, итоговое сочинение, свободная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84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Стриминг 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957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Ответ ИИ появляется в реальном времени, не надо ждать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52928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94436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JWT-авторизация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369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Supabase Auth, изоляция данных по user_id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852928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94436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👨‍🎓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Управление данными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369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Ученики, группы, папки, история с фильтрами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94176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785616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Галерея функций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7822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Публикация, копирование, версионирование промптов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694176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785616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07822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Готово к деплою на любом сервере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2874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C7D2FE"/>
                </a:solidFill>
                <a:latin typeface="Calibri"/>
              </a:rPr>
              <a:t>Спасибо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C7D2FE"/>
                </a:solidFill>
                <a:latin typeface="Calibri"/>
              </a:rPr>
              <a:t>за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C7D2FE"/>
                </a:solidFill>
                <a:latin typeface="Calibri"/>
              </a:rPr>
              <a:t>внимание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3167</Words>
  <Application>Microsoft Office PowerPoint</Application>
  <PresentationFormat>Произвольный</PresentationFormat>
  <Paragraphs>484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2026-05-13T19:37:59Z</dcterms:modified>
  <cp:category/>
</cp:coreProperties>
</file>